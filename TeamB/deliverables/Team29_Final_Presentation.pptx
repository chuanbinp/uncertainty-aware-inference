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11AC88-3057-4BF3-9F18-8CDCE7092CDC}">
  <a:tblStyle styleId="{3A11AC88-3057-4BF3-9F18-8CDCE7092C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ef3aac2ef_2_37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ef3aac2ef_2_37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def3aac2ef_2_37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ef3aac2ef_2_3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def3aac2ef_2_38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def3aac2ef_2_38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f3aac2ef_2_4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ef3aac2ef_2_4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def3aac2ef_2_4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d7f7e0d9e_3_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dd7f7e0d9e_3_3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d7f7e0d9e_3_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ef3aac2ef_5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ef3aac2ef_5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ef3aac2ef_2_46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def3aac2ef_2_46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ef3aac2ef_2_46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ef3aac2ef_5_3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def3aac2ef_5_3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ef3aac2ef_5_3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f3aac2ef_2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ef3aac2ef_2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ef3aac2ef_2_69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ef3aac2ef_2_69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ef3aac2ef_2_69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ef3aac2ef_2_5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def3aac2ef_2_59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def3aac2ef_2_59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ef3aac2ef_2_52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def3aac2ef_2_52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def3aac2ef_2_52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def3aac2ef_2_5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def3aac2ef_2_55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def3aac2ef_2_55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dd7f7e0d9e_2_1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dd7f7e0d9e_2_1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dd7f7e0d9e_2_1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dd7f7e0d9e_2_1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dd7f7e0d9e_2_1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dd7f7e0d9e_2_1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ef3aac2ef_5_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def3aac2ef_5_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def3aac2ef_5_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chuanbinp/uncertainty-aware-inference" TargetMode="External"/><Relationship Id="rId4" Type="http://schemas.openxmlformats.org/officeDocument/2006/relationships/hyperlink" Target="https://wandb.ai/Uncertainty_Aware_Inference_Lab/UAI_Project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drive.google.com/file/d/1G_2yfGg6ObTkVmFuBEdWeBcWIzM6ZVaO/view" TargetMode="External"/><Relationship Id="rId4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502920" y="292608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502920" y="909903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Uncertainty-Aware Inference: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502920" y="1604847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D6F5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BAD6F5"/>
                </a:solidFill>
                <a:latin typeface="Calibri"/>
                <a:ea typeface="Calibri"/>
                <a:cs typeface="Calibri"/>
                <a:sym typeface="Calibri"/>
              </a:rPr>
              <a:t>How Post-Training Quantization </a:t>
            </a:r>
            <a:r>
              <a:rPr lang="en" sz="2200">
                <a:solidFill>
                  <a:srgbClr val="BAD6F5"/>
                </a:solidFill>
                <a:latin typeface="Calibri"/>
                <a:ea typeface="Calibri"/>
                <a:cs typeface="Calibri"/>
                <a:sym typeface="Calibri"/>
              </a:rPr>
              <a:t>Effects</a:t>
            </a:r>
            <a:r>
              <a:rPr b="0" i="0" lang="en" sz="2200" u="none" cap="none" strike="noStrike">
                <a:solidFill>
                  <a:srgbClr val="BAD6F5"/>
                </a:solidFill>
                <a:latin typeface="Calibri"/>
                <a:ea typeface="Calibri"/>
                <a:cs typeface="Calibri"/>
                <a:sym typeface="Calibri"/>
              </a:rPr>
              <a:t> LLM Confidence Calibration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502920" y="2098623"/>
            <a:ext cx="7772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1" lang="en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Systematic PTQ calibration study on Mistral-7B: 5 configs × 3 datasets, CUDA-level profiling, Roofline analysis</a:t>
            </a:r>
            <a:r>
              <a:rPr i="1" lang="en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uncertainty-based routing simulation and knowledge distillation.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20" y="2822120"/>
            <a:ext cx="4572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B  (Team 29)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502920" y="3137937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Anubha Vyasamudri · av3329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502920" y="3311673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Rohit Ramesh · rr3713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502920" y="3485409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Sanjita Chandan Ballapur · sb5216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502920" y="365914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Tamanna Ananna Haque · ta2642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502920" y="3832881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0" i="0" lang="en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Vishal Menon · vm2820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968725" y="2998650"/>
            <a:ext cx="3763800" cy="12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GitHub:  </a:t>
            </a:r>
            <a:r>
              <a:rPr b="0" i="0" lang="en" sz="12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https://github.com/chuanbinp/uncertainty-aware-inference</a:t>
            </a:r>
            <a:endParaRPr b="0" i="0" sz="1200" u="none" cap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WandB:</a:t>
            </a:r>
            <a:endParaRPr b="1"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https://wandb.ai/Uncertainty_Aware_Inference_Lab/UAI_Project</a:t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t/>
            </a:r>
            <a:endParaRPr sz="12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502920" y="4773168"/>
            <a:ext cx="731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Dr. Kaoutar El Maghraoui  ·  Columbia University  ·  Week of May 4,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09236" y="4064376"/>
            <a:ext cx="446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Mentor: </a:t>
            </a:r>
            <a:r>
              <a:rPr lang="en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Ruchi Muhindru, IBM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502920" y="201168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Motivation, Problem &amp; Setup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16"/>
          <p:cNvCxnSpPr/>
          <p:nvPr/>
        </p:nvCxnSpPr>
        <p:spPr>
          <a:xfrm>
            <a:off x="502920" y="694944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6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02920" y="950838"/>
            <a:ext cx="384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02920" y="1225158"/>
            <a:ext cx="38406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Quantization cuts GPU memory ~70% and raises throughput</a:t>
            </a:r>
            <a:r>
              <a:rPr lang="en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but what happens to the model's confidence distribution?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High-stakes settings (medical, finance, autonomous ops) need to know when the model doesn't know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b="0" i="0" lang="en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Top-1 accuracy can be preserved while calibration degrades severely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661191" y="1013297"/>
            <a:ext cx="39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i="0" lang="en" sz="14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Experimental setup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4661186" y="1305909"/>
            <a:ext cx="3977700" cy="560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734338" y="1399288"/>
            <a:ext cx="1005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Calibri"/>
              <a:buNone/>
            </a:pPr>
            <a:r>
              <a:rPr b="1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776754" y="1399288"/>
            <a:ext cx="2788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Mistral-7B-Instruct-v0.2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61186" y="1912873"/>
            <a:ext cx="3977700" cy="560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4734338" y="2006252"/>
            <a:ext cx="1005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Calibri"/>
              <a:buNone/>
            </a:pPr>
            <a:r>
              <a:rPr b="1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776754" y="2006252"/>
            <a:ext cx="2788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FP16 · GPTQ INT4 · GPTQ INT8 · AWQ INT4 · NF4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661186" y="2523947"/>
            <a:ext cx="3977700" cy="560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734338" y="2617326"/>
            <a:ext cx="1005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Calibri"/>
              <a:buNone/>
            </a:pPr>
            <a:r>
              <a:rPr b="1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Profiling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776754" y="2617326"/>
            <a:ext cx="2788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NVIDIA L4 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GB (GCP) 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ncu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profiling</a:t>
            </a:r>
            <a:b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A100 (Colab) - calibration, pytorch profiling, vllm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4661186" y="3130911"/>
            <a:ext cx="3977700" cy="560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4734338" y="3224290"/>
            <a:ext cx="1005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Calibri"/>
              <a:buNone/>
            </a:pPr>
            <a:r>
              <a:rPr b="1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776754" y="3224290"/>
            <a:ext cx="2788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ECE (15-bin) · MCE · Brier score · Avg entropy · Tok/s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02920" y="2907907"/>
            <a:ext cx="384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1" lang="en" sz="14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315850" y="3180679"/>
            <a:ext cx="3840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Characterise ECE, MCE, Brier score for 5 PTQ configs × 3 datasets on Mistral-7B</a:t>
            </a:r>
            <a:endParaRPr sz="12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Profile at the CUDA kernel level</a:t>
            </a:r>
            <a:endParaRPr sz="12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Char char="•"/>
            </a:pPr>
            <a:r>
              <a:rPr lang="en" sz="12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Simulate uncertainty-based routing.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661186" y="3737858"/>
            <a:ext cx="3977700" cy="7779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734338" y="3831241"/>
            <a:ext cx="10059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69A1"/>
              </a:buClr>
              <a:buSzPts val="1000"/>
              <a:buFont typeface="Calibri"/>
              <a:buNone/>
            </a:pPr>
            <a:r>
              <a:rPr b="1" i="0" lang="en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776754" y="3915285"/>
            <a:ext cx="2788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TriviaQA (factual) [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10,003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HellaSwag (commonsense) [17,215] 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PubMedQA (OOD biomedical) [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1000</a:t>
            </a:r>
            <a:r>
              <a:rPr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502920" y="201168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Results </a:t>
            </a:r>
            <a:r>
              <a:rPr b="1" lang="en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Headline Numbers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17"/>
          <p:cNvCxnSpPr/>
          <p:nvPr/>
        </p:nvCxnSpPr>
        <p:spPr>
          <a:xfrm>
            <a:off x="502920" y="694944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17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171470" y="1346436"/>
            <a:ext cx="1874400" cy="2469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262910" y="1565892"/>
            <a:ext cx="1691700" cy="74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1.78×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262910" y="2388852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throughput speedup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262910" y="2772900"/>
            <a:ext cx="16917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 Marlin vs FP16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vLLM · L4 · batch=10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2491736" y="1346436"/>
            <a:ext cx="1874400" cy="2469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2583176" y="1565892"/>
            <a:ext cx="1691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400"/>
              <a:buFont typeface="Calibri"/>
              <a:buNone/>
            </a:pPr>
            <a:r>
              <a:rPr b="1" i="0" lang="en" sz="44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70%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2583176" y="2388852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GPU memory reduction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2583176" y="2772900"/>
            <a:ext cx="16917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 / AWQ INT4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4.2 GB vs 14.5 GB (FP16)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794915" y="1346436"/>
            <a:ext cx="1874400" cy="2469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886355" y="1565892"/>
            <a:ext cx="1691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400"/>
              <a:buFont typeface="Calibri"/>
              <a:buNone/>
            </a:pPr>
            <a:r>
              <a:rPr b="1" lang="en" sz="4400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" sz="44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0.162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4886355" y="2388852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ECE shift on PubMedQA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4886355" y="2772900"/>
            <a:ext cx="16917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 (0.067) vs FP16 (0.229)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7098103" y="1328061"/>
            <a:ext cx="1874400" cy="2469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7189543" y="1547517"/>
            <a:ext cx="1691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4400"/>
              <a:buFont typeface="Calibri"/>
              <a:buNone/>
            </a:pPr>
            <a:r>
              <a:rPr b="1" lang="en" sz="4400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19x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7189543" y="2370477"/>
            <a:ext cx="169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lang="en" sz="125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NF4 (AI=388) &amp; AWQ INT4 (AI=1865)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189543" y="2754525"/>
            <a:ext cx="16917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difference in arithmetic intensity between NF4 and AWQ INT4 at identical 4-bit precision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lang="en" sz="2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PTQ Calibration Run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8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/>
          <p:nvPr/>
        </p:nvSpPr>
        <p:spPr>
          <a:xfrm>
            <a:off x="847125" y="4043250"/>
            <a:ext cx="73746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 TriviaQA and HellaSwag, Quantization causes modest calibration degradation as seen with increase in ECE and Brier score</a:t>
            </a:r>
            <a:endParaRPr sz="10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alibri"/>
              <a:buChar char="•"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Accuracy on PubmedQA is uniformly low due to out of distribution nature of the dataset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825" y="1181576"/>
            <a:ext cx="7733750" cy="2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/>
        </p:nvSpPr>
        <p:spPr>
          <a:xfrm>
            <a:off x="615663" y="4681800"/>
            <a:ext cx="814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Reliability diagrams on PubMedQA across all quantization configurations. </a:t>
            </a:r>
            <a:b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configs show strong overconfidence (ECE=0.229) across all confidence bins. MCE worsens as probability mass concentrates in a single high-confidence bin</a:t>
            </a:r>
            <a:endParaRPr sz="1300"/>
          </a:p>
        </p:txBody>
      </p:sp>
      <p:sp>
        <p:nvSpPr>
          <p:cNvPr id="140" name="Google Shape;140;p19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lang="en" sz="2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Reliability Diagrams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19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2" name="Google Shape;14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88" y="2957675"/>
            <a:ext cx="8642999" cy="17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175" y="939013"/>
            <a:ext cx="8704025" cy="16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9"/>
          <p:cNvSpPr txBox="1"/>
          <p:nvPr/>
        </p:nvSpPr>
        <p:spPr>
          <a:xfrm>
            <a:off x="220050" y="2568225"/>
            <a:ext cx="8703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Reliability diagrams on TriviaQA across all quantization configurations. </a:t>
            </a:r>
            <a:b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All configs show mild overconfidence. ECE increases modestly and Minimal accuracy loss from FP16 to quantized variants.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/>
          <p:nvPr/>
        </p:nvSpPr>
        <p:spPr>
          <a:xfrm>
            <a:off x="502920" y="201168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Results </a:t>
            </a:r>
            <a:r>
              <a:rPr b="1" lang="en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Calibration Metrics (Mistral-7B)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20"/>
          <p:cNvCxnSpPr/>
          <p:nvPr/>
        </p:nvCxnSpPr>
        <p:spPr>
          <a:xfrm>
            <a:off x="502920" y="694944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20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3" name="Google Shape;153;p20"/>
          <p:cNvGraphicFramePr/>
          <p:nvPr/>
        </p:nvGraphicFramePr>
        <p:xfrm>
          <a:off x="502883" y="1158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{3A11AC88-3057-4BF3-9F18-8CDCE7092CDC}</a:tableStyleId>
              </a:tblPr>
              <a:tblGrid>
                <a:gridCol w="856650"/>
                <a:gridCol w="973475"/>
                <a:gridCol w="973475"/>
                <a:gridCol w="973475"/>
                <a:gridCol w="973475"/>
                <a:gridCol w="973475"/>
                <a:gridCol w="1207100"/>
                <a:gridCol w="120710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Config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TriviaQA ECE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HellaSwag ECE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PubMedQA ECE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PubMedQA MCE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PubMedQA Brier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FFFFFF"/>
                          </a:solidFill>
                        </a:rPr>
                        <a:t>Avg Entropy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FFFFFF"/>
                          </a:solidFill>
                        </a:rPr>
                        <a:t>Accuracy (%)</a:t>
                      </a:r>
                      <a:endParaRPr b="1" sz="9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FP16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0.143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0.277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0.229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0.330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0.302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1E293B"/>
                          </a:solidFill>
                        </a:rPr>
                        <a:t>0.402 / 1.088 / 0.656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1E293B"/>
                          </a:solidFill>
                        </a:rPr>
                        <a:t>70.1 / 82.9 / 49.1</a:t>
                      </a:r>
                      <a:endParaRPr b="1" sz="95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GPTQ INT4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0.152 (+.009)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0.289 (+.012)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6A34A"/>
                          </a:solidFill>
                        </a:rPr>
                        <a:t>0.077 (−.152)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0.302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0.252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0.431 / 1.116 / 0.938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1E293B"/>
                          </a:solidFill>
                        </a:rPr>
                        <a:t>68.1 / 82.5 / 49.3</a:t>
                      </a:r>
                      <a:endParaRPr sz="95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GPTQ INT8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0.155 (+.012)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0.283 (+.006)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6A34A"/>
                          </a:solidFill>
                        </a:rPr>
                        <a:t>0.103 (−.126)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DC2626"/>
                          </a:solidFill>
                        </a:rPr>
                        <a:t>0.944 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0.251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0.428 / 1.114 / 0.924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1E293B"/>
                          </a:solidFill>
                        </a:rPr>
                        <a:t>67.8/ 81.9 / 46.1</a:t>
                      </a:r>
                      <a:endParaRPr sz="95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AWQ INT4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0.155 (+.012)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0.282 (+.005)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6A34A"/>
                          </a:solidFill>
                        </a:rPr>
                        <a:t>0.067 (−.162)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DC2626"/>
                          </a:solidFill>
                        </a:rPr>
                        <a:t>0.939 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0.250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0.415 / 1.114 / 0.934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1E293B"/>
                          </a:solidFill>
                        </a:rPr>
                        <a:t>68.5 / 81.9 / 49.2</a:t>
                      </a:r>
                      <a:endParaRPr sz="95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NF4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0.158 (+.015)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0.279 (+.002)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0.236 (+.007)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0.330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0.304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950" u="none" cap="none" strike="noStrike">
                          <a:solidFill>
                            <a:srgbClr val="1E293B"/>
                          </a:solidFill>
                        </a:rPr>
                        <a:t>0.397 / 1.097 / 0.663</a:t>
                      </a:r>
                      <a:endParaRPr sz="9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rgbClr val="1E293B"/>
                          </a:solidFill>
                        </a:rPr>
                        <a:t>68.7 / 82.6 / 48.1</a:t>
                      </a:r>
                      <a:endParaRPr sz="950" u="none" cap="none" strike="noStrike">
                        <a:solidFill>
                          <a:srgbClr val="1E293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20"/>
          <p:cNvSpPr/>
          <p:nvPr/>
        </p:nvSpPr>
        <p:spPr>
          <a:xfrm>
            <a:off x="502950" y="3740624"/>
            <a:ext cx="3931800" cy="77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502947" y="3740624"/>
            <a:ext cx="50400" cy="7749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30974" y="3756509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50"/>
              <a:buFont typeface="Calibri"/>
              <a:buNone/>
            </a:pPr>
            <a:r>
              <a:rPr b="1" lang="en"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Need all 3 calibration metric to capture the full picture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30974" y="403324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GPTQ INT4/AWQ INT4 have lower PubMedQA ECE and Brier Scor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than FP16 (0.077 vs 0.229) but MCE nearly triples to 0.944. Quantization spreads entropy, reducing average bin error while catastrophically miscalibrating one bin.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09200" y="3740624"/>
            <a:ext cx="3931800" cy="77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4709201" y="3740625"/>
            <a:ext cx="50400" cy="7749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837214" y="3756509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050"/>
              <a:buFont typeface="Calibri"/>
              <a:buNone/>
            </a:pPr>
            <a:r>
              <a:rPr b="1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NF4 is the calibration-conservative choice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4837214" y="4033242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quantized method where ECE, MCE, Brier, and entropy all remain near FP16 on PubMedQA. Preserves the confidence distribution under distribution shift.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Profiling Methodology and Roofline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1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21"/>
          <p:cNvSpPr/>
          <p:nvPr/>
        </p:nvSpPr>
        <p:spPr>
          <a:xfrm>
            <a:off x="335988" y="11176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342900" y="1407740"/>
            <a:ext cx="4114800" cy="1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PyTorch Profiler / torch.profiler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NVIDIA Nsight Systems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[Other: vLLM logs, DCGM, perf, TensorBoard]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Weights &amp; Biases for run-level tracking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4684018" y="1078945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Metrics captured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4684025" y="1388246"/>
            <a:ext cx="4114800" cy="14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Latency (p50, p95) and throughput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GPU utilization &amp; SM occupancy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Peak GPU memory and HBM bandwidth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Time per stage: data → fwd → bwd → opt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6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Task quality metric (acc / perplexity / F1)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4684014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21"/>
          <p:cNvGraphicFramePr/>
          <p:nvPr/>
        </p:nvGraphicFramePr>
        <p:xfrm>
          <a:off x="425715" y="27916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{3A11AC88-3057-4BF3-9F18-8CDCE7092CDC}</a:tableStyleId>
              </a:tblPr>
              <a:tblGrid>
                <a:gridCol w="718125"/>
                <a:gridCol w="1015775"/>
                <a:gridCol w="585900"/>
                <a:gridCol w="500350"/>
                <a:gridCol w="892525"/>
              </a:tblGrid>
              <a:tr h="406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>
                          <a:solidFill>
                            <a:srgbClr val="FFFFFF"/>
                          </a:solidFill>
                        </a:rPr>
                        <a:t>Config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</a:rPr>
                        <a:t>Top PyTorch Op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</a:rPr>
                        <a:t>Avg CUDA (ms)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</a:rPr>
                        <a:t>AI (FLOPs/B)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>
                          <a:solidFill>
                            <a:schemeClr val="lt1"/>
                          </a:solidFill>
                        </a:rPr>
                        <a:t>Peak GPU (GB)</a:t>
                      </a:r>
                      <a:endParaRPr sz="7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</a:tr>
              <a:tr h="303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/>
                        <a:t>FP16</a:t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</a:rPr>
                        <a:t>aten::matmul (8.2%)</a:t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</a:rPr>
                        <a:t>7,772.6</a:t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</a:rPr>
                        <a:t>57.7</a:t>
                      </a:r>
                      <a:endParaRPr sz="7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50">
                          <a:solidFill>
                            <a:schemeClr val="dk1"/>
                          </a:solidFill>
                        </a:rPr>
                        <a:t>14.50</a:t>
                      </a:r>
                      <a:endParaRPr sz="75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50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GPTQ INT4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QuantLinearFunction (12.7%)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13737.0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195.1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A1A1A"/>
                          </a:solidFill>
                        </a:rPr>
                        <a:t>4.29</a:t>
                      </a:r>
                      <a:endParaRPr sz="75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GPTQ INT8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QuantLinearFunction (12.6%)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13731.3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107.2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A1A1A"/>
                          </a:solidFill>
                        </a:rPr>
                        <a:t>7.81</a:t>
                      </a:r>
                      <a:endParaRPr sz="750" u="none" cap="none" strike="noStrike">
                        <a:solidFill>
                          <a:srgbClr val="1A1A1A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AWQ INT4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WQLinearMMFunction (9.9%)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9,093.1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3.2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4.17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3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NF4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bitsandbytes::gemv_4bit (3.8%)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11,171.0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36.1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>
                          <a:solidFill>
                            <a:srgbClr val="1E293B"/>
                          </a:solidFill>
                        </a:rPr>
                        <a:t>4.38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6" name="Google Shape;176;p21"/>
          <p:cNvGraphicFramePr/>
          <p:nvPr/>
        </p:nvGraphicFramePr>
        <p:xfrm>
          <a:off x="4684002" y="27916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{3A11AC88-3057-4BF3-9F18-8CDCE7092CDC}</a:tableStyleId>
              </a:tblPr>
              <a:tblGrid>
                <a:gridCol w="768675"/>
                <a:gridCol w="998850"/>
                <a:gridCol w="422775"/>
                <a:gridCol w="662750"/>
                <a:gridCol w="1121025"/>
              </a:tblGrid>
              <a:tr h="41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FFFFFF"/>
                          </a:solidFill>
                        </a:rPr>
                        <a:t>Config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FFFFFF"/>
                          </a:solidFill>
                        </a:rPr>
                        <a:t>Dominant Kernel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FFFFFF"/>
                          </a:solidFill>
                        </a:rPr>
                        <a:t>SM%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FFFFFF"/>
                          </a:solidFill>
                        </a:rPr>
                        <a:t>AI (FLOPs/B)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FFFFFF"/>
                          </a:solidFill>
                        </a:rPr>
                        <a:t>Roofline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</a:tr>
              <a:tr h="3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FP16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s16816gemm (cuBLAS)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52%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243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DC2626"/>
                          </a:solidFill>
                        </a:rPr>
                        <a:t>Memory-bound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1E293B"/>
                          </a:solidFill>
                        </a:rPr>
                        <a:t>GPTQ INT4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1E293B"/>
                          </a:solidFill>
                        </a:rPr>
                        <a:t>Marlin GEMM (W4A16)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1E293B"/>
                          </a:solidFill>
                        </a:rPr>
                        <a:t>82%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1E293B"/>
                          </a:solidFill>
                        </a:rPr>
                        <a:t>951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750" u="none" cap="none" strike="noStrike">
                          <a:solidFill>
                            <a:srgbClr val="16A34A"/>
                          </a:solidFill>
                        </a:rPr>
                        <a:t>Compute-bound</a:t>
                      </a:r>
                      <a:r>
                        <a:rPr b="1" lang="en" sz="750">
                          <a:solidFill>
                            <a:srgbClr val="16A34A"/>
                          </a:solidFill>
                        </a:rPr>
                        <a:t> 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GPTQ INT8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s16816gemm 128×128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58%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266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DC2626"/>
                          </a:solidFill>
                        </a:rPr>
                        <a:t>Memory-bound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AWQ INT4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awq_gemm_kernel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67%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1865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Compute-bound (prefill)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01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NF4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kDequantize Blockwise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81%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388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50"/>
                        <a:buFont typeface="Calibri"/>
                        <a:buNone/>
                      </a:pPr>
                      <a:r>
                        <a:rPr lang="en" sz="750" u="none" cap="none" strike="noStrike">
                          <a:solidFill>
                            <a:srgbClr val="1E293B"/>
                          </a:solidFill>
                        </a:rPr>
                        <a:t>Near ridge</a:t>
                      </a:r>
                      <a:endParaRPr sz="7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7" name="Google Shape;177;p21"/>
          <p:cNvSpPr/>
          <p:nvPr/>
        </p:nvSpPr>
        <p:spPr>
          <a:xfrm flipH="1">
            <a:off x="4439207" y="4896582"/>
            <a:ext cx="4463700" cy="219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Roofline  (NVIDIA L4, prefill seq=128)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 flipH="1">
            <a:off x="50200" y="4758879"/>
            <a:ext cx="4463700" cy="495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lang="en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Pytorch Profiling (A100 80GB Kineto CUDA profiling)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"/>
          <p:cNvSpPr/>
          <p:nvPr/>
        </p:nvSpPr>
        <p:spPr>
          <a:xfrm>
            <a:off x="342900" y="377190"/>
            <a:ext cx="8455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Roofline Analysis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22"/>
          <p:cNvCxnSpPr/>
          <p:nvPr/>
        </p:nvCxnSpPr>
        <p:spPr>
          <a:xfrm>
            <a:off x="342900" y="89154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5" name="Google Shape;18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3450"/>
            <a:ext cx="4529224" cy="274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9225" y="1543450"/>
            <a:ext cx="4269476" cy="263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1439313" y="4369075"/>
            <a:ext cx="165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Roofline - </a:t>
            </a: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NSight Profiler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989913" y="4369075"/>
            <a:ext cx="165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Roofline - PyTorch Profiler</a:t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/>
          <p:nvPr/>
        </p:nvSpPr>
        <p:spPr>
          <a:xfrm>
            <a:off x="502920" y="201168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GPU Profiling</a:t>
            </a:r>
            <a:r>
              <a:rPr b="1" lang="en" sz="28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-</a:t>
            </a: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vLLM Throughput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" name="Google Shape;197;p23"/>
          <p:cNvCxnSpPr/>
          <p:nvPr/>
        </p:nvCxnSpPr>
        <p:spPr>
          <a:xfrm>
            <a:off x="502920" y="694944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3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92608" y="896112"/>
            <a:ext cx="5303400" cy="40692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>
            <a:off x="292608" y="896112"/>
            <a:ext cx="54900" cy="4069200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438912" y="950976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Mistral-7B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47472" y="137160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(cuBLAS)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1481328" y="1463040"/>
            <a:ext cx="3749100" cy="2925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1481328" y="1463040"/>
            <a:ext cx="1962300" cy="2925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3534974" y="14813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942 tok/s  (baseline)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347472" y="205740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(Marlin)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1481328" y="2148840"/>
            <a:ext cx="3749100" cy="2925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1481328" y="2148840"/>
            <a:ext cx="3493200" cy="2925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5010973" y="2167150"/>
            <a:ext cx="585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1677 tok/s  (1.78× FP16)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47472" y="274320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INT8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(exllama)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1481328" y="2834640"/>
            <a:ext cx="3749100" cy="2925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1481328" y="2834640"/>
            <a:ext cx="927900" cy="2925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2500655" y="28529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446 tok/s  (0.47× FP16)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47472" y="342900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(fused GEMV)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1481328" y="3520440"/>
            <a:ext cx="3749100" cy="2925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1481328" y="3520440"/>
            <a:ext cx="431700" cy="2925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2004324" y="35387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207 tok/s  (0.22× FP16)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347472" y="4114800"/>
            <a:ext cx="109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NF4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(bitsandbytes†)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1481328" y="4206240"/>
            <a:ext cx="3749100" cy="2925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"/>
          <p:cNvSpPr/>
          <p:nvPr/>
        </p:nvSpPr>
        <p:spPr>
          <a:xfrm>
            <a:off x="1481328" y="4206240"/>
            <a:ext cx="185700" cy="2925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"/>
          <p:cNvSpPr/>
          <p:nvPr/>
        </p:nvSpPr>
        <p:spPr>
          <a:xfrm>
            <a:off x="1758554" y="4224528"/>
            <a:ext cx="182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89 tok/s  (0.09× FP16)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38912" y="4754880"/>
            <a:ext cx="5029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† HF batched fallback — not natively supported in vLLM</a:t>
            </a:r>
            <a:endParaRPr b="0" i="0" sz="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5833872" y="896112"/>
            <a:ext cx="2999100" cy="11157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B6E9C7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5833872" y="896112"/>
            <a:ext cx="54900" cy="11157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971032" y="950976"/>
            <a:ext cx="279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Best: GPTQ INT4 (Marlin)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971032" y="1207008"/>
            <a:ext cx="27981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1677 tok/s  ·  1.78× FP16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Compute-bound via Marlin kernel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SM utilization: 82%  |  AI = 951 FLOPs/B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5833872" y="2103120"/>
            <a:ext cx="2999100" cy="960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F5D28A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833872" y="2103120"/>
            <a:ext cx="54900" cy="9600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5971032" y="2157984"/>
            <a:ext cx="279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AWQ Paradox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971032" y="2414016"/>
            <a:ext cx="2798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 = 1865 FLOPs/B (highest) but only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207 tok/s 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fused GEMV is optimized for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single-batch prefill, not batched decode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833872" y="3154680"/>
            <a:ext cx="2999100" cy="8229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F5B8B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833872" y="3154680"/>
            <a:ext cx="54900" cy="8229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5971032" y="3209544"/>
            <a:ext cx="2798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NF4: Memory-Bound Floor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971032" y="3465576"/>
            <a:ext cx="2798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89 tok/s  ·  0.09× FP16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native vLLM support; HF fallback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does not use PagedAttention KV-cache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833872" y="4069080"/>
            <a:ext cx="2999100" cy="7131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BAD9F5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833872" y="4069080"/>
            <a:ext cx="54900" cy="713100"/>
          </a:xfrm>
          <a:prstGeom prst="rect">
            <a:avLst/>
          </a:prstGeom>
          <a:solidFill>
            <a:srgbClr val="0284C7"/>
          </a:solidFill>
          <a:ln cap="flat" cmpd="sng" w="127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971032" y="4123944"/>
            <a:ext cx="2798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971032" y="4361688"/>
            <a:ext cx="279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Kernel choice &gt; bit-width.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GPTQ INT8 (0.47×) &lt; FP16 &lt; GPTQ INT4 (1.78×)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/>
          <p:nvPr/>
        </p:nvSpPr>
        <p:spPr>
          <a:xfrm>
            <a:off x="202815" y="0"/>
            <a:ext cx="8851500" cy="777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177168" y="91440"/>
            <a:ext cx="6400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Cross-Model vLLM Throughput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202821" y="475488"/>
            <a:ext cx="859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Marlin-backed GPTQ INT4 dominates across all model families    |    Routing viability is kernel-driven, not bit-width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292608" y="868680"/>
            <a:ext cx="2743200" cy="342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4"/>
          <p:cNvSpPr/>
          <p:nvPr/>
        </p:nvSpPr>
        <p:spPr>
          <a:xfrm>
            <a:off x="292608" y="868680"/>
            <a:ext cx="2743200" cy="320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4"/>
          <p:cNvSpPr/>
          <p:nvPr/>
        </p:nvSpPr>
        <p:spPr>
          <a:xfrm>
            <a:off x="384048" y="905256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Mistral-7B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338328" y="1271016"/>
            <a:ext cx="548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914400" y="1298448"/>
            <a:ext cx="1993500" cy="4077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914400" y="1298448"/>
            <a:ext cx="1043400" cy="4077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2003439" y="1307592"/>
            <a:ext cx="502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942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38328" y="1861718"/>
            <a:ext cx="548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914400" y="1889150"/>
            <a:ext cx="1993500" cy="4077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914400" y="1889150"/>
            <a:ext cx="1857300" cy="4077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"/>
          <p:cNvSpPr/>
          <p:nvPr/>
        </p:nvSpPr>
        <p:spPr>
          <a:xfrm>
            <a:off x="2817408" y="1898294"/>
            <a:ext cx="502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1677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338328" y="2452421"/>
            <a:ext cx="548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914400" y="2479853"/>
            <a:ext cx="1993500" cy="4077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914400" y="2479853"/>
            <a:ext cx="493500" cy="4077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4"/>
          <p:cNvSpPr/>
          <p:nvPr/>
        </p:nvSpPr>
        <p:spPr>
          <a:xfrm>
            <a:off x="1453485" y="2488997"/>
            <a:ext cx="502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446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338328" y="3043123"/>
            <a:ext cx="548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914400" y="3070555"/>
            <a:ext cx="1993500" cy="4077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914400" y="3070555"/>
            <a:ext cx="229500" cy="4077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1189582" y="3079699"/>
            <a:ext cx="502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338328" y="3633826"/>
            <a:ext cx="548700" cy="49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NF4†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914400" y="3661258"/>
            <a:ext cx="1993500" cy="4077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914400" y="3661258"/>
            <a:ext cx="98700" cy="4077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1058904" y="3670402"/>
            <a:ext cx="502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24"/>
          <p:cNvCxnSpPr/>
          <p:nvPr/>
        </p:nvCxnSpPr>
        <p:spPr>
          <a:xfrm>
            <a:off x="1957719" y="1234440"/>
            <a:ext cx="0" cy="2999100"/>
          </a:xfrm>
          <a:prstGeom prst="straightConnector1">
            <a:avLst/>
          </a:prstGeom>
          <a:noFill/>
          <a:ln cap="flat" cmpd="sng" w="1270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2" name="Google Shape;272;p24"/>
          <p:cNvSpPr/>
          <p:nvPr/>
        </p:nvSpPr>
        <p:spPr>
          <a:xfrm>
            <a:off x="1610247" y="3877056"/>
            <a:ext cx="69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145536" y="868680"/>
            <a:ext cx="2743200" cy="342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4"/>
          <p:cNvSpPr/>
          <p:nvPr/>
        </p:nvSpPr>
        <p:spPr>
          <a:xfrm>
            <a:off x="3145536" y="868680"/>
            <a:ext cx="2743200" cy="320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3236976" y="905256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LLaMA-1 7B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3191256" y="1271016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3767328" y="1298448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"/>
          <p:cNvSpPr/>
          <p:nvPr/>
        </p:nvSpPr>
        <p:spPr>
          <a:xfrm>
            <a:off x="3767328" y="1298448"/>
            <a:ext cx="960900" cy="5556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4773863" y="1307592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868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3191256" y="2009394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3767328" y="2036826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3767328" y="2036826"/>
            <a:ext cx="1843800" cy="555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5656825" y="2045970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1665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191256" y="2747772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3767328" y="2775204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"/>
          <p:cNvSpPr/>
          <p:nvPr/>
        </p:nvSpPr>
        <p:spPr>
          <a:xfrm>
            <a:off x="3767328" y="2775204"/>
            <a:ext cx="529200" cy="5556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4342294" y="2784348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478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3191256" y="3486150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3767328" y="3513582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4"/>
          <p:cNvSpPr/>
          <p:nvPr/>
        </p:nvSpPr>
        <p:spPr>
          <a:xfrm>
            <a:off x="3767328" y="3513582"/>
            <a:ext cx="227700" cy="555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4040848" y="3522726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206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24"/>
          <p:cNvCxnSpPr/>
          <p:nvPr/>
        </p:nvCxnSpPr>
        <p:spPr>
          <a:xfrm>
            <a:off x="4728143" y="1234440"/>
            <a:ext cx="0" cy="2999100"/>
          </a:xfrm>
          <a:prstGeom prst="straightConnector1">
            <a:avLst/>
          </a:prstGeom>
          <a:noFill/>
          <a:ln cap="flat" cmpd="sng" w="1270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3" name="Google Shape;293;p24"/>
          <p:cNvSpPr/>
          <p:nvPr/>
        </p:nvSpPr>
        <p:spPr>
          <a:xfrm>
            <a:off x="4380671" y="3877056"/>
            <a:ext cx="69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5998464" y="868680"/>
            <a:ext cx="2743200" cy="3429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12700">
              <a:srgbClr val="94A3B8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5998464" y="868680"/>
            <a:ext cx="2743200" cy="3201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6089904" y="905256"/>
            <a:ext cx="2606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LLaMA-2 13B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6044184" y="1271016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620256" y="1298448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6620256" y="1298448"/>
            <a:ext cx="497100" cy="5556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4"/>
          <p:cNvSpPr/>
          <p:nvPr/>
        </p:nvSpPr>
        <p:spPr>
          <a:xfrm>
            <a:off x="7162995" y="1307592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449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6044184" y="2009394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620256" y="2036826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6620256" y="2036826"/>
            <a:ext cx="1345500" cy="5556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8011405" y="2045970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1215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6044184" y="2747772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620256" y="2775204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6620256" y="2775204"/>
            <a:ext cx="288600" cy="5556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"/>
          <p:cNvSpPr/>
          <p:nvPr/>
        </p:nvSpPr>
        <p:spPr>
          <a:xfrm>
            <a:off x="6954464" y="2784348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261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6044184" y="3486150"/>
            <a:ext cx="5487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620256" y="3513582"/>
            <a:ext cx="1993500" cy="55560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6620256" y="3513582"/>
            <a:ext cx="108300" cy="5556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6774394" y="3522726"/>
            <a:ext cx="502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98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24"/>
          <p:cNvCxnSpPr/>
          <p:nvPr/>
        </p:nvCxnSpPr>
        <p:spPr>
          <a:xfrm>
            <a:off x="7117275" y="1234440"/>
            <a:ext cx="0" cy="2999100"/>
          </a:xfrm>
          <a:prstGeom prst="straightConnector1">
            <a:avLst/>
          </a:prstGeom>
          <a:noFill/>
          <a:ln cap="flat" cmpd="sng" w="12700">
            <a:solidFill>
              <a:srgbClr val="6366F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4" name="Google Shape;314;p24"/>
          <p:cNvSpPr/>
          <p:nvPr/>
        </p:nvSpPr>
        <p:spPr>
          <a:xfrm>
            <a:off x="6769803" y="3877056"/>
            <a:ext cx="694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FP16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650"/>
              <a:buFont typeface="Calibri"/>
              <a:buNone/>
            </a:pPr>
            <a:r>
              <a:rPr b="0" i="1" lang="en" sz="65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4"/>
          <p:cNvSpPr/>
          <p:nvPr/>
        </p:nvSpPr>
        <p:spPr>
          <a:xfrm>
            <a:off x="292608" y="4434840"/>
            <a:ext cx="164700" cy="1188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02920" y="439826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INT4 (Marlin) </a:t>
            </a:r>
            <a:r>
              <a:rPr lang="en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compute-bound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2066544" y="4434840"/>
            <a:ext cx="164700" cy="118800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2276856" y="439826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FP16 baseline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3840480" y="4434840"/>
            <a:ext cx="164700" cy="11880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4050792" y="439826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GPTQ INT8 (exllama) </a:t>
            </a:r>
            <a:r>
              <a:rPr lang="en" sz="7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sub-FP16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5614416" y="4434840"/>
            <a:ext cx="164700" cy="11880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5824728" y="439826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AWQ INT4 (fused GEMV)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7388352" y="4434840"/>
            <a:ext cx="164700" cy="118800"/>
          </a:xfrm>
          <a:prstGeom prst="rect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7598664" y="4398264"/>
            <a:ext cx="153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NF4 (HF fallback†)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292600" y="4681725"/>
            <a:ext cx="8221500" cy="34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411475" y="4709150"/>
            <a:ext cx="8102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GPTQ INT4 (Marlin) achieves 1.78–2.71× speedup over FP16 across all model families.  AWQ fused-GEMV is optimized for single-batch prefill, not batched decode 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explaining throughput collapse under vLLM.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7" name="Google Shape;327;p24"/>
          <p:cNvCxnSpPr/>
          <p:nvPr/>
        </p:nvCxnSpPr>
        <p:spPr>
          <a:xfrm>
            <a:off x="188980" y="737620"/>
            <a:ext cx="8455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/>
          <p:nvPr/>
        </p:nvSpPr>
        <p:spPr>
          <a:xfrm>
            <a:off x="159395" y="107479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Routing Simulation &amp; KD Recovery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25"/>
          <p:cNvCxnSpPr/>
          <p:nvPr/>
        </p:nvCxnSpPr>
        <p:spPr>
          <a:xfrm>
            <a:off x="128166" y="601255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5"/>
          <p:cNvSpPr/>
          <p:nvPr/>
        </p:nvSpPr>
        <p:spPr>
          <a:xfrm>
            <a:off x="292810" y="4954098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241881" y="765579"/>
            <a:ext cx="4846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Uncertainty-based routing (PubMedQA)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241825" y="2852338"/>
            <a:ext cx="4846200" cy="691800"/>
          </a:xfrm>
          <a:prstGeom prst="rect">
            <a:avLst/>
          </a:prstGeom>
          <a:noFill/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267400" y="2880700"/>
            <a:ext cx="47952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Mistral’s FP16 is already very efficient (13% faster than LLama1)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All Mistral-7B</a:t>
            </a:r>
            <a:r>
              <a:rPr lang="en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’s routing configs produce negative cost savings, as routing tax exceeds any throughput advantage, even for highly efficient serving such as GPTQ INT4</a:t>
            </a:r>
            <a:endParaRPr sz="10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241900" y="3549550"/>
            <a:ext cx="5102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Knowledge Distillation Improvements at T=1,2, but collapses at Higher Temperatures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FP16 teacher, NF4 student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5"/>
          <p:cNvSpPr/>
          <p:nvPr/>
        </p:nvSpPr>
        <p:spPr>
          <a:xfrm>
            <a:off x="241820" y="1040024"/>
            <a:ext cx="4846200" cy="219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333260" y="1058312"/>
            <a:ext cx="4663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" sz="8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b="1" i="0" lang="en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kernel slower than FP16  (inference still works, routing adds cost)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3" name="Google Shape;343;p25"/>
          <p:cNvGraphicFramePr/>
          <p:nvPr/>
        </p:nvGraphicFramePr>
        <p:xfrm>
          <a:off x="241820" y="1259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{3A11AC88-3057-4BF3-9F18-8CDCE7092CDC}</a:tableStyleId>
              </a:tblPr>
              <a:tblGrid>
                <a:gridCol w="1737350"/>
                <a:gridCol w="1371600"/>
                <a:gridCol w="868675"/>
                <a:gridCol w="868675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Model · Config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vLLM tok/s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Cost Saving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lt1"/>
                          </a:solidFill>
                        </a:rPr>
                        <a:t>Eff. Acc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69A1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</a:rPr>
                        <a:t>Mistral-7B GPTQ INT8</a:t>
                      </a:r>
                      <a:endParaRPr sz="900" u="none" cap="none" strike="noStrike">
                        <a:solidFill>
                          <a:srgbClr val="64748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</a:rPr>
                        <a:t>445.5 (0.47x FP16)</a:t>
                      </a:r>
                      <a:endParaRPr sz="900" u="none" cap="none" strike="noStrike">
                        <a:solidFill>
                          <a:srgbClr val="64748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DC2626"/>
                          </a:solidFill>
                        </a:rPr>
                        <a:t>−59.4 %</a:t>
                      </a:r>
                      <a:endParaRPr sz="900" u="none" cap="none" strike="noStrike">
                        <a:solidFill>
                          <a:srgbClr val="DC2626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64748B"/>
                          </a:solidFill>
                        </a:rPr>
                        <a:t>49.1%</a:t>
                      </a:r>
                      <a:endParaRPr sz="900" u="none" cap="none" strike="noStrike">
                        <a:solidFill>
                          <a:srgbClr val="64748B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Mistral-7B  GPTQ INT4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1677  (1.78× FP16)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DC2626"/>
                          </a:solidFill>
                        </a:rPr>
                        <a:t>−108.8%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49.6%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Mistral-7B  AWQ INT4 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207   (0.22× FP16)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DC2626"/>
                          </a:solidFill>
                        </a:rPr>
                        <a:t>−80.0%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49.3%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Mistral-7B  NF4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89    (0.09× FP16)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DC2626"/>
                          </a:solidFill>
                        </a:rPr>
                        <a:t>−122.8%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64748B"/>
                          </a:solidFill>
                        </a:rPr>
                        <a:t>49.1%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344" name="Google Shape;344;p25"/>
          <p:cNvPicPr preferRelativeResize="0"/>
          <p:nvPr/>
        </p:nvPicPr>
        <p:blipFill rotWithShape="1">
          <a:blip r:embed="rId3">
            <a:alphaModFix/>
          </a:blip>
          <a:srcRect b="0" l="0" r="50534" t="12304"/>
          <a:stretch/>
        </p:blipFill>
        <p:spPr>
          <a:xfrm>
            <a:off x="5283575" y="1060613"/>
            <a:ext cx="3634365" cy="163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5"/>
          <p:cNvPicPr preferRelativeResize="0"/>
          <p:nvPr/>
        </p:nvPicPr>
        <p:blipFill rotWithShape="1">
          <a:blip r:embed="rId3">
            <a:alphaModFix/>
          </a:blip>
          <a:srcRect b="0" l="49779" r="0" t="12304"/>
          <a:stretch/>
        </p:blipFill>
        <p:spPr>
          <a:xfrm>
            <a:off x="5283575" y="2810026"/>
            <a:ext cx="3724667" cy="1639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5"/>
          <p:cNvPicPr preferRelativeResize="0"/>
          <p:nvPr/>
        </p:nvPicPr>
        <p:blipFill rotWithShape="1">
          <a:blip r:embed="rId3">
            <a:alphaModFix/>
          </a:blip>
          <a:srcRect b="90209" l="36438" r="36299" t="0"/>
          <a:stretch/>
        </p:blipFill>
        <p:spPr>
          <a:xfrm>
            <a:off x="6144388" y="767313"/>
            <a:ext cx="2003052" cy="18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5"/>
          <p:cNvSpPr/>
          <p:nvPr/>
        </p:nvSpPr>
        <p:spPr>
          <a:xfrm>
            <a:off x="241825" y="4014110"/>
            <a:ext cx="4846200" cy="821100"/>
          </a:xfrm>
          <a:prstGeom prst="rect">
            <a:avLst/>
          </a:prstGeom>
          <a:noFill/>
          <a:ln cap="flat" cmpd="sng" w="9525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94A3B8">
                <a:alpha val="149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=1 and 2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wins HellaSwag and TriviaQA. Soft labels from FP16 teacher gives student useful signal that improves NF4 accuracy.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At T&gt;2, MCE explodes for all dataset- worst case bins are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severely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 overconfident.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 &gt;= 4, accuracy collapses. ECE remains low. Lose accuracy without gaining calibration.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5"/>
          <p:cNvSpPr/>
          <p:nvPr/>
        </p:nvSpPr>
        <p:spPr>
          <a:xfrm>
            <a:off x="241900" y="2516725"/>
            <a:ext cx="4891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 faster kernel doesn't guarantee cheaper serving, routing has a price.</a:t>
            </a:r>
            <a:endParaRPr b="1" sz="1100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6"/>
          <p:cNvSpPr/>
          <p:nvPr/>
        </p:nvSpPr>
        <p:spPr>
          <a:xfrm>
            <a:off x="502920" y="201168"/>
            <a:ext cx="8138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Lessons Learned &amp; Next Steps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6"/>
          <p:cNvCxnSpPr/>
          <p:nvPr/>
        </p:nvCxnSpPr>
        <p:spPr>
          <a:xfrm>
            <a:off x="502920" y="694944"/>
            <a:ext cx="813810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26"/>
          <p:cNvSpPr/>
          <p:nvPr/>
        </p:nvSpPr>
        <p:spPr>
          <a:xfrm>
            <a:off x="502920" y="4828032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7726680" y="4828032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457170" y="987713"/>
            <a:ext cx="393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457170" y="1262033"/>
            <a:ext cx="3931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Multi-metric evaluation (ECE + MCE + Brier) caught calibration artifacts invisible to single-metric analysis</a:t>
            </a: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 Quantization can reduce average bin error but can distribute it to worst case bins,</a:t>
            </a: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essential for OOD datasets</a:t>
            </a:r>
            <a:endParaRPr b="0" i="0" sz="11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Roofline analysis cleanly explained the 1.78× vLLM speedup: Marlin kernel shifts inference from memory-bound to compute-bound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KD using FP16 as teacher at T=2 improves accuracy </a:t>
            </a: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in distribution tasks for NF4 student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457170" y="3163985"/>
            <a:ext cx="393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Challenges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457175" y="3420027"/>
            <a:ext cx="39318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ncu blocked on Colab (perf_event_paranoid=2) </a:t>
            </a:r>
            <a:r>
              <a:rPr lang="en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required GCP L4 VM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KD at T≥4 looked like ECE improvement but MCE revealed distribution collapse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4709130" y="987713"/>
            <a:ext cx="39777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4C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2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4709130" y="1298609"/>
            <a:ext cx="164700" cy="164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4709130" y="1902113"/>
            <a:ext cx="164700" cy="164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4947024" y="2351274"/>
            <a:ext cx="3739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Extend to MMLU, GSM8K, MedQA to confirm calibration trends generalise beyond 3 datasets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4968011" y="3001291"/>
            <a:ext cx="3739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Speculative decoding: quantized draft → FP16 target as an alternative routing strategy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709130" y="2520746"/>
            <a:ext cx="164700" cy="164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4947024" y="1174557"/>
            <a:ext cx="3739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A100 Roofline profiling with ncu access </a:t>
            </a: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0" lang="en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compare L4 vs A100 Marlin kernel efficiency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4688143" y="3185913"/>
            <a:ext cx="164700" cy="164700"/>
          </a:xfrm>
          <a:prstGeom prst="ellipse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4947024" y="1730061"/>
            <a:ext cx="3739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Combine all 3 Team’s results into one cohesive 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7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Profiler Evidence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27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27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27" title="Screenshot 2026-05-06 at 11.28.40 PM.png"/>
          <p:cNvPicPr preferRelativeResize="0"/>
          <p:nvPr/>
        </p:nvPicPr>
        <p:blipFill rotWithShape="1">
          <a:blip r:embed="rId3">
            <a:alphaModFix/>
          </a:blip>
          <a:srcRect b="7244" l="0" r="0" t="0"/>
          <a:stretch/>
        </p:blipFill>
        <p:spPr>
          <a:xfrm>
            <a:off x="1519113" y="1171588"/>
            <a:ext cx="6105769" cy="341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8"/>
          <p:cNvSpPr/>
          <p:nvPr/>
        </p:nvSpPr>
        <p:spPr>
          <a:xfrm>
            <a:off x="342900" y="377190"/>
            <a:ext cx="8455914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Calibri"/>
              <a:buNone/>
            </a:pPr>
            <a:r>
              <a:rPr b="1" i="0" lang="en" sz="2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Demo / Visualization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7" name="Google Shape;387;p28"/>
          <p:cNvCxnSpPr/>
          <p:nvPr/>
        </p:nvCxnSpPr>
        <p:spPr>
          <a:xfrm>
            <a:off x="342900" y="891540"/>
            <a:ext cx="8455914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28"/>
          <p:cNvSpPr/>
          <p:nvPr/>
        </p:nvSpPr>
        <p:spPr>
          <a:xfrm>
            <a:off x="342900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4684014" y="4903470"/>
            <a:ext cx="41148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i="0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" sz="800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28" title="HPML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6288" y="1162053"/>
            <a:ext cx="6651413" cy="3741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535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/>
          <p:nvPr/>
        </p:nvSpPr>
        <p:spPr>
          <a:xfrm>
            <a:off x="502920" y="292608"/>
            <a:ext cx="6400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HPML Final Project  ·  Spring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502920" y="1913253"/>
            <a:ext cx="8229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554020" y="2690972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AD6F5"/>
              </a:buClr>
              <a:buSzPts val="2200"/>
              <a:buFont typeface="Calibri"/>
              <a:buNone/>
            </a:pPr>
            <a:r>
              <a:rPr lang="en" sz="2200">
                <a:solidFill>
                  <a:srgbClr val="BAD6F5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342900" y="4903470"/>
            <a:ext cx="4114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F76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6F76"/>
                </a:solidFill>
                <a:latin typeface="Calibri"/>
                <a:ea typeface="Calibri"/>
                <a:cs typeface="Calibri"/>
                <a:sym typeface="Calibri"/>
              </a:rPr>
              <a:t>HPML · Spring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