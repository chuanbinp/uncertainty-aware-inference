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media/image1.jpeg" ContentType="image/jpe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51435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wholeTbl>
    <a:band2H>
      <a:tcTxStyle b="def" i="def"/>
      <a:tcStyle>
        <a:tcBdr/>
        <a:fill>
          <a:solidFill>
            <a:srgbClr val="FFFFFF"/>
          </a:solidFill>
        </a:fill>
      </a:tcStyle>
    </a:band2H>
    <a:firstCo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Col>
    <a:lastRow>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8FB"/>
          </a:solidFill>
        </a:fill>
      </a:tcStyle>
    </a:wholeTbl>
    <a:band2H>
      <a:tcTxStyle b="def" i="def"/>
      <a:tcStyle>
        <a:tcBdr/>
        <a:fill>
          <a:solidFill>
            <a:srgbClr val="E8EDFD"/>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5DBDE"/>
          </a:solidFill>
        </a:fill>
      </a:tcStyle>
    </a:wholeTbl>
    <a:band2H>
      <a:tcTxStyle b="def" i="def"/>
      <a:tcStyle>
        <a:tcBdr/>
        <a:fill>
          <a:solidFill>
            <a:srgbClr val="EBEEEF"/>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CF821DB8-F4EB-4A41-A1BA-3FCAFE7338EE}"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8FFCD"/>
          </a:solidFill>
        </a:fill>
      </a:tcStyle>
    </a:wholeTbl>
    <a:band2H>
      <a:tcTxStyle b="def" i="def"/>
      <a:tcStyle>
        <a:tcBdr/>
        <a:fill>
          <a:solidFill>
            <a:srgbClr val="FCFF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33BA23B1-9221-436E-865A-0063620EA4FD}"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13" name="Shape 113"/>
          <p:cNvSpPr/>
          <p:nvPr>
            <p:ph type="sldImg"/>
          </p:nvPr>
        </p:nvSpPr>
        <p:spPr>
          <a:xfrm>
            <a:off x="1143000" y="685800"/>
            <a:ext cx="4572000" cy="3429000"/>
          </a:xfrm>
          <a:prstGeom prst="rect">
            <a:avLst/>
          </a:prstGeom>
        </p:spPr>
        <p:txBody>
          <a:bodyPr/>
          <a:lstStyle/>
          <a:p>
            <a:pPr/>
          </a:p>
        </p:txBody>
      </p:sp>
      <p:sp>
        <p:nvSpPr>
          <p:cNvPr id="114" name="Shape 114"/>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400">
        <a:latin typeface="+mj-lt"/>
        <a:ea typeface="+mj-ea"/>
        <a:cs typeface="+mj-cs"/>
        <a:sym typeface="Arial"/>
      </a:defRPr>
    </a:lvl1pPr>
    <a:lvl2pPr indent="228600" latinLnBrk="0">
      <a:defRPr sz="1400">
        <a:latin typeface="+mj-lt"/>
        <a:ea typeface="+mj-ea"/>
        <a:cs typeface="+mj-cs"/>
        <a:sym typeface="Arial"/>
      </a:defRPr>
    </a:lvl2pPr>
    <a:lvl3pPr indent="457200" latinLnBrk="0">
      <a:defRPr sz="1400">
        <a:latin typeface="+mj-lt"/>
        <a:ea typeface="+mj-ea"/>
        <a:cs typeface="+mj-cs"/>
        <a:sym typeface="Arial"/>
      </a:defRPr>
    </a:lvl3pPr>
    <a:lvl4pPr indent="685800" latinLnBrk="0">
      <a:defRPr sz="1400">
        <a:latin typeface="+mj-lt"/>
        <a:ea typeface="+mj-ea"/>
        <a:cs typeface="+mj-cs"/>
        <a:sym typeface="Arial"/>
      </a:defRPr>
    </a:lvl4pPr>
    <a:lvl5pPr indent="914400" latinLnBrk="0">
      <a:defRPr sz="1400">
        <a:latin typeface="+mj-lt"/>
        <a:ea typeface="+mj-ea"/>
        <a:cs typeface="+mj-cs"/>
        <a:sym typeface="Arial"/>
      </a:defRPr>
    </a:lvl5pPr>
    <a:lvl6pPr indent="1143000" latinLnBrk="0">
      <a:defRPr sz="1400">
        <a:latin typeface="+mj-lt"/>
        <a:ea typeface="+mj-ea"/>
        <a:cs typeface="+mj-cs"/>
        <a:sym typeface="Arial"/>
      </a:defRPr>
    </a:lvl6pPr>
    <a:lvl7pPr indent="1371600" latinLnBrk="0">
      <a:defRPr sz="1400">
        <a:latin typeface="+mj-lt"/>
        <a:ea typeface="+mj-ea"/>
        <a:cs typeface="+mj-cs"/>
        <a:sym typeface="Arial"/>
      </a:defRPr>
    </a:lvl7pPr>
    <a:lvl8pPr indent="1600200" latinLnBrk="0">
      <a:defRPr sz="1400">
        <a:latin typeface="+mj-lt"/>
        <a:ea typeface="+mj-ea"/>
        <a:cs typeface="+mj-cs"/>
        <a:sym typeface="Arial"/>
      </a:defRPr>
    </a:lvl8pPr>
    <a:lvl9pPr indent="1828800" latinLnBrk="0">
      <a:defRPr sz="1400">
        <a:latin typeface="+mj-lt"/>
        <a:ea typeface="+mj-ea"/>
        <a:cs typeface="+mj-cs"/>
        <a:sym typeface="Arial"/>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Title Text"/>
          <p:cNvSpPr txBox="1"/>
          <p:nvPr>
            <p:ph type="title"/>
          </p:nvPr>
        </p:nvSpPr>
        <p:spPr>
          <a:xfrm>
            <a:off x="311708" y="744574"/>
            <a:ext cx="8520601" cy="2052601"/>
          </a:xfrm>
          <a:prstGeom prst="rect">
            <a:avLst/>
          </a:prstGeom>
        </p:spPr>
        <p:txBody>
          <a:bodyPr anchor="b"/>
          <a:lstStyle>
            <a:lvl1pPr algn="ctr">
              <a:defRPr sz="5200"/>
            </a:lvl1pPr>
          </a:lstStyle>
          <a:p>
            <a:pPr/>
            <a:r>
              <a:t>Title Text</a:t>
            </a:r>
          </a:p>
        </p:txBody>
      </p:sp>
      <p:sp>
        <p:nvSpPr>
          <p:cNvPr id="12" name="Body Level One…"/>
          <p:cNvSpPr txBox="1"/>
          <p:nvPr>
            <p:ph type="body" sz="quarter" idx="1"/>
          </p:nvPr>
        </p:nvSpPr>
        <p:spPr>
          <a:xfrm>
            <a:off x="311699" y="2834125"/>
            <a:ext cx="8520602" cy="792601"/>
          </a:xfrm>
          <a:prstGeom prst="rect">
            <a:avLst/>
          </a:prstGeom>
        </p:spPr>
        <p:txBody>
          <a:bodyPr/>
          <a:lstStyle>
            <a:lvl1pPr marL="342900" indent="-228600" algn="ctr">
              <a:lnSpc>
                <a:spcPct val="100000"/>
              </a:lnSpc>
              <a:buClrTx/>
              <a:buSzTx/>
              <a:buFontTx/>
              <a:buNone/>
              <a:defRPr sz="2800"/>
            </a:lvl1pPr>
            <a:lvl2pPr marL="342900" indent="254000" algn="ctr">
              <a:lnSpc>
                <a:spcPct val="100000"/>
              </a:lnSpc>
              <a:buClrTx/>
              <a:buSzTx/>
              <a:buFontTx/>
              <a:buNone/>
              <a:defRPr sz="2800"/>
            </a:lvl2pPr>
            <a:lvl3pPr marL="342900" indent="711200" algn="ctr">
              <a:lnSpc>
                <a:spcPct val="100000"/>
              </a:lnSpc>
              <a:buClrTx/>
              <a:buSzTx/>
              <a:buFontTx/>
              <a:buNone/>
              <a:defRPr sz="2800"/>
            </a:lvl3pPr>
            <a:lvl4pPr marL="342900" indent="1168400" algn="ctr">
              <a:lnSpc>
                <a:spcPct val="100000"/>
              </a:lnSpc>
              <a:buClrTx/>
              <a:buSzTx/>
              <a:buFontTx/>
              <a:buNone/>
              <a:defRPr sz="2800"/>
            </a:lvl4pPr>
            <a:lvl5pPr marL="342900" indent="1625600" algn="ctr">
              <a:lnSpc>
                <a:spcPct val="100000"/>
              </a:lnSpc>
              <a:buClrTx/>
              <a:buSzTx/>
              <a:buFontTx/>
              <a:buNone/>
              <a:defRPr sz="2800"/>
            </a:lvl5p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_HEADER">
    <p:spTree>
      <p:nvGrpSpPr>
        <p:cNvPr id="1" name=""/>
        <p:cNvGrpSpPr/>
        <p:nvPr/>
      </p:nvGrpSpPr>
      <p:grpSpPr>
        <a:xfrm>
          <a:off x="0" y="0"/>
          <a:ext cx="0" cy="0"/>
          <a:chOff x="0" y="0"/>
          <a:chExt cx="0" cy="0"/>
        </a:xfrm>
      </p:grpSpPr>
      <p:sp>
        <p:nvSpPr>
          <p:cNvPr id="20" name="Title Text"/>
          <p:cNvSpPr txBox="1"/>
          <p:nvPr>
            <p:ph type="title"/>
          </p:nvPr>
        </p:nvSpPr>
        <p:spPr>
          <a:xfrm>
            <a:off x="311699" y="2150849"/>
            <a:ext cx="8520602" cy="841801"/>
          </a:xfrm>
          <a:prstGeom prst="rect">
            <a:avLst/>
          </a:prstGeom>
        </p:spPr>
        <p:txBody>
          <a:bodyPr anchor="ctr"/>
          <a:lstStyle>
            <a:lvl1pPr algn="ctr">
              <a:defRPr sz="3600"/>
            </a:lvl1pPr>
          </a:lstStyle>
          <a:p>
            <a:pPr/>
            <a:r>
              <a:t>Title Text</a:t>
            </a:r>
          </a:p>
        </p:txBody>
      </p:sp>
      <p:sp>
        <p:nvSpPr>
          <p:cNvPr id="2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_AND_BODY">
    <p:spTree>
      <p:nvGrpSpPr>
        <p:cNvPr id="1" name=""/>
        <p:cNvGrpSpPr/>
        <p:nvPr/>
      </p:nvGrpSpPr>
      <p:grpSpPr>
        <a:xfrm>
          <a:off x="0" y="0"/>
          <a:ext cx="0" cy="0"/>
          <a:chOff x="0" y="0"/>
          <a:chExt cx="0" cy="0"/>
        </a:xfrm>
      </p:grpSpPr>
      <p:sp>
        <p:nvSpPr>
          <p:cNvPr id="28" name="Title Text"/>
          <p:cNvSpPr txBox="1"/>
          <p:nvPr>
            <p:ph type="title"/>
          </p:nvPr>
        </p:nvSpPr>
        <p:spPr>
          <a:prstGeom prst="rect">
            <a:avLst/>
          </a:prstGeom>
        </p:spPr>
        <p:txBody>
          <a:bodyPr/>
          <a:lstStyle/>
          <a:p>
            <a:pPr/>
            <a:r>
              <a:t>Title Text</a:t>
            </a:r>
          </a:p>
        </p:txBody>
      </p:sp>
      <p:sp>
        <p:nvSpPr>
          <p:cNvPr id="29" name="Body Level One…"/>
          <p:cNvSpPr txBox="1"/>
          <p:nvPr>
            <p:ph type="body" idx="1"/>
          </p:nvPr>
        </p:nvSpPr>
        <p:spPr>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3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_AND_TWO_COLUMNS">
    <p:spTree>
      <p:nvGrpSpPr>
        <p:cNvPr id="1" name=""/>
        <p:cNvGrpSpPr/>
        <p:nvPr/>
      </p:nvGrpSpPr>
      <p:grpSpPr>
        <a:xfrm>
          <a:off x="0" y="0"/>
          <a:ext cx="0" cy="0"/>
          <a:chOff x="0" y="0"/>
          <a:chExt cx="0" cy="0"/>
        </a:xfrm>
      </p:grpSpPr>
      <p:sp>
        <p:nvSpPr>
          <p:cNvPr id="37" name="Title Text"/>
          <p:cNvSpPr txBox="1"/>
          <p:nvPr>
            <p:ph type="title"/>
          </p:nvPr>
        </p:nvSpPr>
        <p:spPr>
          <a:prstGeom prst="rect">
            <a:avLst/>
          </a:prstGeom>
        </p:spPr>
        <p:txBody>
          <a:bodyPr/>
          <a:lstStyle/>
          <a:p>
            <a:pPr/>
            <a:r>
              <a:t>Title Text</a:t>
            </a:r>
          </a:p>
        </p:txBody>
      </p:sp>
      <p:sp>
        <p:nvSpPr>
          <p:cNvPr id="38" name="Body Level One…"/>
          <p:cNvSpPr txBox="1"/>
          <p:nvPr>
            <p:ph type="body" sz="half" idx="1"/>
          </p:nvPr>
        </p:nvSpPr>
        <p:spPr>
          <a:xfrm>
            <a:off x="311699" y="1152475"/>
            <a:ext cx="3999902" cy="3416400"/>
          </a:xfrm>
          <a:prstGeom prst="rect">
            <a:avLst/>
          </a:prstGeom>
        </p:spPr>
        <p:txBody>
          <a:bodyPr/>
          <a:lstStyle>
            <a:lvl1pPr indent="-317500">
              <a:buSzPts val="1400"/>
              <a:defRPr sz="1400"/>
            </a:lvl1pPr>
            <a:lvl2pPr marL="965200" indent="-355600">
              <a:buSzPts val="1400"/>
              <a:defRPr sz="1400"/>
            </a:lvl2pPr>
            <a:lvl3pPr marL="1422400" indent="-355600">
              <a:buSzPts val="1400"/>
              <a:defRPr sz="1400"/>
            </a:lvl3pPr>
            <a:lvl4pPr marL="1879600" indent="-355600">
              <a:buSzPts val="1400"/>
              <a:defRPr sz="1400"/>
            </a:lvl4pPr>
            <a:lvl5pPr marL="2336800" indent="-355600">
              <a:buSzPts val="1400"/>
              <a:defRPr sz="1400"/>
            </a:lvl5pPr>
          </a:lstStyle>
          <a:p>
            <a:pPr/>
            <a:r>
              <a:t>Body Level One</a:t>
            </a:r>
          </a:p>
          <a:p>
            <a:pPr lvl="1"/>
            <a:r>
              <a:t>Body Level Two</a:t>
            </a:r>
          </a:p>
          <a:p>
            <a:pPr lvl="2"/>
            <a:r>
              <a:t>Body Level Three</a:t>
            </a:r>
          </a:p>
          <a:p>
            <a:pPr lvl="3"/>
            <a:r>
              <a:t>Body Level Four</a:t>
            </a:r>
          </a:p>
          <a:p>
            <a:pPr lvl="4"/>
            <a:r>
              <a:t>Body Level Five</a:t>
            </a:r>
          </a:p>
        </p:txBody>
      </p:sp>
      <p:sp>
        <p:nvSpPr>
          <p:cNvPr id="39" name="Google Shape;23;p5"/>
          <p:cNvSpPr txBox="1"/>
          <p:nvPr>
            <p:ph type="body" sz="half" idx="21"/>
          </p:nvPr>
        </p:nvSpPr>
        <p:spPr>
          <a:xfrm>
            <a:off x="4832399" y="1152475"/>
            <a:ext cx="3999902" cy="3416400"/>
          </a:xfrm>
          <a:prstGeom prst="rect">
            <a:avLst/>
          </a:prstGeom>
        </p:spPr>
        <p:txBody>
          <a:bodyPr/>
          <a:lstStyle/>
          <a:p>
            <a:pPr indent="-317500">
              <a:buSzPts val="1400"/>
              <a:defRPr sz="1400"/>
            </a:pPr>
          </a:p>
        </p:txBody>
      </p:sp>
      <p:sp>
        <p:nvSpPr>
          <p:cNvPr id="4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_ONLY">
    <p:spTree>
      <p:nvGrpSpPr>
        <p:cNvPr id="1" name=""/>
        <p:cNvGrpSpPr/>
        <p:nvPr/>
      </p:nvGrpSpPr>
      <p:grpSpPr>
        <a:xfrm>
          <a:off x="0" y="0"/>
          <a:ext cx="0" cy="0"/>
          <a:chOff x="0" y="0"/>
          <a:chExt cx="0" cy="0"/>
        </a:xfrm>
      </p:grpSpPr>
      <p:sp>
        <p:nvSpPr>
          <p:cNvPr id="47" name="Title Text"/>
          <p:cNvSpPr txBox="1"/>
          <p:nvPr>
            <p:ph type="title"/>
          </p:nvPr>
        </p:nvSpPr>
        <p:spPr>
          <a:prstGeom prst="rect">
            <a:avLst/>
          </a:prstGeom>
        </p:spPr>
        <p:txBody>
          <a:bodyPr/>
          <a:lstStyle/>
          <a:p>
            <a:pPr/>
            <a:r>
              <a:t>Title Text</a:t>
            </a:r>
          </a:p>
        </p:txBody>
      </p:sp>
      <p:sp>
        <p:nvSpPr>
          <p:cNvPr id="4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ONE_COLUMN_TEXT">
    <p:spTree>
      <p:nvGrpSpPr>
        <p:cNvPr id="1" name=""/>
        <p:cNvGrpSpPr/>
        <p:nvPr/>
      </p:nvGrpSpPr>
      <p:grpSpPr>
        <a:xfrm>
          <a:off x="0" y="0"/>
          <a:ext cx="0" cy="0"/>
          <a:chOff x="0" y="0"/>
          <a:chExt cx="0" cy="0"/>
        </a:xfrm>
      </p:grpSpPr>
      <p:sp>
        <p:nvSpPr>
          <p:cNvPr id="55" name="Title Text"/>
          <p:cNvSpPr txBox="1"/>
          <p:nvPr>
            <p:ph type="title"/>
          </p:nvPr>
        </p:nvSpPr>
        <p:spPr>
          <a:xfrm>
            <a:off x="311699" y="555600"/>
            <a:ext cx="2808001" cy="755700"/>
          </a:xfrm>
          <a:prstGeom prst="rect">
            <a:avLst/>
          </a:prstGeom>
        </p:spPr>
        <p:txBody>
          <a:bodyPr anchor="b"/>
          <a:lstStyle>
            <a:lvl1pPr>
              <a:defRPr sz="2400"/>
            </a:lvl1pPr>
          </a:lstStyle>
          <a:p>
            <a:pPr/>
            <a:r>
              <a:t>Title Text</a:t>
            </a:r>
          </a:p>
        </p:txBody>
      </p:sp>
      <p:sp>
        <p:nvSpPr>
          <p:cNvPr id="56" name="Body Level One…"/>
          <p:cNvSpPr txBox="1"/>
          <p:nvPr>
            <p:ph type="body" sz="quarter" idx="1"/>
          </p:nvPr>
        </p:nvSpPr>
        <p:spPr>
          <a:xfrm>
            <a:off x="311699" y="1389599"/>
            <a:ext cx="2808001" cy="3179401"/>
          </a:xfrm>
          <a:prstGeom prst="rect">
            <a:avLst/>
          </a:prstGeom>
        </p:spPr>
        <p:txBody>
          <a:bodyPr/>
          <a:lstStyle>
            <a:lvl1pPr indent="-304800">
              <a:buSzPts val="1200"/>
              <a:defRPr sz="1200"/>
            </a:lvl1pPr>
            <a:lvl2pPr marL="914400" indent="-304800">
              <a:buSzPts val="1200"/>
              <a:defRPr sz="1200"/>
            </a:lvl2pPr>
            <a:lvl3pPr marL="1371600" indent="-304800">
              <a:buSzPts val="1200"/>
              <a:defRPr sz="1200"/>
            </a:lvl3pPr>
            <a:lvl4pPr marL="1828800" indent="-304800">
              <a:buSzPts val="1200"/>
              <a:defRPr sz="1200"/>
            </a:lvl4pPr>
            <a:lvl5pPr marL="2286000" indent="-304800">
              <a:buSzPts val="1200"/>
              <a:defRPr sz="1200"/>
            </a:lvl5pPr>
          </a:lstStyle>
          <a:p>
            <a:pPr/>
            <a:r>
              <a:t>Body Level One</a:t>
            </a:r>
          </a:p>
          <a:p>
            <a:pPr lvl="1"/>
            <a:r>
              <a:t>Body Level Two</a:t>
            </a:r>
          </a:p>
          <a:p>
            <a:pPr lvl="2"/>
            <a:r>
              <a:t>Body Level Three</a:t>
            </a:r>
          </a:p>
          <a:p>
            <a:pPr lvl="3"/>
            <a:r>
              <a:t>Body Level Four</a:t>
            </a:r>
          </a:p>
          <a:p>
            <a:pPr lvl="4"/>
            <a:r>
              <a:t>Body Level Five</a:t>
            </a:r>
          </a:p>
        </p:txBody>
      </p:sp>
      <p:sp>
        <p:nvSpPr>
          <p:cNvPr id="5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MAIN_POINT">
    <p:spTree>
      <p:nvGrpSpPr>
        <p:cNvPr id="1" name=""/>
        <p:cNvGrpSpPr/>
        <p:nvPr/>
      </p:nvGrpSpPr>
      <p:grpSpPr>
        <a:xfrm>
          <a:off x="0" y="0"/>
          <a:ext cx="0" cy="0"/>
          <a:chOff x="0" y="0"/>
          <a:chExt cx="0" cy="0"/>
        </a:xfrm>
      </p:grpSpPr>
      <p:sp>
        <p:nvSpPr>
          <p:cNvPr id="64" name="Title Text"/>
          <p:cNvSpPr txBox="1"/>
          <p:nvPr>
            <p:ph type="title"/>
          </p:nvPr>
        </p:nvSpPr>
        <p:spPr>
          <a:xfrm>
            <a:off x="490250" y="450149"/>
            <a:ext cx="6367801" cy="4090801"/>
          </a:xfrm>
          <a:prstGeom prst="rect">
            <a:avLst/>
          </a:prstGeom>
        </p:spPr>
        <p:txBody>
          <a:bodyPr anchor="ctr"/>
          <a:lstStyle>
            <a:lvl1pPr>
              <a:defRPr sz="4800"/>
            </a:lvl1pPr>
          </a:lstStyle>
          <a:p>
            <a:pPr/>
            <a:r>
              <a:t>Title Text</a:t>
            </a:r>
          </a:p>
        </p:txBody>
      </p:sp>
      <p:sp>
        <p:nvSpPr>
          <p:cNvPr id="6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_TITLE_AND_DESCRIPTION">
    <p:spTree>
      <p:nvGrpSpPr>
        <p:cNvPr id="1" name=""/>
        <p:cNvGrpSpPr/>
        <p:nvPr/>
      </p:nvGrpSpPr>
      <p:grpSpPr>
        <a:xfrm>
          <a:off x="0" y="0"/>
          <a:ext cx="0" cy="0"/>
          <a:chOff x="0" y="0"/>
          <a:chExt cx="0" cy="0"/>
        </a:xfrm>
      </p:grpSpPr>
      <p:sp>
        <p:nvSpPr>
          <p:cNvPr id="72" name="Google Shape;36;p9"/>
          <p:cNvSpPr/>
          <p:nvPr/>
        </p:nvSpPr>
        <p:spPr>
          <a:xfrm>
            <a:off x="4572000" y="-125"/>
            <a:ext cx="4572000" cy="5143501"/>
          </a:xfrm>
          <a:prstGeom prst="rect">
            <a:avLst/>
          </a:prstGeom>
          <a:solidFill>
            <a:srgbClr val="EEEEEE"/>
          </a:solidFill>
          <a:ln w="12700">
            <a:miter lim="400000"/>
          </a:ln>
        </p:spPr>
        <p:txBody>
          <a:bodyPr lIns="0" tIns="0" rIns="0" bIns="0" anchor="ctr"/>
          <a:lstStyle/>
          <a:p>
            <a:pPr/>
          </a:p>
        </p:txBody>
      </p:sp>
      <p:sp>
        <p:nvSpPr>
          <p:cNvPr id="73" name="Title Text"/>
          <p:cNvSpPr txBox="1"/>
          <p:nvPr>
            <p:ph type="title"/>
          </p:nvPr>
        </p:nvSpPr>
        <p:spPr>
          <a:xfrm>
            <a:off x="265500" y="1233175"/>
            <a:ext cx="4045200" cy="1482301"/>
          </a:xfrm>
          <a:prstGeom prst="rect">
            <a:avLst/>
          </a:prstGeom>
        </p:spPr>
        <p:txBody>
          <a:bodyPr anchor="b"/>
          <a:lstStyle>
            <a:lvl1pPr algn="ctr">
              <a:defRPr sz="4200"/>
            </a:lvl1pPr>
          </a:lstStyle>
          <a:p>
            <a:pPr/>
            <a:r>
              <a:t>Title Text</a:t>
            </a:r>
          </a:p>
        </p:txBody>
      </p:sp>
      <p:sp>
        <p:nvSpPr>
          <p:cNvPr id="74" name="Body Level One…"/>
          <p:cNvSpPr txBox="1"/>
          <p:nvPr>
            <p:ph type="body" sz="quarter" idx="1"/>
          </p:nvPr>
        </p:nvSpPr>
        <p:spPr>
          <a:xfrm>
            <a:off x="265500" y="2803075"/>
            <a:ext cx="4045200" cy="1235101"/>
          </a:xfrm>
          <a:prstGeom prst="rect">
            <a:avLst/>
          </a:prstGeom>
        </p:spPr>
        <p:txBody>
          <a:bodyPr/>
          <a:lstStyle>
            <a:lvl1pPr marL="342900" indent="-228600" algn="ctr">
              <a:lnSpc>
                <a:spcPct val="100000"/>
              </a:lnSpc>
              <a:buClrTx/>
              <a:buSzTx/>
              <a:buFontTx/>
              <a:buNone/>
              <a:defRPr sz="2100"/>
            </a:lvl1pPr>
            <a:lvl2pPr marL="342900" indent="254000" algn="ctr">
              <a:lnSpc>
                <a:spcPct val="100000"/>
              </a:lnSpc>
              <a:buClrTx/>
              <a:buSzTx/>
              <a:buFontTx/>
              <a:buNone/>
              <a:defRPr sz="2100"/>
            </a:lvl2pPr>
            <a:lvl3pPr marL="342900" indent="711200" algn="ctr">
              <a:lnSpc>
                <a:spcPct val="100000"/>
              </a:lnSpc>
              <a:buClrTx/>
              <a:buSzTx/>
              <a:buFontTx/>
              <a:buNone/>
              <a:defRPr sz="2100"/>
            </a:lvl3pPr>
            <a:lvl4pPr marL="342900" indent="1168400" algn="ctr">
              <a:lnSpc>
                <a:spcPct val="100000"/>
              </a:lnSpc>
              <a:buClrTx/>
              <a:buSzTx/>
              <a:buFontTx/>
              <a:buNone/>
              <a:defRPr sz="2100"/>
            </a:lvl4pPr>
            <a:lvl5pPr marL="342900" indent="1625600" algn="ctr">
              <a:lnSpc>
                <a:spcPct val="100000"/>
              </a:lnSpc>
              <a:buClrTx/>
              <a:buSzTx/>
              <a:buFontTx/>
              <a:buNone/>
              <a:defRPr sz="2100"/>
            </a:lvl5pPr>
          </a:lstStyle>
          <a:p>
            <a:pPr/>
            <a:r>
              <a:t>Body Level One</a:t>
            </a:r>
          </a:p>
          <a:p>
            <a:pPr lvl="1"/>
            <a:r>
              <a:t>Body Level Two</a:t>
            </a:r>
          </a:p>
          <a:p>
            <a:pPr lvl="2"/>
            <a:r>
              <a:t>Body Level Three</a:t>
            </a:r>
          </a:p>
          <a:p>
            <a:pPr lvl="3"/>
            <a:r>
              <a:t>Body Level Four</a:t>
            </a:r>
          </a:p>
          <a:p>
            <a:pPr lvl="4"/>
            <a:r>
              <a:t>Body Level Five</a:t>
            </a:r>
          </a:p>
        </p:txBody>
      </p:sp>
      <p:sp>
        <p:nvSpPr>
          <p:cNvPr id="75" name="Google Shape;39;p9"/>
          <p:cNvSpPr txBox="1"/>
          <p:nvPr>
            <p:ph type="body" sz="half" idx="21"/>
          </p:nvPr>
        </p:nvSpPr>
        <p:spPr>
          <a:xfrm>
            <a:off x="4939500" y="724074"/>
            <a:ext cx="3837000" cy="3695102"/>
          </a:xfrm>
          <a:prstGeom prst="rect">
            <a:avLst/>
          </a:prstGeom>
        </p:spPr>
        <p:txBody>
          <a:bodyPr anchor="ctr"/>
          <a:lstStyle/>
          <a:p>
            <a:pPr/>
          </a:p>
        </p:txBody>
      </p:sp>
      <p:sp>
        <p:nvSpPr>
          <p:cNvPr id="76"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APTION_ONLY">
    <p:spTree>
      <p:nvGrpSpPr>
        <p:cNvPr id="1" name=""/>
        <p:cNvGrpSpPr/>
        <p:nvPr/>
      </p:nvGrpSpPr>
      <p:grpSpPr>
        <a:xfrm>
          <a:off x="0" y="0"/>
          <a:ext cx="0" cy="0"/>
          <a:chOff x="0" y="0"/>
          <a:chExt cx="0" cy="0"/>
        </a:xfrm>
      </p:grpSpPr>
      <p:sp>
        <p:nvSpPr>
          <p:cNvPr id="83" name="Body Level One…"/>
          <p:cNvSpPr txBox="1"/>
          <p:nvPr>
            <p:ph type="body" sz="quarter" idx="1"/>
          </p:nvPr>
        </p:nvSpPr>
        <p:spPr>
          <a:xfrm>
            <a:off x="311699" y="4230575"/>
            <a:ext cx="5998802" cy="605101"/>
          </a:xfrm>
          <a:prstGeom prst="rect">
            <a:avLst/>
          </a:prstGeom>
        </p:spPr>
        <p:txBody>
          <a:bodyPr anchor="ctr"/>
          <a:lstStyle>
            <a:lvl1pPr marL="228600" indent="0">
              <a:lnSpc>
                <a:spcPct val="100000"/>
              </a:lnSpc>
              <a:buClrTx/>
              <a:buSzTx/>
              <a:buFontTx/>
              <a:buNone/>
            </a:lvl1pPr>
            <a:lvl2pPr>
              <a:lnSpc>
                <a:spcPct val="100000"/>
              </a:lnSpc>
              <a:buClrTx/>
              <a:buFontTx/>
            </a:lvl2pPr>
            <a:lvl3pPr>
              <a:lnSpc>
                <a:spcPct val="100000"/>
              </a:lnSpc>
              <a:buClrTx/>
              <a:buFontTx/>
            </a:lvl3pPr>
            <a:lvl4pPr>
              <a:lnSpc>
                <a:spcPct val="100000"/>
              </a:lnSpc>
              <a:buClrTx/>
              <a:buFontTx/>
            </a:lvl4pPr>
            <a:lvl5pPr>
              <a:lnSpc>
                <a:spcPct val="100000"/>
              </a:lnSpc>
              <a:buClrTx/>
              <a:buFontTx/>
            </a:lvl5pPr>
          </a:lstStyle>
          <a:p>
            <a:pPr/>
            <a:r>
              <a:t>Body Level One</a:t>
            </a:r>
          </a:p>
          <a:p>
            <a:pPr lvl="1"/>
            <a:r>
              <a:t>Body Level Two</a:t>
            </a:r>
          </a:p>
          <a:p>
            <a:pPr lvl="2"/>
            <a:r>
              <a:t>Body Level Three</a:t>
            </a:r>
          </a:p>
          <a:p>
            <a:pPr lvl="3"/>
            <a:r>
              <a:t>Body Level Four</a:t>
            </a:r>
          </a:p>
          <a:p>
            <a:pPr lvl="4"/>
            <a:r>
              <a:t>Body Level Five</a:t>
            </a: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_NUMBER">
    <p:spTree>
      <p:nvGrpSpPr>
        <p:cNvPr id="1" name=""/>
        <p:cNvGrpSpPr/>
        <p:nvPr/>
      </p:nvGrpSpPr>
      <p:grpSpPr>
        <a:xfrm>
          <a:off x="0" y="0"/>
          <a:ext cx="0" cy="0"/>
          <a:chOff x="0" y="0"/>
          <a:chExt cx="0" cy="0"/>
        </a:xfrm>
      </p:grpSpPr>
      <p:sp>
        <p:nvSpPr>
          <p:cNvPr id="91" name="xx%"/>
          <p:cNvSpPr txBox="1"/>
          <p:nvPr>
            <p:ph type="title" hasCustomPrompt="1"/>
          </p:nvPr>
        </p:nvSpPr>
        <p:spPr>
          <a:xfrm>
            <a:off x="311699" y="1106125"/>
            <a:ext cx="8520602" cy="1963500"/>
          </a:xfrm>
          <a:prstGeom prst="rect">
            <a:avLst/>
          </a:prstGeom>
        </p:spPr>
        <p:txBody>
          <a:bodyPr anchor="b"/>
          <a:lstStyle>
            <a:lvl1pPr algn="ctr">
              <a:defRPr sz="12000"/>
            </a:lvl1pPr>
          </a:lstStyle>
          <a:p>
            <a:pPr/>
            <a:r>
              <a:t>xx%</a:t>
            </a:r>
          </a:p>
        </p:txBody>
      </p:sp>
      <p:sp>
        <p:nvSpPr>
          <p:cNvPr id="92" name="Body Level One…"/>
          <p:cNvSpPr txBox="1"/>
          <p:nvPr>
            <p:ph type="body" sz="half" idx="1"/>
          </p:nvPr>
        </p:nvSpPr>
        <p:spPr>
          <a:xfrm>
            <a:off x="311699" y="3152225"/>
            <a:ext cx="8520602" cy="1300800"/>
          </a:xfrm>
          <a:prstGeom prst="rect">
            <a:avLst/>
          </a:prstGeom>
        </p:spPr>
        <p:txBody>
          <a:bodyPr/>
          <a:lstStyle>
            <a:lvl1pPr algn="ctr"/>
            <a:lvl2pPr algn="ctr"/>
            <a:lvl3pPr algn="ctr"/>
            <a:lvl4pPr algn="ctr"/>
            <a:lvl5pPr algn="ctr"/>
          </a:lstStyle>
          <a:p>
            <a:pPr/>
            <a:r>
              <a:t>Body Level One</a:t>
            </a:r>
          </a:p>
          <a:p>
            <a:pPr lvl="1"/>
            <a:r>
              <a:t>Body Level Two</a:t>
            </a:r>
          </a:p>
          <a:p>
            <a:pPr lvl="2"/>
            <a:r>
              <a:t>Body Level Three</a:t>
            </a:r>
          </a:p>
          <a:p>
            <a:pPr lvl="3"/>
            <a:r>
              <a:t>Body Level Four</a:t>
            </a:r>
          </a:p>
          <a:p>
            <a:pPr lvl="4"/>
            <a:r>
              <a:t>Body Level Five</a:t>
            </a:r>
          </a:p>
        </p:txBody>
      </p:sp>
      <p:sp>
        <p:nvSpPr>
          <p:cNvPr id="9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0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07" name="Slide Number"/>
          <p:cNvSpPr txBox="1"/>
          <p:nvPr>
            <p:ph type="sldNum" sz="quarter" idx="2"/>
          </p:nvPr>
        </p:nvSpPr>
        <p:spPr>
          <a:xfrm>
            <a:off x="4419600" y="4608064"/>
            <a:ext cx="2133600" cy="318397"/>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311699" y="445025"/>
            <a:ext cx="8520602" cy="572701"/>
          </a:xfrm>
          <a:prstGeom prst="rect">
            <a:avLst/>
          </a:prstGeom>
          <a:ln w="12700">
            <a:miter lim="400000"/>
          </a:ln>
          <a:extLst>
            <a:ext uri="{C572A759-6A51-4108-AA02-DFA0A04FC94B}">
              <ma14:wrappingTextBoxFlag xmlns:ma14="http://schemas.microsoft.com/office/mac/drawingml/2011/main" val="1"/>
            </a:ext>
          </a:extLst>
        </p:spPr>
        <p:txBody>
          <a:bodyPr lIns="91424" tIns="91424" rIns="91424" bIns="91424">
            <a:normAutofit fontScale="100000" lnSpcReduction="0"/>
          </a:bodyPr>
          <a:lstStyle/>
          <a:p>
            <a:pPr/>
            <a:r>
              <a:t>Title Text</a:t>
            </a:r>
          </a:p>
        </p:txBody>
      </p:sp>
      <p:sp>
        <p:nvSpPr>
          <p:cNvPr id="3" name="Body Level One…"/>
          <p:cNvSpPr txBox="1"/>
          <p:nvPr>
            <p:ph type="body" idx="1"/>
          </p:nvPr>
        </p:nvSpPr>
        <p:spPr>
          <a:xfrm>
            <a:off x="311699" y="1152475"/>
            <a:ext cx="8520602" cy="3416400"/>
          </a:xfrm>
          <a:prstGeom prst="rect">
            <a:avLst/>
          </a:prstGeom>
          <a:ln w="12700">
            <a:miter lim="400000"/>
          </a:ln>
          <a:extLst>
            <a:ext uri="{C572A759-6A51-4108-AA02-DFA0A04FC94B}">
              <ma14:wrappingTextBoxFlag xmlns:ma14="http://schemas.microsoft.com/office/mac/drawingml/2011/main" val="1"/>
            </a:ext>
          </a:extLst>
        </p:spPr>
        <p:txBody>
          <a:bodyPr lIns="91424" tIns="91424" rIns="91424" bIns="91424">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684345" y="4700819"/>
            <a:ext cx="336813" cy="318396"/>
          </a:xfrm>
          <a:prstGeom prst="rect">
            <a:avLst/>
          </a:prstGeom>
          <a:ln w="12700">
            <a:miter lim="400000"/>
          </a:ln>
        </p:spPr>
        <p:txBody>
          <a:bodyPr wrap="none" lIns="91424" tIns="91424" rIns="91424" bIns="91424" anchor="ctr">
            <a:normAutofit fontScale="100000" lnSpcReduction="0"/>
          </a:bodyPr>
          <a:lstStyle>
            <a:lvl1pPr algn="r">
              <a:defRPr sz="1000">
                <a:solidFill>
                  <a:schemeClr val="accent2">
                    <a:lumOff val="21764"/>
                  </a:schemeClr>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transition xmlns:p14="http://schemas.microsoft.com/office/powerpoint/2010/main" spd="med" advClick="1"/>
  <p:txStyles>
    <p:titleStyle>
      <a:lvl1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1pPr>
      <a:lvl2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2pPr>
      <a:lvl3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3pPr>
      <a:lvl4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4pPr>
      <a:lvl5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5pPr>
      <a:lvl6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6pPr>
      <a:lvl7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7pPr>
      <a:lvl8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8pPr>
      <a:lvl9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9pPr>
    </p:titleStyle>
    <p:bodyStyle>
      <a:lvl1pPr marL="457200" marR="0" indent="-342900"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1pPr>
      <a:lvl2pPr marL="10051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2pPr>
      <a:lvl3pPr marL="14623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3pPr>
      <a:lvl4pPr marL="19195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4pPr>
      <a:lvl5pPr marL="23767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5pPr>
      <a:lvl6pPr marL="28339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6pPr>
      <a:lvl7pPr marL="32911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7pPr>
      <a:lvl8pPr marL="37483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8pPr>
      <a:lvl9pPr marL="42055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1pPr>
      <a:lvl2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2pPr>
      <a:lvl3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3pPr>
      <a:lvl4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4pPr>
      <a:lvl5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5pPr>
      <a:lvl6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6pPr>
      <a:lvl7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7pPr>
      <a:lvl8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8pPr>
      <a:lvl9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github.com/chuanbinp/uncertainty-aware-inference" TargetMode="External"/><Relationship Id="rId3" Type="http://schemas.openxmlformats.org/officeDocument/2006/relationships/hyperlink" Target="https://wandb.ai/Uncertainty_Aware_Inference_Lab/UAI_Project" TargetMode="External"/></Relationships>

</file>

<file path=ppt/slides/_rels/slide2.xml.rels><?xml version="1.0" encoding="UTF-8"?>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7.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drive.google.com/file/d/1G_2yfGg6ObTkVmFuBEdWeBcWIzM6ZVaO/view" TargetMode="External"/><Relationship Id="rId3" Type="http://schemas.openxmlformats.org/officeDocument/2006/relationships/image" Target="../media/image1.jpeg"/></Relationships>

</file>

<file path=ppt/slides/_rels/slide15.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github.com/chuanbinp/uncertainty-aware-inference" TargetMode="External"/><Relationship Id="rId3" Type="http://schemas.openxmlformats.org/officeDocument/2006/relationships/hyperlink" Target="https://wandb.ai/Uncertainty_Aware_Inference_Lab/UAI_Project" TargetMode="Externa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1E2535"/>
        </a:solidFill>
      </p:bgPr>
    </p:bg>
    <p:spTree>
      <p:nvGrpSpPr>
        <p:cNvPr id="1" name=""/>
        <p:cNvGrpSpPr/>
        <p:nvPr/>
      </p:nvGrpSpPr>
      <p:grpSpPr>
        <a:xfrm>
          <a:off x="0" y="0"/>
          <a:ext cx="0" cy="0"/>
          <a:chOff x="0" y="0"/>
          <a:chExt cx="0" cy="0"/>
        </a:xfrm>
      </p:grpSpPr>
      <p:sp>
        <p:nvSpPr>
          <p:cNvPr id="116" name="Google Shape;57;p15"/>
          <p:cNvSpPr txBox="1"/>
          <p:nvPr/>
        </p:nvSpPr>
        <p:spPr>
          <a:xfrm>
            <a:off x="502919" y="324722"/>
            <a:ext cx="64008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94A3B8"/>
                </a:solidFill>
                <a:latin typeface="Calibri"/>
                <a:ea typeface="Calibri"/>
                <a:cs typeface="Calibri"/>
                <a:sym typeface="Calibri"/>
              </a:defRPr>
            </a:lvl1pPr>
          </a:lstStyle>
          <a:p>
            <a:pPr/>
            <a:r>
              <a:t>HPML Final Project  ·  Spring 2026</a:t>
            </a:r>
          </a:p>
        </p:txBody>
      </p:sp>
      <p:sp>
        <p:nvSpPr>
          <p:cNvPr id="117" name="Google Shape;58;p15"/>
          <p:cNvSpPr txBox="1"/>
          <p:nvPr/>
        </p:nvSpPr>
        <p:spPr>
          <a:xfrm>
            <a:off x="502919" y="957917"/>
            <a:ext cx="8229601" cy="5624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4400">
                <a:solidFill>
                  <a:srgbClr val="FFFFFF"/>
                </a:solidFill>
                <a:latin typeface="Calibri"/>
                <a:ea typeface="Calibri"/>
                <a:cs typeface="Calibri"/>
                <a:sym typeface="Calibri"/>
              </a:defRPr>
            </a:lvl1pPr>
          </a:lstStyle>
          <a:p>
            <a:pPr/>
            <a:r>
              <a:t>Uncertainty-Aware Inference:</a:t>
            </a:r>
          </a:p>
        </p:txBody>
      </p:sp>
      <p:sp>
        <p:nvSpPr>
          <p:cNvPr id="118" name="Google Shape;59;p15"/>
          <p:cNvSpPr txBox="1"/>
          <p:nvPr/>
        </p:nvSpPr>
        <p:spPr>
          <a:xfrm>
            <a:off x="502919" y="1640729"/>
            <a:ext cx="8229601" cy="29393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200">
                <a:solidFill>
                  <a:srgbClr val="BAD6F5"/>
                </a:solidFill>
                <a:latin typeface="Calibri"/>
                <a:ea typeface="Calibri"/>
                <a:cs typeface="Calibri"/>
                <a:sym typeface="Calibri"/>
              </a:defRPr>
            </a:lvl1pPr>
          </a:lstStyle>
          <a:p>
            <a:pPr/>
            <a:r>
              <a:t>How Post-Training Quantization Effects LLM Confidence Calibration</a:t>
            </a:r>
          </a:p>
        </p:txBody>
      </p:sp>
      <p:sp>
        <p:nvSpPr>
          <p:cNvPr id="119" name="Google Shape;60;p15"/>
          <p:cNvSpPr txBox="1"/>
          <p:nvPr/>
        </p:nvSpPr>
        <p:spPr>
          <a:xfrm>
            <a:off x="502919" y="2081643"/>
            <a:ext cx="7772401" cy="4179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a:solidFill>
                  <a:srgbClr val="94A3B8"/>
                </a:solidFill>
                <a:latin typeface="Calibri"/>
                <a:ea typeface="Calibri"/>
                <a:cs typeface="Calibri"/>
                <a:sym typeface="Calibri"/>
              </a:defRPr>
            </a:lvl1pPr>
          </a:lstStyle>
          <a:p>
            <a:pPr/>
            <a:r>
              <a:t>Systematic PTQ calibration study on Mistral-7B: 5 configs × 3 datasets, CUDA-level profiling, Roofline analysis, uncertainty-based routing simulation and knowledge distillation.</a:t>
            </a:r>
          </a:p>
        </p:txBody>
      </p:sp>
      <p:sp>
        <p:nvSpPr>
          <p:cNvPr id="120" name="Google Shape;61;p15"/>
          <p:cNvSpPr txBox="1"/>
          <p:nvPr/>
        </p:nvSpPr>
        <p:spPr>
          <a:xfrm>
            <a:off x="502919" y="2846240"/>
            <a:ext cx="457200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solidFill>
                  <a:srgbClr val="FFFFFF"/>
                </a:solidFill>
                <a:latin typeface="Calibri"/>
                <a:ea typeface="Calibri"/>
                <a:cs typeface="Calibri"/>
                <a:sym typeface="Calibri"/>
              </a:defRPr>
            </a:lvl1pPr>
          </a:lstStyle>
          <a:p>
            <a:pPr/>
            <a:r>
              <a:t>Team 29  (Team B)</a:t>
            </a:r>
          </a:p>
        </p:txBody>
      </p:sp>
      <p:sp>
        <p:nvSpPr>
          <p:cNvPr id="121" name="Google Shape;62;p15"/>
          <p:cNvSpPr txBox="1"/>
          <p:nvPr/>
        </p:nvSpPr>
        <p:spPr>
          <a:xfrm>
            <a:off x="502919" y="3151004"/>
            <a:ext cx="4572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94A3B8"/>
                </a:solidFill>
                <a:latin typeface="Calibri"/>
                <a:ea typeface="Calibri"/>
                <a:cs typeface="Calibri"/>
                <a:sym typeface="Calibri"/>
              </a:defRPr>
            </a:lvl1pPr>
          </a:lstStyle>
          <a:p>
            <a:pPr/>
            <a:r>
              <a:t>Anubha Vyasamudri · av3329</a:t>
            </a:r>
          </a:p>
        </p:txBody>
      </p:sp>
      <p:sp>
        <p:nvSpPr>
          <p:cNvPr id="122" name="Google Shape;63;p15"/>
          <p:cNvSpPr txBox="1"/>
          <p:nvPr/>
        </p:nvSpPr>
        <p:spPr>
          <a:xfrm>
            <a:off x="502919" y="3324740"/>
            <a:ext cx="4572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94A3B8"/>
                </a:solidFill>
                <a:latin typeface="Calibri"/>
                <a:ea typeface="Calibri"/>
                <a:cs typeface="Calibri"/>
                <a:sym typeface="Calibri"/>
              </a:defRPr>
            </a:lvl1pPr>
          </a:lstStyle>
          <a:p>
            <a:pPr/>
            <a:r>
              <a:t>Rohit Ramesh · rr3713</a:t>
            </a:r>
          </a:p>
        </p:txBody>
      </p:sp>
      <p:sp>
        <p:nvSpPr>
          <p:cNvPr id="123" name="Google Shape;64;p15"/>
          <p:cNvSpPr txBox="1"/>
          <p:nvPr/>
        </p:nvSpPr>
        <p:spPr>
          <a:xfrm>
            <a:off x="502919" y="3498476"/>
            <a:ext cx="4572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94A3B8"/>
                </a:solidFill>
                <a:latin typeface="Calibri"/>
                <a:ea typeface="Calibri"/>
                <a:cs typeface="Calibri"/>
                <a:sym typeface="Calibri"/>
              </a:defRPr>
            </a:lvl1pPr>
          </a:lstStyle>
          <a:p>
            <a:pPr/>
            <a:r>
              <a:t>Sanjita Chandan Ballapur · sb5216</a:t>
            </a:r>
          </a:p>
        </p:txBody>
      </p:sp>
      <p:sp>
        <p:nvSpPr>
          <p:cNvPr id="124" name="Google Shape;65;p15"/>
          <p:cNvSpPr txBox="1"/>
          <p:nvPr/>
        </p:nvSpPr>
        <p:spPr>
          <a:xfrm>
            <a:off x="502919" y="3672212"/>
            <a:ext cx="4572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94A3B8"/>
                </a:solidFill>
                <a:latin typeface="Calibri"/>
                <a:ea typeface="Calibri"/>
                <a:cs typeface="Calibri"/>
                <a:sym typeface="Calibri"/>
              </a:defRPr>
            </a:lvl1pPr>
          </a:lstStyle>
          <a:p>
            <a:pPr/>
            <a:r>
              <a:t>Tamanna Ananna Haque · ta2642</a:t>
            </a:r>
          </a:p>
        </p:txBody>
      </p:sp>
      <p:sp>
        <p:nvSpPr>
          <p:cNvPr id="125" name="Google Shape;66;p15"/>
          <p:cNvSpPr txBox="1"/>
          <p:nvPr/>
        </p:nvSpPr>
        <p:spPr>
          <a:xfrm>
            <a:off x="502919" y="3845948"/>
            <a:ext cx="4572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94A3B8"/>
                </a:solidFill>
                <a:latin typeface="Calibri"/>
                <a:ea typeface="Calibri"/>
                <a:cs typeface="Calibri"/>
                <a:sym typeface="Calibri"/>
              </a:defRPr>
            </a:lvl1pPr>
          </a:lstStyle>
          <a:p>
            <a:pPr/>
            <a:r>
              <a:t>Vishal Menon · vm2820</a:t>
            </a:r>
          </a:p>
        </p:txBody>
      </p:sp>
      <p:sp>
        <p:nvSpPr>
          <p:cNvPr id="126" name="Google Shape;67;p15"/>
          <p:cNvSpPr txBox="1"/>
          <p:nvPr/>
        </p:nvSpPr>
        <p:spPr>
          <a:xfrm>
            <a:off x="3973450" y="3263717"/>
            <a:ext cx="4759076" cy="728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rgbClr val="FFFFFF"/>
                </a:solidFill>
                <a:latin typeface="Calibri"/>
                <a:ea typeface="Calibri"/>
                <a:cs typeface="Calibri"/>
                <a:sym typeface="Calibri"/>
              </a:defRPr>
            </a:pPr>
            <a:r>
              <a:t>GitHub:  </a:t>
            </a:r>
            <a:r>
              <a:rPr b="0" u="sng">
                <a:solidFill>
                  <a:schemeClr val="accent5"/>
                </a:solidFill>
                <a:uFill>
                  <a:solidFill>
                    <a:schemeClr val="accent5"/>
                  </a:solidFill>
                </a:uFill>
                <a:hlinkClick r:id="rId2" invalidUrl="" action="" tgtFrame="" tooltip="" history="1" highlightClick="0" endSnd="0"/>
              </a:rPr>
              <a:t>https://github.com/chuanbinp/uncertainty-aware-inference</a:t>
            </a:r>
            <a:endParaRPr>
              <a:solidFill>
                <a:srgbClr val="94A3B8"/>
              </a:solidFill>
            </a:endParaRPr>
          </a:p>
          <a:p>
            <a:pPr/>
            <a:endParaRPr sz="1200">
              <a:solidFill>
                <a:srgbClr val="94A3B8"/>
              </a:solidFill>
              <a:latin typeface="Calibri"/>
              <a:ea typeface="Calibri"/>
              <a:cs typeface="Calibri"/>
              <a:sym typeface="Calibri"/>
            </a:endParaRPr>
          </a:p>
          <a:p>
            <a:pPr>
              <a:defRPr b="1" sz="1200">
                <a:solidFill>
                  <a:srgbClr val="FFFFFF"/>
                </a:solidFill>
                <a:latin typeface="Calibri"/>
                <a:ea typeface="Calibri"/>
                <a:cs typeface="Calibri"/>
                <a:sym typeface="Calibri"/>
              </a:defRPr>
            </a:pPr>
            <a:r>
              <a:t>WandB: </a:t>
            </a:r>
            <a:r>
              <a:rPr b="0" u="sng">
                <a:solidFill>
                  <a:schemeClr val="accent5"/>
                </a:solidFill>
                <a:uFill>
                  <a:solidFill>
                    <a:schemeClr val="accent5"/>
                  </a:solidFill>
                </a:uFill>
                <a:hlinkClick r:id="rId3" invalidUrl="" action="" tgtFrame="" tooltip="" history="1" highlightClick="0" endSnd="0"/>
              </a:rPr>
              <a:t>https://wandb.ai/Uncertainty_Aware_Inference_Lab/UAI_Project</a:t>
            </a:r>
            <a:endParaRPr>
              <a:solidFill>
                <a:srgbClr val="94A3B8"/>
              </a:solidFill>
            </a:endParaRPr>
          </a:p>
        </p:txBody>
      </p:sp>
      <p:sp>
        <p:nvSpPr>
          <p:cNvPr id="127" name="Google Shape;68;p15"/>
          <p:cNvSpPr txBox="1"/>
          <p:nvPr/>
        </p:nvSpPr>
        <p:spPr>
          <a:xfrm>
            <a:off x="502919" y="4801167"/>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900">
                <a:solidFill>
                  <a:srgbClr val="64748B"/>
                </a:solidFill>
                <a:latin typeface="Calibri"/>
                <a:ea typeface="Calibri"/>
                <a:cs typeface="Calibri"/>
                <a:sym typeface="Calibri"/>
              </a:defRPr>
            </a:lvl1pPr>
          </a:lstStyle>
          <a:p>
            <a:pPr/>
            <a:r>
              <a:t>Dr. Kaoutar El Maghraoui  ·  Columbia University  ·  Week of May 4, 2026</a:t>
            </a:r>
          </a:p>
        </p:txBody>
      </p:sp>
      <p:sp>
        <p:nvSpPr>
          <p:cNvPr id="128" name="Google Shape;69;p15"/>
          <p:cNvSpPr txBox="1"/>
          <p:nvPr/>
        </p:nvSpPr>
        <p:spPr>
          <a:xfrm>
            <a:off x="409236" y="4064375"/>
            <a:ext cx="4465800" cy="339716"/>
          </a:xfrm>
          <a:prstGeom prst="rect">
            <a:avLst/>
          </a:prstGeom>
          <a:ln w="12700">
            <a:miter lim="400000"/>
          </a:ln>
          <a:extLst>
            <a:ext uri="{C572A759-6A51-4108-AA02-DFA0A04FC94B}">
              <ma14:wrappingTextBoxFlag xmlns:ma14="http://schemas.microsoft.com/office/mac/drawingml/2011/main" val="1"/>
            </a:ext>
          </a:extLst>
        </p:spPr>
        <p:txBody>
          <a:bodyPr lIns="91424" tIns="91424" rIns="91424" bIns="91424">
            <a:spAutoFit/>
          </a:bodyPr>
          <a:lstStyle/>
          <a:p>
            <a:pPr>
              <a:defRPr b="1" sz="1200">
                <a:solidFill>
                  <a:srgbClr val="FFFFFF"/>
                </a:solidFill>
                <a:latin typeface="Calibri"/>
                <a:ea typeface="Calibri"/>
                <a:cs typeface="Calibri"/>
                <a:sym typeface="Calibri"/>
              </a:defRPr>
            </a:pPr>
            <a:r>
              <a:t>Mentor: </a:t>
            </a:r>
            <a:r>
              <a:rPr b="0">
                <a:solidFill>
                  <a:srgbClr val="94A3B8"/>
                </a:solidFill>
              </a:rPr>
              <a:t> Ruchi Muhindru, IBM Research</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0" name="Google Shape;75;p16"/>
          <p:cNvSpPr txBox="1"/>
          <p:nvPr/>
        </p:nvSpPr>
        <p:spPr>
          <a:xfrm>
            <a:off x="502919" y="262259"/>
            <a:ext cx="8138102" cy="35331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rgbClr val="0F172A"/>
                </a:solidFill>
                <a:latin typeface="Calibri"/>
                <a:ea typeface="Calibri"/>
                <a:cs typeface="Calibri"/>
                <a:sym typeface="Calibri"/>
              </a:defRPr>
            </a:lvl1pPr>
          </a:lstStyle>
          <a:p>
            <a:pPr/>
            <a:r>
              <a:t>Motivation, Problem &amp; Setup</a:t>
            </a:r>
          </a:p>
        </p:txBody>
      </p:sp>
      <p:sp>
        <p:nvSpPr>
          <p:cNvPr id="131" name="Google Shape;76;p16"/>
          <p:cNvSpPr/>
          <p:nvPr/>
        </p:nvSpPr>
        <p:spPr>
          <a:xfrm>
            <a:off x="502919" y="694944"/>
            <a:ext cx="8138102" cy="1"/>
          </a:xfrm>
          <a:prstGeom prst="line">
            <a:avLst/>
          </a:prstGeom>
          <a:ln>
            <a:solidFill>
              <a:srgbClr val="E2E8F0"/>
            </a:solidFill>
          </a:ln>
        </p:spPr>
        <p:txBody>
          <a:bodyPr lIns="0" tIns="0" rIns="0" bIns="0"/>
          <a:lstStyle/>
          <a:p>
            <a:pPr/>
          </a:p>
        </p:txBody>
      </p:sp>
      <p:sp>
        <p:nvSpPr>
          <p:cNvPr id="132" name="Google Shape;77;p16"/>
          <p:cNvSpPr txBox="1"/>
          <p:nvPr/>
        </p:nvSpPr>
        <p:spPr>
          <a:xfrm>
            <a:off x="502919" y="4856031"/>
            <a:ext cx="2743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900">
                <a:solidFill>
                  <a:srgbClr val="64748B"/>
                </a:solidFill>
                <a:latin typeface="Calibri"/>
                <a:ea typeface="Calibri"/>
                <a:cs typeface="Calibri"/>
                <a:sym typeface="Calibri"/>
              </a:defRPr>
            </a:lvl1pPr>
          </a:lstStyle>
          <a:p>
            <a:pPr/>
            <a:r>
              <a:t>HPML · Spring 2026</a:t>
            </a:r>
          </a:p>
        </p:txBody>
      </p:sp>
      <p:sp>
        <p:nvSpPr>
          <p:cNvPr id="133" name="Google Shape;78;p16"/>
          <p:cNvSpPr txBox="1"/>
          <p:nvPr/>
        </p:nvSpPr>
        <p:spPr>
          <a:xfrm>
            <a:off x="7726680" y="4856031"/>
            <a:ext cx="9144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900">
                <a:solidFill>
                  <a:srgbClr val="64748B"/>
                </a:solidFill>
                <a:latin typeface="Calibri"/>
                <a:ea typeface="Calibri"/>
                <a:cs typeface="Calibri"/>
                <a:sym typeface="Calibri"/>
              </a:defRPr>
            </a:lvl1pPr>
          </a:lstStyle>
          <a:p>
            <a:pPr/>
            <a:r>
              <a:t>2 / 15</a:t>
            </a:r>
          </a:p>
        </p:txBody>
      </p:sp>
      <p:sp>
        <p:nvSpPr>
          <p:cNvPr id="134" name="Google Shape;79;p16"/>
          <p:cNvSpPr txBox="1"/>
          <p:nvPr/>
        </p:nvSpPr>
        <p:spPr>
          <a:xfrm>
            <a:off x="502919" y="974958"/>
            <a:ext cx="384060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solidFill>
                  <a:srgbClr val="0F172A"/>
                </a:solidFill>
                <a:latin typeface="Calibri"/>
                <a:ea typeface="Calibri"/>
                <a:cs typeface="Calibri"/>
                <a:sym typeface="Calibri"/>
              </a:defRPr>
            </a:lvl1pPr>
          </a:lstStyle>
          <a:p>
            <a:pPr/>
            <a:r>
              <a:t>Why this matters</a:t>
            </a:r>
          </a:p>
        </p:txBody>
      </p:sp>
      <p:sp>
        <p:nvSpPr>
          <p:cNvPr id="135" name="Google Shape;80;p16"/>
          <p:cNvSpPr txBox="1"/>
          <p:nvPr/>
        </p:nvSpPr>
        <p:spPr>
          <a:xfrm>
            <a:off x="548644" y="1225157"/>
            <a:ext cx="3749152" cy="1532445"/>
          </a:xfrm>
          <a:prstGeom prst="rect">
            <a:avLst/>
          </a:prstGeom>
          <a:ln w="12700">
            <a:miter lim="400000"/>
          </a:ln>
          <a:extLst>
            <a:ext uri="{C572A759-6A51-4108-AA02-DFA0A04FC94B}">
              <ma14:wrappingTextBoxFlag xmlns:ma14="http://schemas.microsoft.com/office/mac/drawingml/2011/main" val="1"/>
            </a:ext>
          </a:extLst>
        </p:spPr>
        <p:txBody>
          <a:bodyPr lIns="45699" tIns="45699" rIns="45699" bIns="45699">
            <a:spAutoFit/>
          </a:bodyPr>
          <a:lstStyle/>
          <a:p>
            <a:pPr marL="342900" indent="-355600">
              <a:lnSpc>
                <a:spcPct val="115000"/>
              </a:lnSpc>
              <a:buClr>
                <a:srgbClr val="1E293B"/>
              </a:buClr>
              <a:buSzPts val="1200"/>
              <a:buFont typeface="Calibri"/>
              <a:buChar char="•"/>
              <a:defRPr sz="1200">
                <a:solidFill>
                  <a:srgbClr val="1E293B"/>
                </a:solidFill>
                <a:latin typeface="Calibri"/>
                <a:ea typeface="Calibri"/>
                <a:cs typeface="Calibri"/>
                <a:sym typeface="Calibri"/>
              </a:defRPr>
            </a:pPr>
            <a:r>
              <a:t>Quantization cuts GPU memory ~70% and raises throughput, but what happens to the model's confidence distribution?</a:t>
            </a:r>
          </a:p>
          <a:p>
            <a:pPr marL="342900" indent="-355600">
              <a:lnSpc>
                <a:spcPct val="115000"/>
              </a:lnSpc>
              <a:buClr>
                <a:srgbClr val="1E293B"/>
              </a:buClr>
              <a:buSzPts val="1200"/>
              <a:buFont typeface="Calibri"/>
              <a:buChar char="•"/>
              <a:defRPr sz="1200">
                <a:solidFill>
                  <a:srgbClr val="1E293B"/>
                </a:solidFill>
                <a:latin typeface="Calibri"/>
                <a:ea typeface="Calibri"/>
                <a:cs typeface="Calibri"/>
                <a:sym typeface="Calibri"/>
              </a:defRPr>
            </a:pPr>
            <a:r>
              <a:t>High-stakes settings (medical, finance, autonomous ops) need to know when the model doesn't know</a:t>
            </a:r>
          </a:p>
          <a:p>
            <a:pPr marL="342900" indent="-355600">
              <a:lnSpc>
                <a:spcPct val="115000"/>
              </a:lnSpc>
              <a:buClr>
                <a:srgbClr val="1E293B"/>
              </a:buClr>
              <a:buSzPts val="1200"/>
              <a:buFont typeface="Calibri"/>
              <a:buChar char="•"/>
              <a:defRPr sz="1200">
                <a:solidFill>
                  <a:srgbClr val="1E293B"/>
                </a:solidFill>
                <a:latin typeface="Calibri"/>
                <a:ea typeface="Calibri"/>
                <a:cs typeface="Calibri"/>
                <a:sym typeface="Calibri"/>
              </a:defRPr>
            </a:pPr>
            <a:r>
              <a:t>Top-1 accuracy can be preserved while calibration degrades severely</a:t>
            </a:r>
          </a:p>
        </p:txBody>
      </p:sp>
      <p:sp>
        <p:nvSpPr>
          <p:cNvPr id="136" name="Google Shape;81;p16"/>
          <p:cNvSpPr txBox="1"/>
          <p:nvPr/>
        </p:nvSpPr>
        <p:spPr>
          <a:xfrm>
            <a:off x="4661191" y="1037417"/>
            <a:ext cx="3977700"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solidFill>
                  <a:srgbClr val="0F172A"/>
                </a:solidFill>
                <a:latin typeface="Calibri"/>
                <a:ea typeface="Calibri"/>
                <a:cs typeface="Calibri"/>
                <a:sym typeface="Calibri"/>
              </a:defRPr>
            </a:lvl1pPr>
          </a:lstStyle>
          <a:p>
            <a:pPr/>
            <a:r>
              <a:t>Experimental setup</a:t>
            </a:r>
          </a:p>
        </p:txBody>
      </p:sp>
      <p:sp>
        <p:nvSpPr>
          <p:cNvPr id="137" name="Google Shape;82;p16"/>
          <p:cNvSpPr/>
          <p:nvPr/>
        </p:nvSpPr>
        <p:spPr>
          <a:xfrm>
            <a:off x="4661186" y="1305908"/>
            <a:ext cx="3977700" cy="560101"/>
          </a:xfrm>
          <a:prstGeom prst="rect">
            <a:avLst/>
          </a:prstGeom>
          <a:solidFill>
            <a:srgbClr val="F8FAFC"/>
          </a:solidFill>
          <a:ln>
            <a:solidFill>
              <a:srgbClr val="CBD5E1"/>
            </a:solidFill>
          </a:ln>
        </p:spPr>
        <p:txBody>
          <a:bodyPr lIns="0" tIns="0" rIns="0" bIns="0" anchor="ctr"/>
          <a:lstStyle/>
          <a:p>
            <a:pPr>
              <a:defRPr sz="1100"/>
            </a:pPr>
          </a:p>
        </p:txBody>
      </p:sp>
      <p:sp>
        <p:nvSpPr>
          <p:cNvPr id="138" name="Google Shape;83;p16"/>
          <p:cNvSpPr txBox="1"/>
          <p:nvPr/>
        </p:nvSpPr>
        <p:spPr>
          <a:xfrm>
            <a:off x="4734338" y="1518754"/>
            <a:ext cx="10059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latin typeface="Calibri"/>
                <a:ea typeface="Calibri"/>
                <a:cs typeface="Calibri"/>
                <a:sym typeface="Calibri"/>
              </a:defRPr>
            </a:lvl1pPr>
          </a:lstStyle>
          <a:p>
            <a:pPr/>
            <a:r>
              <a:t>Model</a:t>
            </a:r>
          </a:p>
        </p:txBody>
      </p:sp>
      <p:sp>
        <p:nvSpPr>
          <p:cNvPr id="139" name="Google Shape;84;p16"/>
          <p:cNvSpPr txBox="1"/>
          <p:nvPr/>
        </p:nvSpPr>
        <p:spPr>
          <a:xfrm>
            <a:off x="5776753" y="1518754"/>
            <a:ext cx="278880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latin typeface="Calibri"/>
                <a:ea typeface="Calibri"/>
                <a:cs typeface="Calibri"/>
                <a:sym typeface="Calibri"/>
              </a:defRPr>
            </a:lvl1pPr>
          </a:lstStyle>
          <a:p>
            <a:pPr/>
            <a:r>
              <a:t>Mistral-7B-Instruct-v0.2</a:t>
            </a:r>
          </a:p>
        </p:txBody>
      </p:sp>
      <p:sp>
        <p:nvSpPr>
          <p:cNvPr id="140" name="Google Shape;85;p16"/>
          <p:cNvSpPr/>
          <p:nvPr/>
        </p:nvSpPr>
        <p:spPr>
          <a:xfrm>
            <a:off x="4661186" y="1912872"/>
            <a:ext cx="3977700" cy="560101"/>
          </a:xfrm>
          <a:prstGeom prst="rect">
            <a:avLst/>
          </a:prstGeom>
          <a:solidFill>
            <a:srgbClr val="F8FAFC"/>
          </a:solidFill>
          <a:ln>
            <a:solidFill>
              <a:srgbClr val="CBD5E1"/>
            </a:solidFill>
          </a:ln>
        </p:spPr>
        <p:txBody>
          <a:bodyPr lIns="0" tIns="0" rIns="0" bIns="0" anchor="ctr"/>
          <a:lstStyle/>
          <a:p>
            <a:pPr>
              <a:defRPr sz="1100"/>
            </a:pPr>
          </a:p>
        </p:txBody>
      </p:sp>
      <p:sp>
        <p:nvSpPr>
          <p:cNvPr id="141" name="Google Shape;86;p16"/>
          <p:cNvSpPr txBox="1"/>
          <p:nvPr/>
        </p:nvSpPr>
        <p:spPr>
          <a:xfrm>
            <a:off x="4734338" y="2125718"/>
            <a:ext cx="10059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latin typeface="Calibri"/>
                <a:ea typeface="Calibri"/>
                <a:cs typeface="Calibri"/>
                <a:sym typeface="Calibri"/>
              </a:defRPr>
            </a:lvl1pPr>
          </a:lstStyle>
          <a:p>
            <a:pPr/>
            <a:r>
              <a:t>Configs</a:t>
            </a:r>
          </a:p>
        </p:txBody>
      </p:sp>
      <p:sp>
        <p:nvSpPr>
          <p:cNvPr id="142" name="Google Shape;87;p16"/>
          <p:cNvSpPr txBox="1"/>
          <p:nvPr/>
        </p:nvSpPr>
        <p:spPr>
          <a:xfrm>
            <a:off x="5776753" y="2125718"/>
            <a:ext cx="278880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latin typeface="Calibri"/>
                <a:ea typeface="Calibri"/>
                <a:cs typeface="Calibri"/>
                <a:sym typeface="Calibri"/>
              </a:defRPr>
            </a:lvl1pPr>
          </a:lstStyle>
          <a:p>
            <a:pPr/>
            <a:r>
              <a:t>FP16 · GPTQ INT4 · GPTQ INT8 · AWQ INT4 · NF4</a:t>
            </a:r>
          </a:p>
        </p:txBody>
      </p:sp>
      <p:sp>
        <p:nvSpPr>
          <p:cNvPr id="143" name="Google Shape;88;p16"/>
          <p:cNvSpPr/>
          <p:nvPr/>
        </p:nvSpPr>
        <p:spPr>
          <a:xfrm>
            <a:off x="4661186" y="2523946"/>
            <a:ext cx="3977700" cy="560101"/>
          </a:xfrm>
          <a:prstGeom prst="rect">
            <a:avLst/>
          </a:prstGeom>
          <a:solidFill>
            <a:srgbClr val="F8FAFC"/>
          </a:solidFill>
          <a:ln>
            <a:solidFill>
              <a:srgbClr val="CBD5E1"/>
            </a:solidFill>
          </a:ln>
        </p:spPr>
        <p:txBody>
          <a:bodyPr lIns="0" tIns="0" rIns="0" bIns="0" anchor="ctr"/>
          <a:lstStyle/>
          <a:p>
            <a:pPr>
              <a:defRPr sz="1100"/>
            </a:pPr>
          </a:p>
        </p:txBody>
      </p:sp>
      <p:sp>
        <p:nvSpPr>
          <p:cNvPr id="144" name="Google Shape;89;p16"/>
          <p:cNvSpPr txBox="1"/>
          <p:nvPr/>
        </p:nvSpPr>
        <p:spPr>
          <a:xfrm>
            <a:off x="4734338" y="2736792"/>
            <a:ext cx="100590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latin typeface="Calibri"/>
                <a:ea typeface="Calibri"/>
                <a:cs typeface="Calibri"/>
                <a:sym typeface="Calibri"/>
              </a:defRPr>
            </a:lvl1pPr>
          </a:lstStyle>
          <a:p>
            <a:pPr/>
            <a:r>
              <a:t>Profiling </a:t>
            </a:r>
          </a:p>
        </p:txBody>
      </p:sp>
      <p:sp>
        <p:nvSpPr>
          <p:cNvPr id="145" name="Google Shape;90;p16"/>
          <p:cNvSpPr txBox="1"/>
          <p:nvPr/>
        </p:nvSpPr>
        <p:spPr>
          <a:xfrm>
            <a:off x="5776753" y="2654242"/>
            <a:ext cx="2788802"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latin typeface="Calibri"/>
                <a:ea typeface="Calibri"/>
                <a:cs typeface="Calibri"/>
                <a:sym typeface="Calibri"/>
              </a:defRPr>
            </a:pPr>
            <a:r>
              <a:t>NVIDIA L4 24 GB (GCP) - ncu profiling</a:t>
            </a:r>
            <a:br/>
            <a:r>
              <a:t>A100 (Colab) - calibration, pytorch profiling, vllm</a:t>
            </a:r>
          </a:p>
        </p:txBody>
      </p:sp>
      <p:sp>
        <p:nvSpPr>
          <p:cNvPr id="146" name="Google Shape;91;p16"/>
          <p:cNvSpPr/>
          <p:nvPr/>
        </p:nvSpPr>
        <p:spPr>
          <a:xfrm>
            <a:off x="4661186" y="3130911"/>
            <a:ext cx="3977700" cy="560101"/>
          </a:xfrm>
          <a:prstGeom prst="rect">
            <a:avLst/>
          </a:prstGeom>
          <a:solidFill>
            <a:srgbClr val="F8FAFC"/>
          </a:solidFill>
          <a:ln>
            <a:solidFill>
              <a:srgbClr val="CBD5E1"/>
            </a:solidFill>
          </a:ln>
        </p:spPr>
        <p:txBody>
          <a:bodyPr lIns="0" tIns="0" rIns="0" bIns="0" anchor="ctr"/>
          <a:lstStyle/>
          <a:p>
            <a:pPr>
              <a:defRPr sz="1100"/>
            </a:pPr>
          </a:p>
        </p:txBody>
      </p:sp>
      <p:sp>
        <p:nvSpPr>
          <p:cNvPr id="147" name="Google Shape;92;p16"/>
          <p:cNvSpPr txBox="1"/>
          <p:nvPr/>
        </p:nvSpPr>
        <p:spPr>
          <a:xfrm>
            <a:off x="4734338" y="3343755"/>
            <a:ext cx="100590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latin typeface="Calibri"/>
                <a:ea typeface="Calibri"/>
                <a:cs typeface="Calibri"/>
                <a:sym typeface="Calibri"/>
              </a:defRPr>
            </a:lvl1pPr>
          </a:lstStyle>
          <a:p>
            <a:pPr/>
            <a:r>
              <a:t>Metrics</a:t>
            </a:r>
          </a:p>
        </p:txBody>
      </p:sp>
      <p:sp>
        <p:nvSpPr>
          <p:cNvPr id="148" name="Google Shape;93;p16"/>
          <p:cNvSpPr txBox="1"/>
          <p:nvPr/>
        </p:nvSpPr>
        <p:spPr>
          <a:xfrm>
            <a:off x="5776753" y="3261205"/>
            <a:ext cx="2788802"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latin typeface="Calibri"/>
                <a:ea typeface="Calibri"/>
                <a:cs typeface="Calibri"/>
                <a:sym typeface="Calibri"/>
              </a:defRPr>
            </a:lvl1pPr>
          </a:lstStyle>
          <a:p>
            <a:pPr/>
            <a:r>
              <a:t>ECE (15-bin) · MCE · Brier score · Avg entropy · Tok/s</a:t>
            </a:r>
          </a:p>
        </p:txBody>
      </p:sp>
      <p:sp>
        <p:nvSpPr>
          <p:cNvPr id="149" name="Google Shape;94;p16"/>
          <p:cNvSpPr txBox="1"/>
          <p:nvPr/>
        </p:nvSpPr>
        <p:spPr>
          <a:xfrm>
            <a:off x="502919" y="2932027"/>
            <a:ext cx="384060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solidFill>
                  <a:srgbClr val="0F172A"/>
                </a:solidFill>
                <a:latin typeface="Calibri"/>
                <a:ea typeface="Calibri"/>
                <a:cs typeface="Calibri"/>
                <a:sym typeface="Calibri"/>
              </a:defRPr>
            </a:lvl1pPr>
          </a:lstStyle>
          <a:p>
            <a:pPr/>
            <a:r>
              <a:t>Goal</a:t>
            </a:r>
          </a:p>
        </p:txBody>
      </p:sp>
      <p:sp>
        <p:nvSpPr>
          <p:cNvPr id="150" name="Google Shape;95;p16"/>
          <p:cNvSpPr txBox="1"/>
          <p:nvPr/>
        </p:nvSpPr>
        <p:spPr>
          <a:xfrm>
            <a:off x="361574" y="3180678"/>
            <a:ext cx="3749152" cy="1104385"/>
          </a:xfrm>
          <a:prstGeom prst="rect">
            <a:avLst/>
          </a:prstGeom>
          <a:ln w="12700">
            <a:miter lim="400000"/>
          </a:ln>
          <a:extLst>
            <a:ext uri="{C572A759-6A51-4108-AA02-DFA0A04FC94B}">
              <ma14:wrappingTextBoxFlag xmlns:ma14="http://schemas.microsoft.com/office/mac/drawingml/2011/main" val="1"/>
            </a:ext>
          </a:extLst>
        </p:spPr>
        <p:txBody>
          <a:bodyPr lIns="45699" tIns="45699" rIns="45699" bIns="45699">
            <a:spAutoFit/>
          </a:bodyPr>
          <a:lstStyle/>
          <a:p>
            <a:pPr marL="457200" indent="-307975">
              <a:lnSpc>
                <a:spcPct val="115000"/>
              </a:lnSpc>
              <a:buClr>
                <a:srgbClr val="1E293B"/>
              </a:buClr>
              <a:buSzPts val="1200"/>
              <a:buFont typeface="Calibri"/>
              <a:buChar char="•"/>
              <a:defRPr sz="1200">
                <a:solidFill>
                  <a:srgbClr val="1E293B"/>
                </a:solidFill>
                <a:latin typeface="Calibri"/>
                <a:ea typeface="Calibri"/>
                <a:cs typeface="Calibri"/>
                <a:sym typeface="Calibri"/>
              </a:defRPr>
            </a:pPr>
            <a:r>
              <a:t>Characterise ECE, MCE, Brier score for 5 PTQ configs × 3 datasets on Mistral-7B</a:t>
            </a:r>
          </a:p>
          <a:p>
            <a:pPr marL="457200" indent="-307975">
              <a:lnSpc>
                <a:spcPct val="115000"/>
              </a:lnSpc>
              <a:buClr>
                <a:srgbClr val="1E293B"/>
              </a:buClr>
              <a:buSzPts val="1200"/>
              <a:buFont typeface="Calibri"/>
              <a:buChar char="•"/>
              <a:defRPr sz="1200">
                <a:solidFill>
                  <a:srgbClr val="1E293B"/>
                </a:solidFill>
                <a:latin typeface="Calibri"/>
                <a:ea typeface="Calibri"/>
                <a:cs typeface="Calibri"/>
                <a:sym typeface="Calibri"/>
              </a:defRPr>
            </a:pPr>
            <a:r>
              <a:t>Profile at the CUDA kernel level</a:t>
            </a:r>
          </a:p>
          <a:p>
            <a:pPr marL="457200" indent="-307975">
              <a:lnSpc>
                <a:spcPct val="115000"/>
              </a:lnSpc>
              <a:buClr>
                <a:srgbClr val="1E293B"/>
              </a:buClr>
              <a:buSzPts val="1200"/>
              <a:buFont typeface="Calibri"/>
              <a:buChar char="•"/>
              <a:defRPr sz="1200">
                <a:solidFill>
                  <a:srgbClr val="1E293B"/>
                </a:solidFill>
                <a:latin typeface="Calibri"/>
                <a:ea typeface="Calibri"/>
                <a:cs typeface="Calibri"/>
                <a:sym typeface="Calibri"/>
              </a:defRPr>
            </a:pPr>
            <a:r>
              <a:t>Simulate uncertainty-based routing.</a:t>
            </a:r>
          </a:p>
        </p:txBody>
      </p:sp>
      <p:sp>
        <p:nvSpPr>
          <p:cNvPr id="151" name="Google Shape;96;p16"/>
          <p:cNvSpPr/>
          <p:nvPr/>
        </p:nvSpPr>
        <p:spPr>
          <a:xfrm>
            <a:off x="4661186" y="3737857"/>
            <a:ext cx="3977700" cy="777901"/>
          </a:xfrm>
          <a:prstGeom prst="rect">
            <a:avLst/>
          </a:prstGeom>
          <a:solidFill>
            <a:srgbClr val="F8FAFC"/>
          </a:solidFill>
          <a:ln>
            <a:solidFill>
              <a:srgbClr val="CBD5E1"/>
            </a:solidFill>
          </a:ln>
        </p:spPr>
        <p:txBody>
          <a:bodyPr lIns="0" tIns="0" rIns="0" bIns="0" anchor="ctr"/>
          <a:lstStyle/>
          <a:p>
            <a:pPr>
              <a:defRPr sz="1100"/>
            </a:pPr>
          </a:p>
        </p:txBody>
      </p:sp>
      <p:sp>
        <p:nvSpPr>
          <p:cNvPr id="152" name="Google Shape;97;p16"/>
          <p:cNvSpPr txBox="1"/>
          <p:nvPr/>
        </p:nvSpPr>
        <p:spPr>
          <a:xfrm>
            <a:off x="4734338" y="3950706"/>
            <a:ext cx="100590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latin typeface="Calibri"/>
                <a:ea typeface="Calibri"/>
                <a:cs typeface="Calibri"/>
                <a:sym typeface="Calibri"/>
              </a:defRPr>
            </a:lvl1pPr>
          </a:lstStyle>
          <a:p>
            <a:pPr/>
            <a:r>
              <a:t>Datasets</a:t>
            </a:r>
          </a:p>
        </p:txBody>
      </p:sp>
      <p:sp>
        <p:nvSpPr>
          <p:cNvPr id="153" name="Google Shape;98;p16"/>
          <p:cNvSpPr txBox="1"/>
          <p:nvPr/>
        </p:nvSpPr>
        <p:spPr>
          <a:xfrm>
            <a:off x="5776753" y="3869651"/>
            <a:ext cx="2788802" cy="4644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latin typeface="Calibri"/>
                <a:ea typeface="Calibri"/>
                <a:cs typeface="Calibri"/>
                <a:sym typeface="Calibri"/>
              </a:defRPr>
            </a:pPr>
            <a:r>
              <a:t>TriviaQA (factual) [10,003] </a:t>
            </a:r>
          </a:p>
          <a:p>
            <a:pPr>
              <a:defRPr sz="1100">
                <a:latin typeface="Calibri"/>
                <a:ea typeface="Calibri"/>
                <a:cs typeface="Calibri"/>
                <a:sym typeface="Calibri"/>
              </a:defRPr>
            </a:pPr>
            <a:r>
              <a:t>HellaSwag (commonsense) [17,215] </a:t>
            </a:r>
          </a:p>
          <a:p>
            <a:pPr>
              <a:defRPr sz="1100">
                <a:latin typeface="Calibri"/>
                <a:ea typeface="Calibri"/>
                <a:cs typeface="Calibri"/>
                <a:sym typeface="Calibri"/>
              </a:defRPr>
            </a:pPr>
            <a:r>
              <a:t>PubMedQA (OOD biomedical) [1000]</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5" name="Google Shape;104;p17"/>
          <p:cNvSpPr txBox="1"/>
          <p:nvPr/>
        </p:nvSpPr>
        <p:spPr>
          <a:xfrm>
            <a:off x="502919" y="262259"/>
            <a:ext cx="8138102" cy="35331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rgbClr val="0F172A"/>
                </a:solidFill>
                <a:latin typeface="Calibri"/>
                <a:ea typeface="Calibri"/>
                <a:cs typeface="Calibri"/>
                <a:sym typeface="Calibri"/>
              </a:defRPr>
            </a:lvl1pPr>
          </a:lstStyle>
          <a:p>
            <a:pPr/>
            <a:r>
              <a:t>Results - Headline Numbers</a:t>
            </a:r>
          </a:p>
        </p:txBody>
      </p:sp>
      <p:sp>
        <p:nvSpPr>
          <p:cNvPr id="156" name="Google Shape;105;p17"/>
          <p:cNvSpPr/>
          <p:nvPr/>
        </p:nvSpPr>
        <p:spPr>
          <a:xfrm>
            <a:off x="502919" y="694944"/>
            <a:ext cx="8138102" cy="1"/>
          </a:xfrm>
          <a:prstGeom prst="line">
            <a:avLst/>
          </a:prstGeom>
          <a:ln>
            <a:solidFill>
              <a:srgbClr val="E2E8F0"/>
            </a:solidFill>
          </a:ln>
        </p:spPr>
        <p:txBody>
          <a:bodyPr lIns="0" tIns="0" rIns="0" bIns="0"/>
          <a:lstStyle/>
          <a:p>
            <a:pPr/>
          </a:p>
        </p:txBody>
      </p:sp>
      <p:sp>
        <p:nvSpPr>
          <p:cNvPr id="157" name="Google Shape;106;p17"/>
          <p:cNvSpPr txBox="1"/>
          <p:nvPr/>
        </p:nvSpPr>
        <p:spPr>
          <a:xfrm>
            <a:off x="502919" y="4856031"/>
            <a:ext cx="2743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900">
                <a:solidFill>
                  <a:srgbClr val="64748B"/>
                </a:solidFill>
                <a:latin typeface="Calibri"/>
                <a:ea typeface="Calibri"/>
                <a:cs typeface="Calibri"/>
                <a:sym typeface="Calibri"/>
              </a:defRPr>
            </a:lvl1pPr>
          </a:lstStyle>
          <a:p>
            <a:pPr/>
            <a:r>
              <a:t>HPML · Spring 2026</a:t>
            </a:r>
          </a:p>
        </p:txBody>
      </p:sp>
      <p:sp>
        <p:nvSpPr>
          <p:cNvPr id="158" name="Google Shape;107;p17"/>
          <p:cNvSpPr txBox="1"/>
          <p:nvPr/>
        </p:nvSpPr>
        <p:spPr>
          <a:xfrm>
            <a:off x="7726680" y="4856031"/>
            <a:ext cx="9144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900">
                <a:solidFill>
                  <a:srgbClr val="64748B"/>
                </a:solidFill>
                <a:latin typeface="Calibri"/>
                <a:ea typeface="Calibri"/>
                <a:cs typeface="Calibri"/>
                <a:sym typeface="Calibri"/>
              </a:defRPr>
            </a:lvl1pPr>
          </a:lstStyle>
          <a:p>
            <a:pPr/>
            <a:r>
              <a:t>3/ 15</a:t>
            </a:r>
          </a:p>
        </p:txBody>
      </p:sp>
      <p:sp>
        <p:nvSpPr>
          <p:cNvPr id="159" name="Google Shape;108;p17"/>
          <p:cNvSpPr/>
          <p:nvPr/>
        </p:nvSpPr>
        <p:spPr>
          <a:xfrm>
            <a:off x="171470" y="1346436"/>
            <a:ext cx="1874399" cy="2469001"/>
          </a:xfrm>
          <a:prstGeom prst="rect">
            <a:avLst/>
          </a:prstGeom>
          <a:solidFill>
            <a:srgbClr val="F8FAFC"/>
          </a:solidFill>
          <a:ln>
            <a:solidFill>
              <a:srgbClr val="CBD5E1"/>
            </a:solidFill>
          </a:ln>
          <a:effectLst>
            <a:outerShdw sx="100000" sy="100000" kx="0" ky="0" algn="b" rotWithShape="0" blurRad="50800" dist="12700" dir="8100000">
              <a:srgbClr val="94A3B8">
                <a:alpha val="14900"/>
              </a:srgbClr>
            </a:outerShdw>
          </a:effectLst>
        </p:spPr>
        <p:txBody>
          <a:bodyPr lIns="0" tIns="0" rIns="0" bIns="0" anchor="ctr"/>
          <a:lstStyle/>
          <a:p>
            <a:pPr/>
          </a:p>
        </p:txBody>
      </p:sp>
      <p:grpSp>
        <p:nvGrpSpPr>
          <p:cNvPr id="162" name="Google Shape;109;p17"/>
          <p:cNvGrpSpPr/>
          <p:nvPr/>
        </p:nvGrpSpPr>
        <p:grpSpPr>
          <a:xfrm>
            <a:off x="262909" y="1565892"/>
            <a:ext cx="1691702" cy="749701"/>
            <a:chOff x="0" y="0"/>
            <a:chExt cx="1691700" cy="749700"/>
          </a:xfrm>
        </p:grpSpPr>
        <p:sp>
          <p:nvSpPr>
            <p:cNvPr id="160" name="Rectangle"/>
            <p:cNvSpPr/>
            <p:nvPr/>
          </p:nvSpPr>
          <p:spPr>
            <a:xfrm>
              <a:off x="-1" y="-1"/>
              <a:ext cx="1691702" cy="749702"/>
            </a:xfrm>
            <a:prstGeom prst="rect">
              <a:avLst/>
            </a:prstGeom>
            <a:noFill/>
            <a:ln w="9525" cap="flat">
              <a:solidFill>
                <a:srgbClr val="FFFFFF"/>
              </a:solidFill>
              <a:prstDash val="solid"/>
              <a:round/>
            </a:ln>
            <a:effectLst/>
          </p:spPr>
          <p:txBody>
            <a:bodyPr wrap="square" lIns="0" tIns="0" rIns="0" bIns="0" numCol="1" anchor="ctr">
              <a:noAutofit/>
            </a:bodyPr>
            <a:lstStyle/>
            <a:p>
              <a:pPr algn="ctr">
                <a:defRPr sz="4400">
                  <a:latin typeface="Calibri"/>
                  <a:ea typeface="Calibri"/>
                  <a:cs typeface="Calibri"/>
                  <a:sym typeface="Calibri"/>
                </a:defRPr>
              </a:pPr>
            </a:p>
          </p:txBody>
        </p:sp>
        <p:sp>
          <p:nvSpPr>
            <p:cNvPr id="161" name="1.78×"/>
            <p:cNvSpPr txBox="1"/>
            <p:nvPr/>
          </p:nvSpPr>
          <p:spPr>
            <a:xfrm>
              <a:off x="4762" y="93614"/>
              <a:ext cx="1682176" cy="56247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z="4400">
                  <a:solidFill>
                    <a:srgbClr val="C2410C"/>
                  </a:solidFill>
                  <a:latin typeface="Calibri"/>
                  <a:ea typeface="Calibri"/>
                  <a:cs typeface="Calibri"/>
                  <a:sym typeface="Calibri"/>
                </a:defRPr>
              </a:lvl1pPr>
            </a:lstStyle>
            <a:p>
              <a:pPr/>
              <a:r>
                <a:t>1.78×</a:t>
              </a:r>
            </a:p>
          </p:txBody>
        </p:sp>
      </p:grpSp>
      <p:sp>
        <p:nvSpPr>
          <p:cNvPr id="163" name="Google Shape;110;p17"/>
          <p:cNvSpPr txBox="1"/>
          <p:nvPr/>
        </p:nvSpPr>
        <p:spPr>
          <a:xfrm>
            <a:off x="262909" y="2484119"/>
            <a:ext cx="169170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0F172A"/>
                </a:solidFill>
                <a:latin typeface="Calibri"/>
                <a:ea typeface="Calibri"/>
                <a:cs typeface="Calibri"/>
                <a:sym typeface="Calibri"/>
              </a:defRPr>
            </a:lvl1pPr>
          </a:lstStyle>
          <a:p>
            <a:pPr/>
            <a:r>
              <a:t>throughput speedup</a:t>
            </a:r>
          </a:p>
        </p:txBody>
      </p:sp>
      <p:sp>
        <p:nvSpPr>
          <p:cNvPr id="164" name="Google Shape;111;p17"/>
          <p:cNvSpPr txBox="1"/>
          <p:nvPr/>
        </p:nvSpPr>
        <p:spPr>
          <a:xfrm>
            <a:off x="262909" y="3060714"/>
            <a:ext cx="1691702" cy="3021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sz="1000">
                <a:solidFill>
                  <a:srgbClr val="64748B"/>
                </a:solidFill>
                <a:latin typeface="Calibri"/>
                <a:ea typeface="Calibri"/>
                <a:cs typeface="Calibri"/>
                <a:sym typeface="Calibri"/>
              </a:defRPr>
            </a:pPr>
            <a:r>
              <a:t>GPTQ INT4 Marlin vs FP16</a:t>
            </a:r>
          </a:p>
          <a:p>
            <a:pPr algn="ctr">
              <a:defRPr sz="1000">
                <a:solidFill>
                  <a:srgbClr val="64748B"/>
                </a:solidFill>
                <a:latin typeface="Calibri"/>
                <a:ea typeface="Calibri"/>
                <a:cs typeface="Calibri"/>
                <a:sym typeface="Calibri"/>
              </a:defRPr>
            </a:pPr>
            <a:r>
              <a:t>vLLM · L4 · batch=10</a:t>
            </a:r>
          </a:p>
        </p:txBody>
      </p:sp>
      <p:sp>
        <p:nvSpPr>
          <p:cNvPr id="165" name="Google Shape;112;p17"/>
          <p:cNvSpPr/>
          <p:nvPr/>
        </p:nvSpPr>
        <p:spPr>
          <a:xfrm>
            <a:off x="2491736" y="1346436"/>
            <a:ext cx="1874400" cy="2469001"/>
          </a:xfrm>
          <a:prstGeom prst="rect">
            <a:avLst/>
          </a:prstGeom>
          <a:solidFill>
            <a:srgbClr val="F8FAFC"/>
          </a:solidFill>
          <a:ln>
            <a:solidFill>
              <a:srgbClr val="CBD5E1"/>
            </a:solidFill>
          </a:ln>
          <a:effectLst>
            <a:outerShdw sx="100000" sy="100000" kx="0" ky="0" algn="b" rotWithShape="0" blurRad="50800" dist="12700" dir="8100000">
              <a:srgbClr val="94A3B8">
                <a:alpha val="14900"/>
              </a:srgbClr>
            </a:outerShdw>
          </a:effectLst>
        </p:spPr>
        <p:txBody>
          <a:bodyPr lIns="0" tIns="0" rIns="0" bIns="0" anchor="ctr"/>
          <a:lstStyle/>
          <a:p>
            <a:pPr/>
          </a:p>
        </p:txBody>
      </p:sp>
      <p:sp>
        <p:nvSpPr>
          <p:cNvPr id="166" name="Google Shape;113;p17"/>
          <p:cNvSpPr txBox="1"/>
          <p:nvPr/>
        </p:nvSpPr>
        <p:spPr>
          <a:xfrm>
            <a:off x="2583176" y="1659506"/>
            <a:ext cx="1691701" cy="5624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4400">
                <a:solidFill>
                  <a:srgbClr val="C2410C"/>
                </a:solidFill>
                <a:latin typeface="Calibri"/>
                <a:ea typeface="Calibri"/>
                <a:cs typeface="Calibri"/>
                <a:sym typeface="Calibri"/>
              </a:defRPr>
            </a:lvl1pPr>
          </a:lstStyle>
          <a:p>
            <a:pPr/>
            <a:r>
              <a:t>70%</a:t>
            </a:r>
          </a:p>
        </p:txBody>
      </p:sp>
      <p:sp>
        <p:nvSpPr>
          <p:cNvPr id="167" name="Google Shape;114;p17"/>
          <p:cNvSpPr txBox="1"/>
          <p:nvPr/>
        </p:nvSpPr>
        <p:spPr>
          <a:xfrm>
            <a:off x="2583176" y="2484119"/>
            <a:ext cx="16917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0F172A"/>
                </a:solidFill>
                <a:latin typeface="Calibri"/>
                <a:ea typeface="Calibri"/>
                <a:cs typeface="Calibri"/>
                <a:sym typeface="Calibri"/>
              </a:defRPr>
            </a:lvl1pPr>
          </a:lstStyle>
          <a:p>
            <a:pPr/>
            <a:r>
              <a:t>GPU memory reduction</a:t>
            </a:r>
          </a:p>
        </p:txBody>
      </p:sp>
      <p:sp>
        <p:nvSpPr>
          <p:cNvPr id="168" name="Google Shape;115;p17"/>
          <p:cNvSpPr txBox="1"/>
          <p:nvPr/>
        </p:nvSpPr>
        <p:spPr>
          <a:xfrm>
            <a:off x="2583176" y="3060714"/>
            <a:ext cx="1691701" cy="3021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sz="1000">
                <a:solidFill>
                  <a:srgbClr val="64748B"/>
                </a:solidFill>
                <a:latin typeface="Calibri"/>
                <a:ea typeface="Calibri"/>
                <a:cs typeface="Calibri"/>
                <a:sym typeface="Calibri"/>
              </a:defRPr>
            </a:pPr>
            <a:r>
              <a:t>GPTQ INT4 / AWQ INT4</a:t>
            </a:r>
          </a:p>
          <a:p>
            <a:pPr algn="ctr">
              <a:defRPr sz="1000">
                <a:solidFill>
                  <a:srgbClr val="64748B"/>
                </a:solidFill>
                <a:latin typeface="Calibri"/>
                <a:ea typeface="Calibri"/>
                <a:cs typeface="Calibri"/>
                <a:sym typeface="Calibri"/>
              </a:defRPr>
            </a:pPr>
            <a:r>
              <a:t>4.2 GB vs 14.5 GB (FP16)</a:t>
            </a:r>
          </a:p>
        </p:txBody>
      </p:sp>
      <p:sp>
        <p:nvSpPr>
          <p:cNvPr id="169" name="Google Shape;116;p17"/>
          <p:cNvSpPr/>
          <p:nvPr/>
        </p:nvSpPr>
        <p:spPr>
          <a:xfrm>
            <a:off x="4794915" y="1346436"/>
            <a:ext cx="1874400" cy="2469001"/>
          </a:xfrm>
          <a:prstGeom prst="rect">
            <a:avLst/>
          </a:prstGeom>
          <a:solidFill>
            <a:srgbClr val="F8FAFC"/>
          </a:solidFill>
          <a:ln>
            <a:solidFill>
              <a:srgbClr val="CBD5E1"/>
            </a:solidFill>
          </a:ln>
          <a:effectLst>
            <a:outerShdw sx="100000" sy="100000" kx="0" ky="0" algn="b" rotWithShape="0" blurRad="50800" dist="12700" dir="8100000">
              <a:srgbClr val="94A3B8">
                <a:alpha val="14900"/>
              </a:srgbClr>
            </a:outerShdw>
          </a:effectLst>
        </p:spPr>
        <p:txBody>
          <a:bodyPr lIns="0" tIns="0" rIns="0" bIns="0" anchor="ctr"/>
          <a:lstStyle/>
          <a:p>
            <a:pPr/>
          </a:p>
        </p:txBody>
      </p:sp>
      <p:sp>
        <p:nvSpPr>
          <p:cNvPr id="170" name="Google Shape;117;p17"/>
          <p:cNvSpPr txBox="1"/>
          <p:nvPr/>
        </p:nvSpPr>
        <p:spPr>
          <a:xfrm>
            <a:off x="4886354" y="1659506"/>
            <a:ext cx="1691701" cy="5624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4400">
                <a:solidFill>
                  <a:srgbClr val="C2410C"/>
                </a:solidFill>
                <a:latin typeface="Calibri"/>
                <a:ea typeface="Calibri"/>
                <a:cs typeface="Calibri"/>
                <a:sym typeface="Calibri"/>
              </a:defRPr>
            </a:lvl1pPr>
          </a:lstStyle>
          <a:p>
            <a:pPr/>
            <a:r>
              <a:t>-0.162</a:t>
            </a:r>
          </a:p>
        </p:txBody>
      </p:sp>
      <p:sp>
        <p:nvSpPr>
          <p:cNvPr id="171" name="Google Shape;118;p17"/>
          <p:cNvSpPr txBox="1"/>
          <p:nvPr/>
        </p:nvSpPr>
        <p:spPr>
          <a:xfrm>
            <a:off x="4886354" y="2484119"/>
            <a:ext cx="16917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0F172A"/>
                </a:solidFill>
                <a:latin typeface="Calibri"/>
                <a:ea typeface="Calibri"/>
                <a:cs typeface="Calibri"/>
                <a:sym typeface="Calibri"/>
              </a:defRPr>
            </a:lvl1pPr>
          </a:lstStyle>
          <a:p>
            <a:pPr/>
            <a:r>
              <a:t>ECE shift on PubMedQA</a:t>
            </a:r>
          </a:p>
        </p:txBody>
      </p:sp>
      <p:sp>
        <p:nvSpPr>
          <p:cNvPr id="172" name="Google Shape;119;p17"/>
          <p:cNvSpPr txBox="1"/>
          <p:nvPr/>
        </p:nvSpPr>
        <p:spPr>
          <a:xfrm>
            <a:off x="4886354" y="3060714"/>
            <a:ext cx="1691701" cy="3021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000">
                <a:solidFill>
                  <a:srgbClr val="64748B"/>
                </a:solidFill>
                <a:latin typeface="Calibri"/>
                <a:ea typeface="Calibri"/>
                <a:cs typeface="Calibri"/>
                <a:sym typeface="Calibri"/>
              </a:defRPr>
            </a:lvl1pPr>
          </a:lstStyle>
          <a:p>
            <a:pPr/>
            <a:r>
              <a:t>AWQ INT4 (0.067) vs FP16 (0.229)</a:t>
            </a:r>
          </a:p>
        </p:txBody>
      </p:sp>
      <p:sp>
        <p:nvSpPr>
          <p:cNvPr id="173" name="Google Shape;120;p17"/>
          <p:cNvSpPr/>
          <p:nvPr/>
        </p:nvSpPr>
        <p:spPr>
          <a:xfrm>
            <a:off x="7098103" y="1328060"/>
            <a:ext cx="1874400" cy="2469002"/>
          </a:xfrm>
          <a:prstGeom prst="rect">
            <a:avLst/>
          </a:prstGeom>
          <a:solidFill>
            <a:srgbClr val="F8FAFC"/>
          </a:solidFill>
          <a:ln>
            <a:solidFill>
              <a:srgbClr val="CBD5E1"/>
            </a:solidFill>
          </a:ln>
          <a:effectLst>
            <a:outerShdw sx="100000" sy="100000" kx="0" ky="0" algn="b" rotWithShape="0" blurRad="50800" dist="12700" dir="8100000">
              <a:srgbClr val="94A3B8">
                <a:alpha val="14900"/>
              </a:srgbClr>
            </a:outerShdw>
          </a:effectLst>
        </p:spPr>
        <p:txBody>
          <a:bodyPr lIns="0" tIns="0" rIns="0" bIns="0" anchor="ctr"/>
          <a:lstStyle/>
          <a:p>
            <a:pPr/>
          </a:p>
        </p:txBody>
      </p:sp>
      <p:sp>
        <p:nvSpPr>
          <p:cNvPr id="174" name="Google Shape;121;p17"/>
          <p:cNvSpPr txBox="1"/>
          <p:nvPr/>
        </p:nvSpPr>
        <p:spPr>
          <a:xfrm>
            <a:off x="7189543" y="1641131"/>
            <a:ext cx="1691701" cy="5624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4400">
                <a:solidFill>
                  <a:srgbClr val="C2410C"/>
                </a:solidFill>
                <a:latin typeface="Calibri"/>
                <a:ea typeface="Calibri"/>
                <a:cs typeface="Calibri"/>
                <a:sym typeface="Calibri"/>
              </a:defRPr>
            </a:lvl1pPr>
          </a:lstStyle>
          <a:p>
            <a:pPr/>
            <a:r>
              <a:t>19x</a:t>
            </a:r>
          </a:p>
        </p:txBody>
      </p:sp>
      <p:sp>
        <p:nvSpPr>
          <p:cNvPr id="175" name="Google Shape;122;p17"/>
          <p:cNvSpPr txBox="1"/>
          <p:nvPr/>
        </p:nvSpPr>
        <p:spPr>
          <a:xfrm>
            <a:off x="7189543" y="2370477"/>
            <a:ext cx="1691701" cy="34736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0F172A"/>
                </a:solidFill>
                <a:latin typeface="Calibri"/>
                <a:ea typeface="Calibri"/>
                <a:cs typeface="Calibri"/>
                <a:sym typeface="Calibri"/>
              </a:defRPr>
            </a:lvl1pPr>
          </a:lstStyle>
          <a:p>
            <a:pPr/>
            <a:r>
              <a:t>NF4 (AI=388) &amp; AWQ INT4 (AI=1865) </a:t>
            </a:r>
          </a:p>
        </p:txBody>
      </p:sp>
      <p:sp>
        <p:nvSpPr>
          <p:cNvPr id="176" name="Google Shape;123;p17"/>
          <p:cNvSpPr txBox="1"/>
          <p:nvPr/>
        </p:nvSpPr>
        <p:spPr>
          <a:xfrm>
            <a:off x="7189543" y="2959789"/>
            <a:ext cx="1691701" cy="4672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000">
                <a:solidFill>
                  <a:srgbClr val="64748B"/>
                </a:solidFill>
                <a:latin typeface="Calibri"/>
                <a:ea typeface="Calibri"/>
                <a:cs typeface="Calibri"/>
                <a:sym typeface="Calibri"/>
              </a:defRPr>
            </a:lvl1pPr>
          </a:lstStyle>
          <a:p>
            <a:pPr/>
            <a:r>
              <a:t>difference in arithmetic intensity between NF4 and AWQ INT4 at identical 4-bit precision</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8" name="Google Shape;129;p18"/>
          <p:cNvSpPr txBox="1"/>
          <p:nvPr/>
        </p:nvSpPr>
        <p:spPr>
          <a:xfrm>
            <a:off x="342899" y="440531"/>
            <a:ext cx="8455802" cy="3533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chemeClr val="accent2">
                    <a:lumOff val="-2588"/>
                  </a:schemeClr>
                </a:solidFill>
                <a:latin typeface="Calibri"/>
                <a:ea typeface="Calibri"/>
                <a:cs typeface="Calibri"/>
                <a:sym typeface="Calibri"/>
              </a:defRPr>
            </a:lvl1pPr>
          </a:lstStyle>
          <a:p>
            <a:pPr/>
            <a:r>
              <a:t>PTQ Calibration Run</a:t>
            </a:r>
          </a:p>
        </p:txBody>
      </p:sp>
      <p:sp>
        <p:nvSpPr>
          <p:cNvPr id="179" name="Google Shape;130;p18"/>
          <p:cNvSpPr/>
          <p:nvPr/>
        </p:nvSpPr>
        <p:spPr>
          <a:xfrm>
            <a:off x="342899" y="891539"/>
            <a:ext cx="8455802" cy="1"/>
          </a:xfrm>
          <a:prstGeom prst="line">
            <a:avLst/>
          </a:prstGeom>
          <a:ln>
            <a:solidFill>
              <a:srgbClr val="D9D9D9"/>
            </a:solidFill>
          </a:ln>
        </p:spPr>
        <p:txBody>
          <a:bodyPr lIns="0" tIns="0" rIns="0" bIns="0"/>
          <a:lstStyle/>
          <a:p>
            <a:pPr/>
          </a:p>
        </p:txBody>
      </p:sp>
      <p:sp>
        <p:nvSpPr>
          <p:cNvPr id="180" name="Google Shape;131;p18"/>
          <p:cNvSpPr txBox="1"/>
          <p:nvPr/>
        </p:nvSpPr>
        <p:spPr>
          <a:xfrm>
            <a:off x="881425" y="4043250"/>
            <a:ext cx="7306001" cy="446921"/>
          </a:xfrm>
          <a:prstGeom prst="rect">
            <a:avLst/>
          </a:prstGeom>
          <a:ln w="12700">
            <a:miter lim="400000"/>
          </a:ln>
          <a:extLst>
            <a:ext uri="{C572A759-6A51-4108-AA02-DFA0A04FC94B}">
              <ma14:wrappingTextBoxFlag xmlns:ma14="http://schemas.microsoft.com/office/mac/drawingml/2011/main" val="1"/>
            </a:ext>
          </a:extLst>
        </p:spPr>
        <p:txBody>
          <a:bodyPr lIns="34275" tIns="34275" rIns="34275" bIns="34275">
            <a:spAutoFit/>
          </a:bodyPr>
          <a:lstStyle/>
          <a:p>
            <a:pPr marL="254000" indent="-254000">
              <a:spcBef>
                <a:spcPts val="600"/>
              </a:spcBef>
              <a:buClr>
                <a:schemeClr val="accent2">
                  <a:lumOff val="-2588"/>
                </a:schemeClr>
              </a:buClr>
              <a:buSzPts val="1000"/>
              <a:buFont typeface="Calibri"/>
              <a:buChar char="•"/>
              <a:defRPr sz="1000">
                <a:solidFill>
                  <a:schemeClr val="accent2">
                    <a:lumOff val="-2588"/>
                  </a:schemeClr>
                </a:solidFill>
                <a:latin typeface="Calibri"/>
                <a:ea typeface="Calibri"/>
                <a:cs typeface="Calibri"/>
                <a:sym typeface="Calibri"/>
              </a:defRPr>
            </a:pPr>
            <a:r>
              <a:t>On TriviaQA and HellaSwag, Quantization causes modest calibration degradation as seen with increase in ECE and Brier score</a:t>
            </a:r>
          </a:p>
          <a:p>
            <a:pPr marL="254000" indent="-254000">
              <a:spcBef>
                <a:spcPts val="600"/>
              </a:spcBef>
              <a:buClr>
                <a:schemeClr val="accent2">
                  <a:lumOff val="-2588"/>
                </a:schemeClr>
              </a:buClr>
              <a:buSzPts val="1000"/>
              <a:buFont typeface="Calibri"/>
              <a:buChar char="•"/>
              <a:defRPr sz="1000">
                <a:solidFill>
                  <a:schemeClr val="accent2">
                    <a:lumOff val="-2588"/>
                  </a:schemeClr>
                </a:solidFill>
                <a:latin typeface="Calibri"/>
                <a:ea typeface="Calibri"/>
                <a:cs typeface="Calibri"/>
                <a:sym typeface="Calibri"/>
              </a:defRPr>
            </a:pPr>
            <a:r>
              <a:t>Accuracy on PubmedQA is uniformly low due to out of distribution nature of the dataset</a:t>
            </a:r>
          </a:p>
        </p:txBody>
      </p:sp>
      <p:sp>
        <p:nvSpPr>
          <p:cNvPr id="181" name="Google Shape;132;p18"/>
          <p:cNvSpPr txBox="1"/>
          <p:nvPr/>
        </p:nvSpPr>
        <p:spPr>
          <a:xfrm>
            <a:off x="4684014" y="4942869"/>
            <a:ext cx="4114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B6F76"/>
                </a:solidFill>
                <a:latin typeface="Calibri"/>
                <a:ea typeface="Calibri"/>
                <a:cs typeface="Calibri"/>
                <a:sym typeface="Calibri"/>
              </a:defRPr>
            </a:lvl1pPr>
          </a:lstStyle>
          <a:p>
            <a:pPr/>
            <a:r>
              <a:t>4 / 15</a:t>
            </a:r>
          </a:p>
        </p:txBody>
      </p:sp>
      <p:pic>
        <p:nvPicPr>
          <p:cNvPr id="182" name="Google Shape;133;p18" descr="Google Shape;133;p18"/>
          <p:cNvPicPr>
            <a:picLocks noChangeAspect="1"/>
          </p:cNvPicPr>
          <p:nvPr/>
        </p:nvPicPr>
        <p:blipFill>
          <a:blip r:embed="rId2">
            <a:extLst/>
          </a:blip>
          <a:stretch>
            <a:fillRect/>
          </a:stretch>
        </p:blipFill>
        <p:spPr>
          <a:xfrm>
            <a:off x="590824" y="1181576"/>
            <a:ext cx="7733751" cy="2571626"/>
          </a:xfrm>
          <a:prstGeom prst="rect">
            <a:avLst/>
          </a:prstGeom>
          <a:ln w="12700">
            <a:miter lim="400000"/>
          </a:ln>
        </p:spPr>
      </p:pic>
      <p:sp>
        <p:nvSpPr>
          <p:cNvPr id="183" name="Google Shape;134;p18"/>
          <p:cNvSpPr txBox="1"/>
          <p:nvPr/>
        </p:nvSpPr>
        <p:spPr>
          <a:xfrm>
            <a:off x="502919" y="4856031"/>
            <a:ext cx="2743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900">
                <a:solidFill>
                  <a:srgbClr val="64748B"/>
                </a:solidFill>
                <a:latin typeface="Calibri"/>
                <a:ea typeface="Calibri"/>
                <a:cs typeface="Calibri"/>
                <a:sym typeface="Calibri"/>
              </a:defRPr>
            </a:lvl1pPr>
          </a:lstStyle>
          <a:p>
            <a:pPr/>
            <a:r>
              <a:t>HPML · Spring 2026</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5" name="Google Shape;139;p19"/>
          <p:cNvSpPr txBox="1"/>
          <p:nvPr/>
        </p:nvSpPr>
        <p:spPr>
          <a:xfrm>
            <a:off x="615663" y="4681799"/>
            <a:ext cx="8142000" cy="437025"/>
          </a:xfrm>
          <a:prstGeom prst="rect">
            <a:avLst/>
          </a:prstGeom>
          <a:ln w="12700">
            <a:miter lim="400000"/>
          </a:ln>
          <a:extLst>
            <a:ext uri="{C572A759-6A51-4108-AA02-DFA0A04FC94B}">
              <ma14:wrappingTextBoxFlag xmlns:ma14="http://schemas.microsoft.com/office/mac/drawingml/2011/main" val="1"/>
            </a:ext>
          </a:extLst>
        </p:spPr>
        <p:txBody>
          <a:bodyPr lIns="91424" tIns="91424" rIns="91424" bIns="91424">
            <a:spAutoFit/>
          </a:bodyPr>
          <a:lstStyle/>
          <a:p>
            <a:pPr algn="ctr">
              <a:defRPr sz="900">
                <a:solidFill>
                  <a:schemeClr val="accent2">
                    <a:lumOff val="-2588"/>
                  </a:schemeClr>
                </a:solidFill>
                <a:latin typeface="Calibri"/>
                <a:ea typeface="Calibri"/>
                <a:cs typeface="Calibri"/>
                <a:sym typeface="Calibri"/>
              </a:defRPr>
            </a:pPr>
            <a:r>
              <a:t>Reliability diagrams on PubMedQA across all quantization configurations. </a:t>
            </a:r>
            <a:br/>
            <a:r>
              <a:t>All configs show strong overconfidence (ECE=0.229) across all confidence bins. MCE worsens as probability mass concentrates in a single high-confidence bin</a:t>
            </a:r>
          </a:p>
        </p:txBody>
      </p:sp>
      <p:sp>
        <p:nvSpPr>
          <p:cNvPr id="186" name="Google Shape;140;p19"/>
          <p:cNvSpPr txBox="1"/>
          <p:nvPr/>
        </p:nvSpPr>
        <p:spPr>
          <a:xfrm>
            <a:off x="342899" y="440531"/>
            <a:ext cx="8455802" cy="3533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chemeClr val="accent2">
                    <a:lumOff val="-2588"/>
                  </a:schemeClr>
                </a:solidFill>
                <a:latin typeface="Calibri"/>
                <a:ea typeface="Calibri"/>
                <a:cs typeface="Calibri"/>
                <a:sym typeface="Calibri"/>
              </a:defRPr>
            </a:lvl1pPr>
          </a:lstStyle>
          <a:p>
            <a:pPr/>
            <a:r>
              <a:t>Reliability Diagrams</a:t>
            </a:r>
          </a:p>
        </p:txBody>
      </p:sp>
      <p:sp>
        <p:nvSpPr>
          <p:cNvPr id="187" name="Google Shape;141;p19"/>
          <p:cNvSpPr/>
          <p:nvPr/>
        </p:nvSpPr>
        <p:spPr>
          <a:xfrm>
            <a:off x="342899" y="891539"/>
            <a:ext cx="8455802" cy="1"/>
          </a:xfrm>
          <a:prstGeom prst="line">
            <a:avLst/>
          </a:prstGeom>
          <a:ln>
            <a:solidFill>
              <a:srgbClr val="D9D9D9"/>
            </a:solidFill>
          </a:ln>
        </p:spPr>
        <p:txBody>
          <a:bodyPr lIns="0" tIns="0" rIns="0" bIns="0"/>
          <a:lstStyle/>
          <a:p>
            <a:pPr/>
          </a:p>
        </p:txBody>
      </p:sp>
      <p:pic>
        <p:nvPicPr>
          <p:cNvPr id="188" name="Google Shape;142;p19" descr="Google Shape;142;p19"/>
          <p:cNvPicPr>
            <a:picLocks noChangeAspect="1"/>
          </p:cNvPicPr>
          <p:nvPr/>
        </p:nvPicPr>
        <p:blipFill>
          <a:blip r:embed="rId2">
            <a:extLst/>
          </a:blip>
          <a:stretch>
            <a:fillRect/>
          </a:stretch>
        </p:blipFill>
        <p:spPr>
          <a:xfrm>
            <a:off x="114687" y="2957675"/>
            <a:ext cx="8643000" cy="1724126"/>
          </a:xfrm>
          <a:prstGeom prst="rect">
            <a:avLst/>
          </a:prstGeom>
          <a:ln w="12700">
            <a:miter lim="400000"/>
          </a:ln>
        </p:spPr>
      </p:pic>
      <p:pic>
        <p:nvPicPr>
          <p:cNvPr id="189" name="Google Shape;143;p19" descr="Google Shape;143;p19"/>
          <p:cNvPicPr>
            <a:picLocks noChangeAspect="1"/>
          </p:cNvPicPr>
          <p:nvPr/>
        </p:nvPicPr>
        <p:blipFill>
          <a:blip r:embed="rId3">
            <a:extLst/>
          </a:blip>
          <a:stretch>
            <a:fillRect/>
          </a:stretch>
        </p:blipFill>
        <p:spPr>
          <a:xfrm>
            <a:off x="84174" y="939013"/>
            <a:ext cx="8704027" cy="1629201"/>
          </a:xfrm>
          <a:prstGeom prst="rect">
            <a:avLst/>
          </a:prstGeom>
          <a:ln w="12700">
            <a:miter lim="400000"/>
          </a:ln>
        </p:spPr>
      </p:pic>
      <p:sp>
        <p:nvSpPr>
          <p:cNvPr id="190" name="Google Shape;144;p19"/>
          <p:cNvSpPr txBox="1"/>
          <p:nvPr/>
        </p:nvSpPr>
        <p:spPr>
          <a:xfrm>
            <a:off x="220049" y="2568225"/>
            <a:ext cx="8703902" cy="647349"/>
          </a:xfrm>
          <a:prstGeom prst="rect">
            <a:avLst/>
          </a:prstGeom>
          <a:ln w="12700">
            <a:miter lim="400000"/>
          </a:ln>
          <a:extLst>
            <a:ext uri="{C572A759-6A51-4108-AA02-DFA0A04FC94B}">
              <ma14:wrappingTextBoxFlag xmlns:ma14="http://schemas.microsoft.com/office/mac/drawingml/2011/main" val="1"/>
            </a:ext>
          </a:extLst>
        </p:spPr>
        <p:txBody>
          <a:bodyPr lIns="91424" tIns="91424" rIns="91424" bIns="91424">
            <a:spAutoFit/>
          </a:bodyPr>
          <a:lstStyle/>
          <a:p>
            <a:pPr algn="ctr">
              <a:defRPr sz="900">
                <a:solidFill>
                  <a:schemeClr val="accent2">
                    <a:lumOff val="-2588"/>
                  </a:schemeClr>
                </a:solidFill>
                <a:latin typeface="Calibri"/>
                <a:ea typeface="Calibri"/>
                <a:cs typeface="Calibri"/>
                <a:sym typeface="Calibri"/>
              </a:defRPr>
            </a:pPr>
            <a:r>
              <a:t>Reliability diagrams on TriviaQA across all quantization configurations. </a:t>
            </a:r>
            <a:br/>
            <a:r>
              <a:t>All configs show mild overconfidence. ECE increases modestly and Minimal accuracy loss from FP16 to quantized variants.</a:t>
            </a:r>
            <a:endParaRPr sz="1300"/>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2" name="Google Shape;150;p20"/>
          <p:cNvSpPr txBox="1"/>
          <p:nvPr/>
        </p:nvSpPr>
        <p:spPr>
          <a:xfrm>
            <a:off x="502919" y="262259"/>
            <a:ext cx="8138102" cy="35331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rgbClr val="0F172A"/>
                </a:solidFill>
                <a:latin typeface="Calibri"/>
                <a:ea typeface="Calibri"/>
                <a:cs typeface="Calibri"/>
                <a:sym typeface="Calibri"/>
              </a:defRPr>
            </a:lvl1pPr>
          </a:lstStyle>
          <a:p>
            <a:pPr/>
            <a:r>
              <a:t>Results - Calibration Metrics (Mistral-7B)</a:t>
            </a:r>
          </a:p>
        </p:txBody>
      </p:sp>
      <p:sp>
        <p:nvSpPr>
          <p:cNvPr id="193" name="Google Shape;151;p20"/>
          <p:cNvSpPr/>
          <p:nvPr/>
        </p:nvSpPr>
        <p:spPr>
          <a:xfrm>
            <a:off x="502919" y="694944"/>
            <a:ext cx="8138102" cy="1"/>
          </a:xfrm>
          <a:prstGeom prst="line">
            <a:avLst/>
          </a:prstGeom>
          <a:ln>
            <a:solidFill>
              <a:srgbClr val="E2E8F0"/>
            </a:solidFill>
          </a:ln>
        </p:spPr>
        <p:txBody>
          <a:bodyPr lIns="0" tIns="0" rIns="0" bIns="0"/>
          <a:lstStyle/>
          <a:p>
            <a:pPr/>
          </a:p>
        </p:txBody>
      </p:sp>
      <p:sp>
        <p:nvSpPr>
          <p:cNvPr id="194" name="Google Shape;152;p20"/>
          <p:cNvSpPr txBox="1"/>
          <p:nvPr/>
        </p:nvSpPr>
        <p:spPr>
          <a:xfrm>
            <a:off x="7726680" y="4856031"/>
            <a:ext cx="9144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900">
                <a:solidFill>
                  <a:srgbClr val="64748B"/>
                </a:solidFill>
                <a:latin typeface="Calibri"/>
                <a:ea typeface="Calibri"/>
                <a:cs typeface="Calibri"/>
                <a:sym typeface="Calibri"/>
              </a:defRPr>
            </a:lvl1pPr>
          </a:lstStyle>
          <a:p>
            <a:pPr/>
            <a:r>
              <a:t>5 / 15</a:t>
            </a:r>
          </a:p>
        </p:txBody>
      </p:sp>
      <p:graphicFrame>
        <p:nvGraphicFramePr>
          <p:cNvPr id="195" name="Google Shape;153;p20"/>
          <p:cNvGraphicFramePr/>
          <p:nvPr/>
        </p:nvGraphicFramePr>
        <p:xfrm>
          <a:off x="502883" y="1158275"/>
          <a:ext cx="8138226" cy="2148901"/>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856650"/>
                <a:gridCol w="973475"/>
                <a:gridCol w="973475"/>
                <a:gridCol w="973475"/>
                <a:gridCol w="973475"/>
                <a:gridCol w="973475"/>
                <a:gridCol w="1207100"/>
                <a:gridCol w="1207100"/>
              </a:tblGrid>
              <a:tr h="358150">
                <a:tc>
                  <a:txBody>
                    <a:bodyPr/>
                    <a:lstStyle/>
                    <a:p>
                      <a:pPr algn="l">
                        <a:defRPr sz="1800"/>
                      </a:pPr>
                      <a:r>
                        <a:rPr b="1" sz="900">
                          <a:solidFill>
                            <a:srgbClr val="FFFFFF"/>
                          </a:solidFill>
                        </a:rPr>
                        <a:t>Config</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900">
                          <a:solidFill>
                            <a:srgbClr val="FFFFFF"/>
                          </a:solidFill>
                        </a:rPr>
                        <a:t>TriviaQA ECE</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900">
                          <a:solidFill>
                            <a:srgbClr val="FFFFFF"/>
                          </a:solidFill>
                        </a:rPr>
                        <a:t>HellaSwag ECE</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900">
                          <a:solidFill>
                            <a:srgbClr val="FFFFFF"/>
                          </a:solidFill>
                        </a:rPr>
                        <a:t>PubMedQA ECE</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900">
                          <a:solidFill>
                            <a:srgbClr val="FFFFFF"/>
                          </a:solidFill>
                        </a:rPr>
                        <a:t>PubMedQA MCE</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900">
                          <a:solidFill>
                            <a:srgbClr val="FFFFFF"/>
                          </a:solidFill>
                        </a:rPr>
                        <a:t>PubMedQA Brier</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900">
                          <a:solidFill>
                            <a:srgbClr val="FFFFFF"/>
                          </a:solidFill>
                        </a:rPr>
                        <a:t>Avg Entropy</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900">
                          <a:solidFill>
                            <a:srgbClr val="FFFFFF"/>
                          </a:solidFill>
                        </a:rPr>
                        <a:t>Accuracy (%)</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r>
              <a:tr h="358150">
                <a:tc>
                  <a:txBody>
                    <a:bodyPr/>
                    <a:lstStyle/>
                    <a:p>
                      <a:pPr algn="l">
                        <a:defRPr sz="1800"/>
                      </a:pPr>
                      <a:r>
                        <a:rPr b="1" sz="900">
                          <a:solidFill>
                            <a:srgbClr val="1E293B"/>
                          </a:solidFill>
                        </a:rPr>
                        <a:t>FP16</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b="1" sz="900">
                          <a:solidFill>
                            <a:srgbClr val="1E293B"/>
                          </a:solidFill>
                        </a:rPr>
                        <a:t>0.143</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b="1" sz="900">
                          <a:solidFill>
                            <a:srgbClr val="1E293B"/>
                          </a:solidFill>
                        </a:rPr>
                        <a:t>0.277</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b="1" sz="900">
                          <a:solidFill>
                            <a:srgbClr val="1E293B"/>
                          </a:solidFill>
                        </a:rPr>
                        <a:t>0.229</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b="1" sz="900">
                          <a:solidFill>
                            <a:srgbClr val="1E293B"/>
                          </a:solidFill>
                        </a:rPr>
                        <a:t>0.330</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b="1" sz="900">
                          <a:solidFill>
                            <a:srgbClr val="1E293B"/>
                          </a:solidFill>
                        </a:rPr>
                        <a:t>0.302</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b="1" sz="900">
                          <a:solidFill>
                            <a:srgbClr val="1E293B"/>
                          </a:solidFill>
                        </a:rPr>
                        <a:t>0.402 / 1.088 / 0.656</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b="1" sz="900">
                          <a:solidFill>
                            <a:srgbClr val="1E293B"/>
                          </a:solidFill>
                        </a:rPr>
                        <a:t>70.1 / 82.9 / 49.1</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r>
              <a:tr h="358150">
                <a:tc>
                  <a:txBody>
                    <a:bodyPr/>
                    <a:lstStyle/>
                    <a:p>
                      <a:pPr algn="l">
                        <a:defRPr sz="1800"/>
                      </a:pPr>
                      <a:r>
                        <a:rPr sz="900">
                          <a:solidFill>
                            <a:srgbClr val="1E293B"/>
                          </a:solidFill>
                        </a:rPr>
                        <a:t>GPTQ INT4</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0.152 (+.009)</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0.289 (+.012)</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6A34A"/>
                          </a:solidFill>
                        </a:rPr>
                        <a:t>0.077 (−.152)</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0.302</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0.252</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0.431 / 1.116 / 0.938</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68.1 / 82.5 / 49.3</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r>
              <a:tr h="358150">
                <a:tc>
                  <a:txBody>
                    <a:bodyPr/>
                    <a:lstStyle/>
                    <a:p>
                      <a:pPr algn="l">
                        <a:defRPr sz="1800"/>
                      </a:pPr>
                      <a:r>
                        <a:rPr sz="900">
                          <a:solidFill>
                            <a:srgbClr val="1E293B"/>
                          </a:solidFill>
                        </a:rPr>
                        <a:t>GPTQ INT8</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0.155 (+.012)</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0.283 (+.006)</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6A34A"/>
                          </a:solidFill>
                        </a:rPr>
                        <a:t>0.103 (−.126)</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DC2626"/>
                          </a:solidFill>
                        </a:rPr>
                        <a:t>0.944 </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0.251</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0.428 / 1.114 / 0.924</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67.8/ 81.9 / 46.1</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r>
              <a:tr h="358150">
                <a:tc>
                  <a:txBody>
                    <a:bodyPr/>
                    <a:lstStyle/>
                    <a:p>
                      <a:pPr algn="l">
                        <a:defRPr sz="1800"/>
                      </a:pPr>
                      <a:r>
                        <a:rPr sz="900">
                          <a:solidFill>
                            <a:srgbClr val="1E293B"/>
                          </a:solidFill>
                        </a:rPr>
                        <a:t>AWQ INT4</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0.155 (+.012)</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0.282 (+.005)</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6A34A"/>
                          </a:solidFill>
                        </a:rPr>
                        <a:t>0.067 (−.162)</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DC2626"/>
                          </a:solidFill>
                        </a:rPr>
                        <a:t>0.939 </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0.250</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0.415 / 1.114 / 0.934</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68.5 / 81.9 / 49.2</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r>
              <a:tr h="358150">
                <a:tc>
                  <a:txBody>
                    <a:bodyPr/>
                    <a:lstStyle/>
                    <a:p>
                      <a:pPr algn="l">
                        <a:defRPr sz="1800"/>
                      </a:pPr>
                      <a:r>
                        <a:rPr sz="900">
                          <a:solidFill>
                            <a:srgbClr val="1E293B"/>
                          </a:solidFill>
                        </a:rPr>
                        <a:t>NF4</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0.158 (+.015)</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0.279 (+.002)</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0.236 (+.007)</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0.330</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0.304</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0.397 / 1.097 / 0.663</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900">
                          <a:solidFill>
                            <a:srgbClr val="1E293B"/>
                          </a:solidFill>
                        </a:rPr>
                        <a:t>68.7 / 82.6 / 48.1</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r>
            </a:tbl>
          </a:graphicData>
        </a:graphic>
      </p:graphicFrame>
      <p:sp>
        <p:nvSpPr>
          <p:cNvPr id="196" name="Google Shape;154;p20"/>
          <p:cNvSpPr/>
          <p:nvPr/>
        </p:nvSpPr>
        <p:spPr>
          <a:xfrm>
            <a:off x="502950" y="3740624"/>
            <a:ext cx="3931800" cy="774900"/>
          </a:xfrm>
          <a:prstGeom prst="rect">
            <a:avLst/>
          </a:prstGeom>
          <a:solidFill>
            <a:srgbClr val="FFFFFF"/>
          </a:solidFill>
          <a:ln>
            <a:solidFill>
              <a:srgbClr val="44546A"/>
            </a:solidFill>
          </a:ln>
          <a:effectLst>
            <a:outerShdw sx="100000" sy="100000" kx="0" ky="0" algn="b" rotWithShape="0" blurRad="50800" dist="12700" dir="8100000">
              <a:srgbClr val="94A3B8">
                <a:alpha val="14900"/>
              </a:srgbClr>
            </a:outerShdw>
          </a:effectLst>
        </p:spPr>
        <p:txBody>
          <a:bodyPr lIns="0" tIns="0" rIns="0" bIns="0" anchor="ctr"/>
          <a:lstStyle/>
          <a:p>
            <a:pPr/>
          </a:p>
        </p:txBody>
      </p:sp>
      <p:sp>
        <p:nvSpPr>
          <p:cNvPr id="197" name="Google Shape;155;p20"/>
          <p:cNvSpPr/>
          <p:nvPr/>
        </p:nvSpPr>
        <p:spPr>
          <a:xfrm>
            <a:off x="502947" y="3740624"/>
            <a:ext cx="50401" cy="774900"/>
          </a:xfrm>
          <a:prstGeom prst="rect">
            <a:avLst/>
          </a:prstGeom>
          <a:solidFill>
            <a:srgbClr val="44546A"/>
          </a:solidFill>
          <a:ln w="12700">
            <a:solidFill>
              <a:srgbClr val="44546A"/>
            </a:solidFill>
          </a:ln>
        </p:spPr>
        <p:txBody>
          <a:bodyPr lIns="0" tIns="0" rIns="0" bIns="0" anchor="ctr"/>
          <a:lstStyle/>
          <a:p>
            <a:pPr/>
          </a:p>
        </p:txBody>
      </p:sp>
      <p:sp>
        <p:nvSpPr>
          <p:cNvPr id="198" name="Google Shape;156;p20"/>
          <p:cNvSpPr txBox="1"/>
          <p:nvPr/>
        </p:nvSpPr>
        <p:spPr>
          <a:xfrm>
            <a:off x="630973" y="3788623"/>
            <a:ext cx="37491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000">
                <a:solidFill>
                  <a:srgbClr val="44546A"/>
                </a:solidFill>
                <a:latin typeface="Calibri"/>
                <a:ea typeface="Calibri"/>
                <a:cs typeface="Calibri"/>
                <a:sym typeface="Calibri"/>
              </a:defRPr>
            </a:lvl1pPr>
          </a:lstStyle>
          <a:p>
            <a:pPr/>
            <a:r>
              <a:t>Need all 3 calibration metric to capture the full picture</a:t>
            </a:r>
          </a:p>
        </p:txBody>
      </p:sp>
      <p:sp>
        <p:nvSpPr>
          <p:cNvPr id="199" name="Google Shape;157;p20"/>
          <p:cNvSpPr txBox="1"/>
          <p:nvPr/>
        </p:nvSpPr>
        <p:spPr>
          <a:xfrm>
            <a:off x="630973" y="4010005"/>
            <a:ext cx="3749101" cy="39387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rgbClr val="1E293B"/>
                </a:solidFill>
                <a:latin typeface="Calibri"/>
                <a:ea typeface="Calibri"/>
                <a:cs typeface="Calibri"/>
                <a:sym typeface="Calibri"/>
              </a:defRPr>
            </a:lvl1pPr>
          </a:lstStyle>
          <a:p>
            <a:pPr/>
            <a:r>
              <a:t>GPTQ INT4/AWQ INT4 have lower PubMedQA ECE and Brier Score than FP16 (0.077 vs 0.229) but MCE nearly triples to 0.944. Quantization spreads entropy, reducing average bin error while catastrophically miscalibrating one bin.</a:t>
            </a:r>
          </a:p>
        </p:txBody>
      </p:sp>
      <p:sp>
        <p:nvSpPr>
          <p:cNvPr id="200" name="Google Shape;158;p20"/>
          <p:cNvSpPr/>
          <p:nvPr/>
        </p:nvSpPr>
        <p:spPr>
          <a:xfrm>
            <a:off x="4709200" y="3740624"/>
            <a:ext cx="3931801" cy="774900"/>
          </a:xfrm>
          <a:prstGeom prst="rect">
            <a:avLst/>
          </a:prstGeom>
          <a:solidFill>
            <a:srgbClr val="FFFFFF"/>
          </a:solidFill>
          <a:ln>
            <a:solidFill>
              <a:srgbClr val="44546A"/>
            </a:solidFill>
          </a:ln>
          <a:effectLst>
            <a:outerShdw sx="100000" sy="100000" kx="0" ky="0" algn="b" rotWithShape="0" blurRad="50800" dist="12700" dir="8100000">
              <a:srgbClr val="94A3B8">
                <a:alpha val="14900"/>
              </a:srgbClr>
            </a:outerShdw>
          </a:effectLst>
        </p:spPr>
        <p:txBody>
          <a:bodyPr lIns="0" tIns="0" rIns="0" bIns="0" anchor="ctr"/>
          <a:lstStyle/>
          <a:p>
            <a:pPr/>
          </a:p>
        </p:txBody>
      </p:sp>
      <p:sp>
        <p:nvSpPr>
          <p:cNvPr id="201" name="Google Shape;159;p20"/>
          <p:cNvSpPr/>
          <p:nvPr/>
        </p:nvSpPr>
        <p:spPr>
          <a:xfrm>
            <a:off x="4709200" y="3740625"/>
            <a:ext cx="50401" cy="774901"/>
          </a:xfrm>
          <a:prstGeom prst="rect">
            <a:avLst/>
          </a:prstGeom>
          <a:solidFill>
            <a:srgbClr val="44546A"/>
          </a:solidFill>
          <a:ln w="12700">
            <a:solidFill>
              <a:srgbClr val="44546A"/>
            </a:solidFill>
          </a:ln>
        </p:spPr>
        <p:txBody>
          <a:bodyPr lIns="0" tIns="0" rIns="0" bIns="0" anchor="ctr"/>
          <a:lstStyle/>
          <a:p>
            <a:pPr/>
          </a:p>
        </p:txBody>
      </p:sp>
      <p:sp>
        <p:nvSpPr>
          <p:cNvPr id="202" name="Google Shape;160;p20"/>
          <p:cNvSpPr txBox="1"/>
          <p:nvPr/>
        </p:nvSpPr>
        <p:spPr>
          <a:xfrm>
            <a:off x="4837214" y="3788623"/>
            <a:ext cx="374910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000">
                <a:solidFill>
                  <a:srgbClr val="44546A"/>
                </a:solidFill>
                <a:latin typeface="Calibri"/>
                <a:ea typeface="Calibri"/>
                <a:cs typeface="Calibri"/>
                <a:sym typeface="Calibri"/>
              </a:defRPr>
            </a:lvl1pPr>
          </a:lstStyle>
          <a:p>
            <a:pPr/>
            <a:r>
              <a:t>NF4 is the calibration-conservative choice</a:t>
            </a:r>
          </a:p>
        </p:txBody>
      </p:sp>
      <p:sp>
        <p:nvSpPr>
          <p:cNvPr id="203" name="Google Shape;161;p20"/>
          <p:cNvSpPr txBox="1"/>
          <p:nvPr/>
        </p:nvSpPr>
        <p:spPr>
          <a:xfrm>
            <a:off x="4837214" y="4079855"/>
            <a:ext cx="3749100" cy="25417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rgbClr val="1E293B"/>
                </a:solidFill>
                <a:latin typeface="Calibri"/>
                <a:ea typeface="Calibri"/>
                <a:cs typeface="Calibri"/>
                <a:sym typeface="Calibri"/>
              </a:defRPr>
            </a:lvl1pPr>
          </a:lstStyle>
          <a:p>
            <a:pPr/>
            <a:r>
              <a:t>Only quantized method where ECE, MCE, Brier, and entropy all remain near FP16 on PubMedQA. Preserves the confidence distribution under distribution shift.</a:t>
            </a:r>
          </a:p>
        </p:txBody>
      </p:sp>
      <p:sp>
        <p:nvSpPr>
          <p:cNvPr id="204" name="Google Shape;162;p20"/>
          <p:cNvSpPr txBox="1"/>
          <p:nvPr/>
        </p:nvSpPr>
        <p:spPr>
          <a:xfrm>
            <a:off x="502919" y="4856031"/>
            <a:ext cx="2743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900">
                <a:solidFill>
                  <a:srgbClr val="64748B"/>
                </a:solidFill>
                <a:latin typeface="Calibri"/>
                <a:ea typeface="Calibri"/>
                <a:cs typeface="Calibri"/>
                <a:sym typeface="Calibri"/>
              </a:defRPr>
            </a:lvl1pPr>
          </a:lstStyle>
          <a:p>
            <a:pPr/>
            <a:r>
              <a:t>HPML · Spring 2026</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6" name="Google Shape;168;p21"/>
          <p:cNvSpPr txBox="1"/>
          <p:nvPr/>
        </p:nvSpPr>
        <p:spPr>
          <a:xfrm>
            <a:off x="342899" y="440531"/>
            <a:ext cx="8455802" cy="3533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chemeClr val="accent2">
                    <a:lumOff val="-2588"/>
                  </a:schemeClr>
                </a:solidFill>
                <a:latin typeface="Calibri"/>
                <a:ea typeface="Calibri"/>
                <a:cs typeface="Calibri"/>
                <a:sym typeface="Calibri"/>
              </a:defRPr>
            </a:lvl1pPr>
          </a:lstStyle>
          <a:p>
            <a:pPr/>
            <a:r>
              <a:t>Profiling Methodology and Roofline Analysis</a:t>
            </a:r>
          </a:p>
        </p:txBody>
      </p:sp>
      <p:sp>
        <p:nvSpPr>
          <p:cNvPr id="207" name="Google Shape;169;p21"/>
          <p:cNvSpPr/>
          <p:nvPr/>
        </p:nvSpPr>
        <p:spPr>
          <a:xfrm>
            <a:off x="342899" y="891539"/>
            <a:ext cx="8455802" cy="1"/>
          </a:xfrm>
          <a:prstGeom prst="line">
            <a:avLst/>
          </a:prstGeom>
          <a:ln>
            <a:solidFill>
              <a:srgbClr val="D9D9D9"/>
            </a:solidFill>
          </a:ln>
        </p:spPr>
        <p:txBody>
          <a:bodyPr lIns="0" tIns="0" rIns="0" bIns="0"/>
          <a:lstStyle/>
          <a:p>
            <a:pPr/>
          </a:p>
        </p:txBody>
      </p:sp>
      <p:sp>
        <p:nvSpPr>
          <p:cNvPr id="208" name="Google Shape;170;p21"/>
          <p:cNvSpPr txBox="1"/>
          <p:nvPr/>
        </p:nvSpPr>
        <p:spPr>
          <a:xfrm>
            <a:off x="335987" y="1150123"/>
            <a:ext cx="4114801"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chemeClr val="accent2">
                    <a:lumOff val="-2588"/>
                  </a:schemeClr>
                </a:solidFill>
                <a:latin typeface="Calibri"/>
                <a:ea typeface="Calibri"/>
                <a:cs typeface="Calibri"/>
                <a:sym typeface="Calibri"/>
              </a:defRPr>
            </a:lvl1pPr>
          </a:lstStyle>
          <a:p>
            <a:pPr/>
            <a:r>
              <a:t>Tools</a:t>
            </a:r>
          </a:p>
        </p:txBody>
      </p:sp>
      <p:sp>
        <p:nvSpPr>
          <p:cNvPr id="209" name="Google Shape;171;p21"/>
          <p:cNvSpPr txBox="1"/>
          <p:nvPr/>
        </p:nvSpPr>
        <p:spPr>
          <a:xfrm>
            <a:off x="377199" y="1407740"/>
            <a:ext cx="4046201" cy="1025515"/>
          </a:xfrm>
          <a:prstGeom prst="rect">
            <a:avLst/>
          </a:prstGeom>
          <a:ln w="12700">
            <a:miter lim="400000"/>
          </a:ln>
          <a:extLst>
            <a:ext uri="{C572A759-6A51-4108-AA02-DFA0A04FC94B}">
              <ma14:wrappingTextBoxFlag xmlns:ma14="http://schemas.microsoft.com/office/mac/drawingml/2011/main" val="1"/>
            </a:ext>
          </a:extLst>
        </p:spPr>
        <p:txBody>
          <a:bodyPr lIns="34275" tIns="34275" rIns="34275" bIns="34275">
            <a:spAutoFit/>
          </a:bodyPr>
          <a:lstStyle/>
          <a:p>
            <a:pPr marL="254000" indent="-254000">
              <a:buClr>
                <a:schemeClr val="accent2">
                  <a:lumOff val="-2588"/>
                </a:schemeClr>
              </a:buClr>
              <a:buSzPts val="1200"/>
              <a:buFont typeface="Calibri"/>
              <a:buChar char="•"/>
              <a:defRPr sz="1200">
                <a:solidFill>
                  <a:schemeClr val="accent2">
                    <a:lumOff val="-2588"/>
                  </a:schemeClr>
                </a:solidFill>
                <a:latin typeface="Calibri"/>
                <a:ea typeface="Calibri"/>
                <a:cs typeface="Calibri"/>
                <a:sym typeface="Calibri"/>
              </a:defRPr>
            </a:pPr>
            <a:r>
              <a:t>PyTorch Profiler / torch.profiler</a:t>
            </a:r>
          </a:p>
          <a:p>
            <a:pPr marL="254000" indent="-254000">
              <a:spcBef>
                <a:spcPts val="600"/>
              </a:spcBef>
              <a:buClr>
                <a:schemeClr val="accent2">
                  <a:lumOff val="-2588"/>
                </a:schemeClr>
              </a:buClr>
              <a:buSzPts val="1200"/>
              <a:buFont typeface="Calibri"/>
              <a:buChar char="•"/>
              <a:defRPr sz="1200">
                <a:solidFill>
                  <a:schemeClr val="accent2">
                    <a:lumOff val="-2588"/>
                  </a:schemeClr>
                </a:solidFill>
                <a:latin typeface="Calibri"/>
                <a:ea typeface="Calibri"/>
                <a:cs typeface="Calibri"/>
                <a:sym typeface="Calibri"/>
              </a:defRPr>
            </a:pPr>
            <a:r>
              <a:t>NVIDIA Nsight Systems</a:t>
            </a:r>
          </a:p>
          <a:p>
            <a:pPr marL="254000" indent="-254000">
              <a:spcBef>
                <a:spcPts val="600"/>
              </a:spcBef>
              <a:buClr>
                <a:schemeClr val="accent2">
                  <a:lumOff val="-2588"/>
                </a:schemeClr>
              </a:buClr>
              <a:buSzPts val="1200"/>
              <a:buFont typeface="Calibri"/>
              <a:buChar char="•"/>
              <a:defRPr sz="1200">
                <a:solidFill>
                  <a:schemeClr val="accent2">
                    <a:lumOff val="-2588"/>
                  </a:schemeClr>
                </a:solidFill>
                <a:latin typeface="Calibri"/>
                <a:ea typeface="Calibri"/>
                <a:cs typeface="Calibri"/>
                <a:sym typeface="Calibri"/>
              </a:defRPr>
            </a:pPr>
            <a:r>
              <a:t>[Other: vLLM logs, DCGM, perf, TensorBoard]</a:t>
            </a:r>
          </a:p>
          <a:p>
            <a:pPr marL="254000" indent="-254000">
              <a:spcBef>
                <a:spcPts val="600"/>
              </a:spcBef>
              <a:buClr>
                <a:schemeClr val="accent2">
                  <a:lumOff val="-2588"/>
                </a:schemeClr>
              </a:buClr>
              <a:buSzPts val="1200"/>
              <a:buFont typeface="Calibri"/>
              <a:buChar char="•"/>
              <a:defRPr sz="1200">
                <a:solidFill>
                  <a:schemeClr val="accent2">
                    <a:lumOff val="-2588"/>
                  </a:schemeClr>
                </a:solidFill>
                <a:latin typeface="Calibri"/>
                <a:ea typeface="Calibri"/>
                <a:cs typeface="Calibri"/>
                <a:sym typeface="Calibri"/>
              </a:defRPr>
            </a:pPr>
            <a:r>
              <a:t>Weights &amp; Biases for run-level tracking</a:t>
            </a:r>
          </a:p>
        </p:txBody>
      </p:sp>
      <p:sp>
        <p:nvSpPr>
          <p:cNvPr id="210" name="Google Shape;172;p21"/>
          <p:cNvSpPr txBox="1"/>
          <p:nvPr/>
        </p:nvSpPr>
        <p:spPr>
          <a:xfrm>
            <a:off x="4684017" y="1111468"/>
            <a:ext cx="4114801"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chemeClr val="accent2">
                    <a:lumOff val="-2588"/>
                  </a:schemeClr>
                </a:solidFill>
                <a:latin typeface="Calibri"/>
                <a:ea typeface="Calibri"/>
                <a:cs typeface="Calibri"/>
                <a:sym typeface="Calibri"/>
              </a:defRPr>
            </a:lvl1pPr>
          </a:lstStyle>
          <a:p>
            <a:pPr/>
            <a:r>
              <a:t>Metrics captured</a:t>
            </a:r>
          </a:p>
        </p:txBody>
      </p:sp>
      <p:sp>
        <p:nvSpPr>
          <p:cNvPr id="211" name="Google Shape;173;p21"/>
          <p:cNvSpPr txBox="1"/>
          <p:nvPr/>
        </p:nvSpPr>
        <p:spPr>
          <a:xfrm>
            <a:off x="4718324" y="1388245"/>
            <a:ext cx="4046201" cy="1292216"/>
          </a:xfrm>
          <a:prstGeom prst="rect">
            <a:avLst/>
          </a:prstGeom>
          <a:ln w="12700">
            <a:miter lim="400000"/>
          </a:ln>
          <a:extLst>
            <a:ext uri="{C572A759-6A51-4108-AA02-DFA0A04FC94B}">
              <ma14:wrappingTextBoxFlag xmlns:ma14="http://schemas.microsoft.com/office/mac/drawingml/2011/main" val="1"/>
            </a:ext>
          </a:extLst>
        </p:spPr>
        <p:txBody>
          <a:bodyPr lIns="34275" tIns="34275" rIns="34275" bIns="34275">
            <a:spAutoFit/>
          </a:bodyPr>
          <a:lstStyle/>
          <a:p>
            <a:pPr marL="254000" indent="-254000">
              <a:buClr>
                <a:schemeClr val="accent2">
                  <a:lumOff val="-2588"/>
                </a:schemeClr>
              </a:buClr>
              <a:buSzPts val="1200"/>
              <a:buFont typeface="Calibri"/>
              <a:buChar char="•"/>
              <a:defRPr sz="1200">
                <a:solidFill>
                  <a:schemeClr val="accent2">
                    <a:lumOff val="-2588"/>
                  </a:schemeClr>
                </a:solidFill>
                <a:latin typeface="Calibri"/>
                <a:ea typeface="Calibri"/>
                <a:cs typeface="Calibri"/>
                <a:sym typeface="Calibri"/>
              </a:defRPr>
            </a:pPr>
            <a:r>
              <a:t>Latency (p50, p95) and throughput</a:t>
            </a:r>
          </a:p>
          <a:p>
            <a:pPr marL="254000" indent="-254000">
              <a:spcBef>
                <a:spcPts val="600"/>
              </a:spcBef>
              <a:buClr>
                <a:schemeClr val="accent2">
                  <a:lumOff val="-2588"/>
                </a:schemeClr>
              </a:buClr>
              <a:buSzPts val="1200"/>
              <a:buFont typeface="Calibri"/>
              <a:buChar char="•"/>
              <a:defRPr sz="1200">
                <a:solidFill>
                  <a:schemeClr val="accent2">
                    <a:lumOff val="-2588"/>
                  </a:schemeClr>
                </a:solidFill>
                <a:latin typeface="Calibri"/>
                <a:ea typeface="Calibri"/>
                <a:cs typeface="Calibri"/>
                <a:sym typeface="Calibri"/>
              </a:defRPr>
            </a:pPr>
            <a:r>
              <a:t>GPU utilization &amp; SM occupancy</a:t>
            </a:r>
          </a:p>
          <a:p>
            <a:pPr marL="254000" indent="-254000">
              <a:spcBef>
                <a:spcPts val="600"/>
              </a:spcBef>
              <a:buClr>
                <a:schemeClr val="accent2">
                  <a:lumOff val="-2588"/>
                </a:schemeClr>
              </a:buClr>
              <a:buSzPts val="1200"/>
              <a:buFont typeface="Calibri"/>
              <a:buChar char="•"/>
              <a:defRPr sz="1200">
                <a:solidFill>
                  <a:schemeClr val="accent2">
                    <a:lumOff val="-2588"/>
                  </a:schemeClr>
                </a:solidFill>
                <a:latin typeface="Calibri"/>
                <a:ea typeface="Calibri"/>
                <a:cs typeface="Calibri"/>
                <a:sym typeface="Calibri"/>
              </a:defRPr>
            </a:pPr>
            <a:r>
              <a:t>Peak GPU memory and HBM bandwidth</a:t>
            </a:r>
          </a:p>
          <a:p>
            <a:pPr marL="254000" indent="-254000">
              <a:spcBef>
                <a:spcPts val="600"/>
              </a:spcBef>
              <a:buClr>
                <a:schemeClr val="accent2">
                  <a:lumOff val="-2588"/>
                </a:schemeClr>
              </a:buClr>
              <a:buSzPts val="1200"/>
              <a:buFont typeface="Calibri"/>
              <a:buChar char="•"/>
              <a:defRPr sz="1200">
                <a:solidFill>
                  <a:schemeClr val="accent2">
                    <a:lumOff val="-2588"/>
                  </a:schemeClr>
                </a:solidFill>
                <a:latin typeface="Calibri"/>
                <a:ea typeface="Calibri"/>
                <a:cs typeface="Calibri"/>
                <a:sym typeface="Calibri"/>
              </a:defRPr>
            </a:pPr>
            <a:r>
              <a:t>Time per stage: data → fwd → bwd → opt</a:t>
            </a:r>
          </a:p>
          <a:p>
            <a:pPr marL="254000" indent="-254000">
              <a:spcBef>
                <a:spcPts val="600"/>
              </a:spcBef>
              <a:buClr>
                <a:schemeClr val="accent2">
                  <a:lumOff val="-2588"/>
                </a:schemeClr>
              </a:buClr>
              <a:buSzPts val="1200"/>
              <a:buFont typeface="Calibri"/>
              <a:buChar char="•"/>
              <a:defRPr sz="1200">
                <a:solidFill>
                  <a:schemeClr val="accent2">
                    <a:lumOff val="-2588"/>
                  </a:schemeClr>
                </a:solidFill>
                <a:latin typeface="Calibri"/>
                <a:ea typeface="Calibri"/>
                <a:cs typeface="Calibri"/>
                <a:sym typeface="Calibri"/>
              </a:defRPr>
            </a:pPr>
            <a:r>
              <a:t>Task quality metric (acc / perplexity / F1)</a:t>
            </a:r>
          </a:p>
        </p:txBody>
      </p:sp>
      <p:sp>
        <p:nvSpPr>
          <p:cNvPr id="212" name="Google Shape;174;p21"/>
          <p:cNvSpPr txBox="1"/>
          <p:nvPr/>
        </p:nvSpPr>
        <p:spPr>
          <a:xfrm>
            <a:off x="4684014" y="4942869"/>
            <a:ext cx="4114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B6F76"/>
                </a:solidFill>
                <a:latin typeface="Calibri"/>
                <a:ea typeface="Calibri"/>
                <a:cs typeface="Calibri"/>
                <a:sym typeface="Calibri"/>
              </a:defRPr>
            </a:lvl1pPr>
          </a:lstStyle>
          <a:p>
            <a:pPr/>
            <a:r>
              <a:t>6 / 15</a:t>
            </a:r>
          </a:p>
        </p:txBody>
      </p:sp>
      <p:graphicFrame>
        <p:nvGraphicFramePr>
          <p:cNvPr id="213" name="Google Shape;175;p21"/>
          <p:cNvGraphicFramePr/>
          <p:nvPr/>
        </p:nvGraphicFramePr>
        <p:xfrm>
          <a:off x="425715" y="2791654"/>
          <a:ext cx="3712675" cy="1922626"/>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718125"/>
                <a:gridCol w="1015775"/>
                <a:gridCol w="585900"/>
                <a:gridCol w="500349"/>
                <a:gridCol w="892525"/>
              </a:tblGrid>
              <a:tr h="406875">
                <a:tc>
                  <a:txBody>
                    <a:bodyPr/>
                    <a:lstStyle/>
                    <a:p>
                      <a:pPr algn="l">
                        <a:defRPr sz="1800"/>
                      </a:pPr>
                      <a:r>
                        <a:rPr b="1" sz="700">
                          <a:solidFill>
                            <a:srgbClr val="FFFFFF"/>
                          </a:solidFill>
                        </a:rPr>
                        <a:t>Config</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700">
                          <a:solidFill>
                            <a:srgbClr val="FFFFFF"/>
                          </a:solidFill>
                        </a:rPr>
                        <a:t>Top PyTorch Op</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700">
                          <a:solidFill>
                            <a:srgbClr val="FFFFFF"/>
                          </a:solidFill>
                        </a:rPr>
                        <a:t>Avg CUDA (ms)</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700">
                          <a:solidFill>
                            <a:srgbClr val="FFFFFF"/>
                          </a:solidFill>
                        </a:rPr>
                        <a:t>AI (FLOPs/B)</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b="1" sz="700">
                          <a:solidFill>
                            <a:srgbClr val="FFFFFF"/>
                          </a:solidFill>
                        </a:defRPr>
                      </a:pPr>
                      <a:r>
                        <a:t>Peak GPU (GB)</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r>
              <a:tr h="303150">
                <a:tc>
                  <a:txBody>
                    <a:bodyPr/>
                    <a:lstStyle/>
                    <a:p>
                      <a:pPr algn="l">
                        <a:defRPr sz="1800"/>
                      </a:pPr>
                      <a:r>
                        <a:rPr sz="700"/>
                        <a:t>FP16</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t>aten::matmul (8.2%)</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t>7,772.6</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700"/>
                      </a:pPr>
                      <a:r>
                        <a:t>57.7</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700"/>
                      </a:pPr>
                      <a:r>
                        <a:t>14.50</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r>
              <a:tr h="303150">
                <a:tc>
                  <a:txBody>
                    <a:bodyPr/>
                    <a:lstStyle/>
                    <a:p>
                      <a:pPr algn="l">
                        <a:defRPr sz="1800"/>
                      </a:pPr>
                      <a:r>
                        <a:rPr sz="700">
                          <a:solidFill>
                            <a:srgbClr val="1E293B"/>
                          </a:solidFill>
                        </a:rPr>
                        <a:t>GPTQ INT4</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QuantLinearFunction (12.7%)</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13737.0</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195.1</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chemeClr val="accent2">
                              <a:lumOff val="-2588"/>
                            </a:schemeClr>
                          </a:solidFill>
                        </a:rPr>
                        <a:t>4.29</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r>
              <a:tr h="303150">
                <a:tc>
                  <a:txBody>
                    <a:bodyPr/>
                    <a:lstStyle/>
                    <a:p>
                      <a:pPr algn="l">
                        <a:defRPr sz="1800"/>
                      </a:pPr>
                      <a:r>
                        <a:rPr sz="700">
                          <a:solidFill>
                            <a:srgbClr val="1E293B"/>
                          </a:solidFill>
                        </a:rPr>
                        <a:t>GPTQ INT8</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QuantLinearFunction (12.6%)</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13731.3</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107.2</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chemeClr val="accent2">
                              <a:lumOff val="-2588"/>
                            </a:schemeClr>
                          </a:solidFill>
                        </a:rPr>
                        <a:t>7.81</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r>
              <a:tr h="303150">
                <a:tc>
                  <a:txBody>
                    <a:bodyPr/>
                    <a:lstStyle/>
                    <a:p>
                      <a:pPr algn="l">
                        <a:defRPr sz="1800"/>
                      </a:pPr>
                      <a:r>
                        <a:rPr sz="700">
                          <a:solidFill>
                            <a:srgbClr val="1E293B"/>
                          </a:solidFill>
                        </a:rPr>
                        <a:t>AWQ INT4</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WQLinearMMFunction (9.9%)</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9,093.1</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3.2</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4.17</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r>
              <a:tr h="303150">
                <a:tc>
                  <a:txBody>
                    <a:bodyPr/>
                    <a:lstStyle/>
                    <a:p>
                      <a:pPr algn="l">
                        <a:defRPr sz="1800"/>
                      </a:pPr>
                      <a:r>
                        <a:rPr sz="700">
                          <a:solidFill>
                            <a:srgbClr val="1E293B"/>
                          </a:solidFill>
                        </a:rPr>
                        <a:t>NF4</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bitsandbytes::gemv_4bit (3.8%)</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11,171.0</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36.1</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4.38</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r>
            </a:tbl>
          </a:graphicData>
        </a:graphic>
      </p:graphicFrame>
      <p:graphicFrame>
        <p:nvGraphicFramePr>
          <p:cNvPr id="214" name="Google Shape;176;p21"/>
          <p:cNvGraphicFramePr/>
          <p:nvPr/>
        </p:nvGraphicFramePr>
        <p:xfrm>
          <a:off x="4684002" y="2791652"/>
          <a:ext cx="3974076" cy="1922626"/>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768675"/>
                <a:gridCol w="998850"/>
                <a:gridCol w="422775"/>
                <a:gridCol w="662750"/>
                <a:gridCol w="1121025"/>
              </a:tblGrid>
              <a:tr h="415875">
                <a:tc>
                  <a:txBody>
                    <a:bodyPr/>
                    <a:lstStyle/>
                    <a:p>
                      <a:pPr algn="l">
                        <a:defRPr sz="1800"/>
                      </a:pPr>
                      <a:r>
                        <a:rPr b="1" sz="700">
                          <a:solidFill>
                            <a:srgbClr val="FFFFFF"/>
                          </a:solidFill>
                        </a:rPr>
                        <a:t>Config</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700">
                          <a:solidFill>
                            <a:srgbClr val="FFFFFF"/>
                          </a:solidFill>
                        </a:rPr>
                        <a:t>Dominant Kernel</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700">
                          <a:solidFill>
                            <a:srgbClr val="FFFFFF"/>
                          </a:solidFill>
                        </a:rPr>
                        <a:t>SM%</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700">
                          <a:solidFill>
                            <a:srgbClr val="FFFFFF"/>
                          </a:solidFill>
                        </a:rPr>
                        <a:t>AI (FLOPs/B)</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700">
                          <a:solidFill>
                            <a:srgbClr val="FFFFFF"/>
                          </a:solidFill>
                        </a:rPr>
                        <a:t>Roofline</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r>
              <a:tr h="301350">
                <a:tc>
                  <a:txBody>
                    <a:bodyPr/>
                    <a:lstStyle/>
                    <a:p>
                      <a:pPr algn="l">
                        <a:defRPr sz="1800"/>
                      </a:pPr>
                      <a:r>
                        <a:rPr sz="700">
                          <a:solidFill>
                            <a:srgbClr val="1E293B"/>
                          </a:solidFill>
                        </a:rPr>
                        <a:t>FP16</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s16816gemm (cuBLAS)</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52%</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243</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DC2626"/>
                          </a:solidFill>
                        </a:rPr>
                        <a:t>Memory-bound</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r>
              <a:tr h="301350">
                <a:tc>
                  <a:txBody>
                    <a:bodyPr/>
                    <a:lstStyle/>
                    <a:p>
                      <a:pPr algn="l">
                        <a:defRPr sz="1800"/>
                      </a:pPr>
                      <a:r>
                        <a:rPr b="1" sz="700">
                          <a:solidFill>
                            <a:srgbClr val="1E293B"/>
                          </a:solidFill>
                        </a:rPr>
                        <a:t>GPTQ INT4</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b="1" sz="700">
                          <a:solidFill>
                            <a:srgbClr val="1E293B"/>
                          </a:solidFill>
                        </a:rPr>
                        <a:t>Marlin GEMM (W4A16)</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b="1" sz="700">
                          <a:solidFill>
                            <a:srgbClr val="1E293B"/>
                          </a:solidFill>
                        </a:rPr>
                        <a:t>82%</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b="1" sz="700">
                          <a:solidFill>
                            <a:srgbClr val="1E293B"/>
                          </a:solidFill>
                        </a:rPr>
                        <a:t>951</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b="1" sz="700">
                          <a:solidFill>
                            <a:srgbClr val="16A34A"/>
                          </a:solidFill>
                        </a:rPr>
                        <a:t>Compute-bound </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r>
              <a:tr h="301350">
                <a:tc>
                  <a:txBody>
                    <a:bodyPr/>
                    <a:lstStyle/>
                    <a:p>
                      <a:pPr algn="l">
                        <a:defRPr sz="1800"/>
                      </a:pPr>
                      <a:r>
                        <a:rPr sz="700">
                          <a:solidFill>
                            <a:srgbClr val="1E293B"/>
                          </a:solidFill>
                        </a:rPr>
                        <a:t>GPTQ INT8</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s16816gemm 128×128</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58%</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266</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DC2626"/>
                          </a:solidFill>
                        </a:rPr>
                        <a:t>Memory-bound</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r>
              <a:tr h="301350">
                <a:tc>
                  <a:txBody>
                    <a:bodyPr/>
                    <a:lstStyle/>
                    <a:p>
                      <a:pPr algn="l">
                        <a:defRPr sz="1800"/>
                      </a:pPr>
                      <a:r>
                        <a:rPr sz="700">
                          <a:solidFill>
                            <a:srgbClr val="1E293B"/>
                          </a:solidFill>
                        </a:rPr>
                        <a:t>AWQ INT4</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awq_gemm_kernel</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67%</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1865</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Compute-bound (prefill)</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r>
              <a:tr h="301350">
                <a:tc>
                  <a:txBody>
                    <a:bodyPr/>
                    <a:lstStyle/>
                    <a:p>
                      <a:pPr algn="l">
                        <a:defRPr sz="1800"/>
                      </a:pPr>
                      <a:r>
                        <a:rPr sz="700">
                          <a:solidFill>
                            <a:srgbClr val="1E293B"/>
                          </a:solidFill>
                        </a:rPr>
                        <a:t>NF4</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kDequantize Blockwise</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81%</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388</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c>
                  <a:txBody>
                    <a:bodyPr/>
                    <a:lstStyle/>
                    <a:p>
                      <a:pPr algn="l">
                        <a:defRPr sz="1800"/>
                      </a:pPr>
                      <a:r>
                        <a:rPr sz="700">
                          <a:solidFill>
                            <a:srgbClr val="1E293B"/>
                          </a:solidFill>
                        </a:rPr>
                        <a:t>Near ridge</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FFFFF"/>
                    </a:solidFill>
                  </a:tcPr>
                </a:tc>
              </a:tr>
            </a:tbl>
          </a:graphicData>
        </a:graphic>
      </p:graphicFrame>
      <p:grpSp>
        <p:nvGrpSpPr>
          <p:cNvPr id="217" name="Google Shape;177;p21"/>
          <p:cNvGrpSpPr/>
          <p:nvPr/>
        </p:nvGrpSpPr>
        <p:grpSpPr>
          <a:xfrm>
            <a:off x="4439206" y="4896582"/>
            <a:ext cx="4463701" cy="219600"/>
            <a:chOff x="0" y="0"/>
            <a:chExt cx="4463700" cy="219598"/>
          </a:xfrm>
        </p:grpSpPr>
        <p:sp>
          <p:nvSpPr>
            <p:cNvPr id="215" name="Rectangle"/>
            <p:cNvSpPr/>
            <p:nvPr/>
          </p:nvSpPr>
          <p:spPr>
            <a:xfrm flipH="1">
              <a:off x="0" y="0"/>
              <a:ext cx="4463701" cy="219599"/>
            </a:xfrm>
            <a:prstGeom prst="rect">
              <a:avLst/>
            </a:prstGeom>
            <a:noFill/>
            <a:ln w="9525" cap="flat">
              <a:solidFill>
                <a:srgbClr val="FFFFFF"/>
              </a:solidFill>
              <a:prstDash val="solid"/>
              <a:round/>
            </a:ln>
            <a:effectLst/>
          </p:spPr>
          <p:txBody>
            <a:bodyPr wrap="square" lIns="0" tIns="0" rIns="0" bIns="0" numCol="1" anchor="ctr">
              <a:noAutofit/>
            </a:bodyPr>
            <a:lstStyle/>
            <a:p>
              <a:pPr algn="ctr">
                <a:defRPr sz="1000">
                  <a:latin typeface="Calibri"/>
                  <a:ea typeface="Calibri"/>
                  <a:cs typeface="Calibri"/>
                  <a:sym typeface="Calibri"/>
                </a:defRPr>
              </a:pPr>
            </a:p>
          </p:txBody>
        </p:sp>
        <p:sp>
          <p:nvSpPr>
            <p:cNvPr id="216" name="Roofline  (NVIDIA L4, prefill seq=128)"/>
            <p:cNvSpPr txBox="1"/>
            <p:nvPr/>
          </p:nvSpPr>
          <p:spPr>
            <a:xfrm>
              <a:off x="4762" y="41264"/>
              <a:ext cx="4454176" cy="1370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z="1000">
                  <a:solidFill>
                    <a:srgbClr val="0F172A"/>
                  </a:solidFill>
                  <a:latin typeface="Calibri"/>
                  <a:ea typeface="Calibri"/>
                  <a:cs typeface="Calibri"/>
                  <a:sym typeface="Calibri"/>
                </a:defRPr>
              </a:lvl1pPr>
            </a:lstStyle>
            <a:p>
              <a:pPr/>
              <a:r>
                <a:t>Roofline  (NVIDIA L4, prefill seq=128)</a:t>
              </a:r>
            </a:p>
          </p:txBody>
        </p:sp>
      </p:grpSp>
      <p:grpSp>
        <p:nvGrpSpPr>
          <p:cNvPr id="220" name="Google Shape;178;p21"/>
          <p:cNvGrpSpPr/>
          <p:nvPr/>
        </p:nvGrpSpPr>
        <p:grpSpPr>
          <a:xfrm>
            <a:off x="50200" y="4758878"/>
            <a:ext cx="4463701" cy="495001"/>
            <a:chOff x="0" y="0"/>
            <a:chExt cx="4463700" cy="495000"/>
          </a:xfrm>
        </p:grpSpPr>
        <p:sp>
          <p:nvSpPr>
            <p:cNvPr id="218" name="Rectangle"/>
            <p:cNvSpPr/>
            <p:nvPr/>
          </p:nvSpPr>
          <p:spPr>
            <a:xfrm flipH="1">
              <a:off x="0" y="0"/>
              <a:ext cx="4463701" cy="495001"/>
            </a:xfrm>
            <a:prstGeom prst="rect">
              <a:avLst/>
            </a:prstGeom>
            <a:noFill/>
            <a:ln w="9525" cap="flat">
              <a:solidFill>
                <a:srgbClr val="FFFFFF"/>
              </a:solidFill>
              <a:prstDash val="solid"/>
              <a:round/>
            </a:ln>
            <a:effectLst/>
          </p:spPr>
          <p:txBody>
            <a:bodyPr wrap="square" lIns="0" tIns="0" rIns="0" bIns="0" numCol="1" anchor="ctr">
              <a:noAutofit/>
            </a:bodyPr>
            <a:lstStyle/>
            <a:p>
              <a:pPr algn="ctr">
                <a:defRPr sz="1000">
                  <a:latin typeface="Calibri"/>
                  <a:ea typeface="Calibri"/>
                  <a:cs typeface="Calibri"/>
                  <a:sym typeface="Calibri"/>
                </a:defRPr>
              </a:pPr>
            </a:p>
          </p:txBody>
        </p:sp>
        <p:sp>
          <p:nvSpPr>
            <p:cNvPr id="219" name="Pytorch Profiling (A100 80GB Kineto CUDA profiling)"/>
            <p:cNvSpPr txBox="1"/>
            <p:nvPr/>
          </p:nvSpPr>
          <p:spPr>
            <a:xfrm>
              <a:off x="4762" y="178964"/>
              <a:ext cx="4454176" cy="13707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z="1000">
                  <a:solidFill>
                    <a:srgbClr val="0F172A"/>
                  </a:solidFill>
                  <a:latin typeface="Calibri"/>
                  <a:ea typeface="Calibri"/>
                  <a:cs typeface="Calibri"/>
                  <a:sym typeface="Calibri"/>
                </a:defRPr>
              </a:lvl1pPr>
            </a:lstStyle>
            <a:p>
              <a:pPr/>
              <a:r>
                <a:t>Pytorch Profiling (A100 80GB Kineto CUDA profiling)</a:t>
              </a:r>
            </a:p>
          </p:txBody>
        </p:sp>
      </p:gr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2" name="Google Shape;183;p22"/>
          <p:cNvSpPr txBox="1"/>
          <p:nvPr/>
        </p:nvSpPr>
        <p:spPr>
          <a:xfrm>
            <a:off x="342899" y="440531"/>
            <a:ext cx="8455802" cy="3533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chemeClr val="accent2">
                    <a:lumOff val="-2588"/>
                  </a:schemeClr>
                </a:solidFill>
                <a:latin typeface="Calibri"/>
                <a:ea typeface="Calibri"/>
                <a:cs typeface="Calibri"/>
                <a:sym typeface="Calibri"/>
              </a:defRPr>
            </a:lvl1pPr>
          </a:lstStyle>
          <a:p>
            <a:pPr/>
            <a:r>
              <a:t>Roofline Analysis </a:t>
            </a:r>
          </a:p>
        </p:txBody>
      </p:sp>
      <p:sp>
        <p:nvSpPr>
          <p:cNvPr id="223" name="Google Shape;184;p22"/>
          <p:cNvSpPr/>
          <p:nvPr/>
        </p:nvSpPr>
        <p:spPr>
          <a:xfrm>
            <a:off x="342899" y="891539"/>
            <a:ext cx="8455802" cy="1"/>
          </a:xfrm>
          <a:prstGeom prst="line">
            <a:avLst/>
          </a:prstGeom>
          <a:ln>
            <a:solidFill>
              <a:srgbClr val="D9D9D9"/>
            </a:solidFill>
          </a:ln>
        </p:spPr>
        <p:txBody>
          <a:bodyPr lIns="0" tIns="0" rIns="0" bIns="0"/>
          <a:lstStyle/>
          <a:p>
            <a:pPr/>
          </a:p>
        </p:txBody>
      </p:sp>
      <p:pic>
        <p:nvPicPr>
          <p:cNvPr id="224" name="Google Shape;185;p22" descr="Google Shape;185;p22"/>
          <p:cNvPicPr>
            <a:picLocks noChangeAspect="1"/>
          </p:cNvPicPr>
          <p:nvPr/>
        </p:nvPicPr>
        <p:blipFill>
          <a:blip r:embed="rId2">
            <a:extLst/>
          </a:blip>
          <a:stretch>
            <a:fillRect/>
          </a:stretch>
        </p:blipFill>
        <p:spPr>
          <a:xfrm>
            <a:off x="0" y="1543449"/>
            <a:ext cx="4529224" cy="2740077"/>
          </a:xfrm>
          <a:prstGeom prst="rect">
            <a:avLst/>
          </a:prstGeom>
          <a:ln w="12700">
            <a:miter lim="400000"/>
          </a:ln>
        </p:spPr>
      </p:pic>
      <p:pic>
        <p:nvPicPr>
          <p:cNvPr id="225" name="Google Shape;186;p22" descr="Google Shape;186;p22"/>
          <p:cNvPicPr>
            <a:picLocks noChangeAspect="1"/>
          </p:cNvPicPr>
          <p:nvPr/>
        </p:nvPicPr>
        <p:blipFill>
          <a:blip r:embed="rId3">
            <a:extLst/>
          </a:blip>
          <a:stretch>
            <a:fillRect/>
          </a:stretch>
        </p:blipFill>
        <p:spPr>
          <a:xfrm>
            <a:off x="4529225" y="1543449"/>
            <a:ext cx="4269476" cy="2633825"/>
          </a:xfrm>
          <a:prstGeom prst="rect">
            <a:avLst/>
          </a:prstGeom>
          <a:ln w="12700">
            <a:miter lim="400000"/>
          </a:ln>
        </p:spPr>
      </p:pic>
      <p:sp>
        <p:nvSpPr>
          <p:cNvPr id="226" name="Google Shape;187;p22"/>
          <p:cNvSpPr txBox="1"/>
          <p:nvPr/>
        </p:nvSpPr>
        <p:spPr>
          <a:xfrm>
            <a:off x="1439313" y="4369075"/>
            <a:ext cx="1650601" cy="319921"/>
          </a:xfrm>
          <a:prstGeom prst="rect">
            <a:avLst/>
          </a:prstGeom>
          <a:ln w="12700">
            <a:miter lim="400000"/>
          </a:ln>
          <a:extLst>
            <a:ext uri="{C572A759-6A51-4108-AA02-DFA0A04FC94B}">
              <ma14:wrappingTextBoxFlag xmlns:ma14="http://schemas.microsoft.com/office/mac/drawingml/2011/main" val="1"/>
            </a:ext>
          </a:extLst>
        </p:spPr>
        <p:txBody>
          <a:bodyPr lIns="91424" tIns="91424" rIns="91424" bIns="91424">
            <a:spAutoFit/>
          </a:bodyPr>
          <a:lstStyle>
            <a:lvl1pPr>
              <a:spcBef>
                <a:spcPts val="600"/>
              </a:spcBef>
              <a:defRPr sz="1000">
                <a:solidFill>
                  <a:schemeClr val="accent2">
                    <a:lumOff val="-2588"/>
                  </a:schemeClr>
                </a:solidFill>
                <a:latin typeface="Calibri"/>
                <a:ea typeface="Calibri"/>
                <a:cs typeface="Calibri"/>
                <a:sym typeface="Calibri"/>
              </a:defRPr>
            </a:lvl1pPr>
          </a:lstStyle>
          <a:p>
            <a:pPr/>
            <a:r>
              <a:t>Roofline - NSight Profiler</a:t>
            </a:r>
          </a:p>
        </p:txBody>
      </p:sp>
      <p:sp>
        <p:nvSpPr>
          <p:cNvPr id="227" name="Google Shape;188;p22"/>
          <p:cNvSpPr txBox="1"/>
          <p:nvPr/>
        </p:nvSpPr>
        <p:spPr>
          <a:xfrm>
            <a:off x="5989913" y="4369075"/>
            <a:ext cx="1650601" cy="319921"/>
          </a:xfrm>
          <a:prstGeom prst="rect">
            <a:avLst/>
          </a:prstGeom>
          <a:ln w="12700">
            <a:miter lim="400000"/>
          </a:ln>
          <a:extLst>
            <a:ext uri="{C572A759-6A51-4108-AA02-DFA0A04FC94B}">
              <ma14:wrappingTextBoxFlag xmlns:ma14="http://schemas.microsoft.com/office/mac/drawingml/2011/main" val="1"/>
            </a:ext>
          </a:extLst>
        </p:spPr>
        <p:txBody>
          <a:bodyPr lIns="91424" tIns="91424" rIns="91424" bIns="91424">
            <a:spAutoFit/>
          </a:bodyPr>
          <a:lstStyle>
            <a:lvl1pPr>
              <a:spcBef>
                <a:spcPts val="600"/>
              </a:spcBef>
              <a:defRPr sz="1000">
                <a:solidFill>
                  <a:schemeClr val="accent2">
                    <a:lumOff val="-2588"/>
                  </a:schemeClr>
                </a:solidFill>
                <a:latin typeface="Calibri"/>
                <a:ea typeface="Calibri"/>
                <a:cs typeface="Calibri"/>
                <a:sym typeface="Calibri"/>
              </a:defRPr>
            </a:lvl1pPr>
          </a:lstStyle>
          <a:p>
            <a:pPr/>
            <a:r>
              <a:t>Roofline - PyTorch Profiler</a:t>
            </a:r>
          </a:p>
        </p:txBody>
      </p:sp>
      <p:sp>
        <p:nvSpPr>
          <p:cNvPr id="228" name="Google Shape;189;p22"/>
          <p:cNvSpPr txBox="1"/>
          <p:nvPr/>
        </p:nvSpPr>
        <p:spPr>
          <a:xfrm>
            <a:off x="7726680" y="4856031"/>
            <a:ext cx="9144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900">
                <a:solidFill>
                  <a:srgbClr val="64748B"/>
                </a:solidFill>
                <a:latin typeface="Calibri"/>
                <a:ea typeface="Calibri"/>
                <a:cs typeface="Calibri"/>
                <a:sym typeface="Calibri"/>
              </a:defRPr>
            </a:lvl1pPr>
          </a:lstStyle>
          <a:p>
            <a:pPr/>
            <a:r>
              <a:t>7 / 15</a:t>
            </a:r>
          </a:p>
        </p:txBody>
      </p:sp>
      <p:sp>
        <p:nvSpPr>
          <p:cNvPr id="229" name="Google Shape;190;p22"/>
          <p:cNvSpPr txBox="1"/>
          <p:nvPr/>
        </p:nvSpPr>
        <p:spPr>
          <a:xfrm>
            <a:off x="502919" y="4856031"/>
            <a:ext cx="2743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900">
                <a:solidFill>
                  <a:srgbClr val="64748B"/>
                </a:solidFill>
                <a:latin typeface="Calibri"/>
                <a:ea typeface="Calibri"/>
                <a:cs typeface="Calibri"/>
                <a:sym typeface="Calibri"/>
              </a:defRPr>
            </a:lvl1pPr>
          </a:lstStyle>
          <a:p>
            <a:pPr/>
            <a:r>
              <a:t>HPML · Spring 2026</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1" name="Google Shape;196;p23"/>
          <p:cNvSpPr txBox="1"/>
          <p:nvPr/>
        </p:nvSpPr>
        <p:spPr>
          <a:xfrm>
            <a:off x="502919" y="262259"/>
            <a:ext cx="8138102" cy="35331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rgbClr val="0F172A"/>
                </a:solidFill>
                <a:latin typeface="Calibri"/>
                <a:ea typeface="Calibri"/>
                <a:cs typeface="Calibri"/>
                <a:sym typeface="Calibri"/>
              </a:defRPr>
            </a:lvl1pPr>
          </a:lstStyle>
          <a:p>
            <a:pPr/>
            <a:r>
              <a:t>GPU Profiling - vLLM Throughput</a:t>
            </a:r>
          </a:p>
        </p:txBody>
      </p:sp>
      <p:sp>
        <p:nvSpPr>
          <p:cNvPr id="232" name="Google Shape;197;p23"/>
          <p:cNvSpPr/>
          <p:nvPr/>
        </p:nvSpPr>
        <p:spPr>
          <a:xfrm>
            <a:off x="502919" y="694944"/>
            <a:ext cx="8138102" cy="1"/>
          </a:xfrm>
          <a:prstGeom prst="line">
            <a:avLst/>
          </a:prstGeom>
          <a:ln>
            <a:solidFill>
              <a:srgbClr val="E2E8F0"/>
            </a:solidFill>
          </a:ln>
        </p:spPr>
        <p:txBody>
          <a:bodyPr lIns="0" tIns="0" rIns="0" bIns="0"/>
          <a:lstStyle/>
          <a:p>
            <a:pPr/>
          </a:p>
        </p:txBody>
      </p:sp>
      <p:sp>
        <p:nvSpPr>
          <p:cNvPr id="233" name="Google Shape;198;p23"/>
          <p:cNvSpPr txBox="1"/>
          <p:nvPr/>
        </p:nvSpPr>
        <p:spPr>
          <a:xfrm>
            <a:off x="502919" y="4856031"/>
            <a:ext cx="2743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900">
                <a:solidFill>
                  <a:srgbClr val="64748B"/>
                </a:solidFill>
                <a:latin typeface="Calibri"/>
                <a:ea typeface="Calibri"/>
                <a:cs typeface="Calibri"/>
                <a:sym typeface="Calibri"/>
              </a:defRPr>
            </a:lvl1pPr>
          </a:lstStyle>
          <a:p>
            <a:pPr/>
            <a:r>
              <a:t>HPML · Spring 2026</a:t>
            </a:r>
          </a:p>
        </p:txBody>
      </p:sp>
      <p:sp>
        <p:nvSpPr>
          <p:cNvPr id="234" name="Google Shape;199;p23"/>
          <p:cNvSpPr txBox="1"/>
          <p:nvPr/>
        </p:nvSpPr>
        <p:spPr>
          <a:xfrm>
            <a:off x="7726680" y="4856031"/>
            <a:ext cx="9144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900">
                <a:solidFill>
                  <a:srgbClr val="64748B"/>
                </a:solidFill>
                <a:latin typeface="Calibri"/>
                <a:ea typeface="Calibri"/>
                <a:cs typeface="Calibri"/>
                <a:sym typeface="Calibri"/>
              </a:defRPr>
            </a:lvl1pPr>
          </a:lstStyle>
          <a:p>
            <a:pPr/>
            <a:r>
              <a:t>8 / 15</a:t>
            </a:r>
          </a:p>
        </p:txBody>
      </p:sp>
      <p:sp>
        <p:nvSpPr>
          <p:cNvPr id="235" name="Google Shape;200;p23"/>
          <p:cNvSpPr/>
          <p:nvPr/>
        </p:nvSpPr>
        <p:spPr>
          <a:xfrm>
            <a:off x="292608" y="896111"/>
            <a:ext cx="5303400" cy="4069202"/>
          </a:xfrm>
          <a:prstGeom prst="rect">
            <a:avLst/>
          </a:prstGeom>
          <a:solidFill>
            <a:srgbClr val="F8FAFC"/>
          </a:solidFill>
          <a:ln>
            <a:solidFill>
              <a:srgbClr val="E2E8F0"/>
            </a:solidFill>
          </a:ln>
          <a:effectLst>
            <a:outerShdw sx="100000" sy="100000" kx="0" ky="0" algn="b" rotWithShape="0" blurRad="63500" dist="12700" dir="8100000">
              <a:srgbClr val="94A3B8">
                <a:alpha val="18040"/>
              </a:srgbClr>
            </a:outerShdw>
          </a:effectLst>
        </p:spPr>
        <p:txBody>
          <a:bodyPr lIns="0" tIns="0" rIns="0" bIns="0" anchor="ctr"/>
          <a:lstStyle/>
          <a:p>
            <a:pPr/>
          </a:p>
        </p:txBody>
      </p:sp>
      <p:sp>
        <p:nvSpPr>
          <p:cNvPr id="236" name="Google Shape;201;p23"/>
          <p:cNvSpPr/>
          <p:nvPr/>
        </p:nvSpPr>
        <p:spPr>
          <a:xfrm>
            <a:off x="292608" y="896111"/>
            <a:ext cx="54900" cy="4069202"/>
          </a:xfrm>
          <a:prstGeom prst="rect">
            <a:avLst/>
          </a:prstGeom>
          <a:solidFill>
            <a:srgbClr val="0284C7"/>
          </a:solidFill>
          <a:ln w="12700">
            <a:solidFill>
              <a:srgbClr val="0284C7"/>
            </a:solidFill>
          </a:ln>
        </p:spPr>
        <p:txBody>
          <a:bodyPr lIns="0" tIns="0" rIns="0" bIns="0" anchor="ctr"/>
          <a:lstStyle/>
          <a:p>
            <a:pPr/>
          </a:p>
        </p:txBody>
      </p:sp>
      <p:sp>
        <p:nvSpPr>
          <p:cNvPr id="237" name="Google Shape;202;p23"/>
          <p:cNvSpPr txBox="1"/>
          <p:nvPr/>
        </p:nvSpPr>
        <p:spPr>
          <a:xfrm>
            <a:off x="438912" y="1009643"/>
            <a:ext cx="50292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284C7"/>
                </a:solidFill>
                <a:latin typeface="Calibri"/>
                <a:ea typeface="Calibri"/>
                <a:cs typeface="Calibri"/>
                <a:sym typeface="Calibri"/>
              </a:defRPr>
            </a:lvl1pPr>
          </a:lstStyle>
          <a:p>
            <a:pPr/>
            <a:r>
              <a:t>Mistral-7B</a:t>
            </a:r>
          </a:p>
        </p:txBody>
      </p:sp>
      <p:sp>
        <p:nvSpPr>
          <p:cNvPr id="238" name="Google Shape;203;p23"/>
          <p:cNvSpPr txBox="1"/>
          <p:nvPr/>
        </p:nvSpPr>
        <p:spPr>
          <a:xfrm>
            <a:off x="347472" y="1507211"/>
            <a:ext cx="1097401" cy="23157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r">
              <a:defRPr sz="800">
                <a:solidFill>
                  <a:srgbClr val="64748B"/>
                </a:solidFill>
                <a:latin typeface="Calibri"/>
                <a:ea typeface="Calibri"/>
                <a:cs typeface="Calibri"/>
                <a:sym typeface="Calibri"/>
              </a:defRPr>
            </a:pPr>
            <a:r>
              <a:t>FP16</a:t>
            </a:r>
          </a:p>
          <a:p>
            <a:pPr algn="r">
              <a:defRPr sz="800">
                <a:solidFill>
                  <a:srgbClr val="64748B"/>
                </a:solidFill>
                <a:latin typeface="Calibri"/>
                <a:ea typeface="Calibri"/>
                <a:cs typeface="Calibri"/>
                <a:sym typeface="Calibri"/>
              </a:defRPr>
            </a:pPr>
            <a:r>
              <a:t>(cuBLAS)</a:t>
            </a:r>
          </a:p>
        </p:txBody>
      </p:sp>
      <p:sp>
        <p:nvSpPr>
          <p:cNvPr id="239" name="Google Shape;204;p23"/>
          <p:cNvSpPr/>
          <p:nvPr/>
        </p:nvSpPr>
        <p:spPr>
          <a:xfrm>
            <a:off x="1481327" y="1463039"/>
            <a:ext cx="3749101" cy="292501"/>
          </a:xfrm>
          <a:prstGeom prst="rect">
            <a:avLst/>
          </a:prstGeom>
          <a:solidFill>
            <a:srgbClr val="EFF6FF"/>
          </a:solidFill>
          <a:ln>
            <a:solidFill>
              <a:srgbClr val="E2E8F0"/>
            </a:solidFill>
          </a:ln>
        </p:spPr>
        <p:txBody>
          <a:bodyPr lIns="0" tIns="0" rIns="0" bIns="0" anchor="ctr"/>
          <a:lstStyle/>
          <a:p>
            <a:pPr/>
          </a:p>
        </p:txBody>
      </p:sp>
      <p:sp>
        <p:nvSpPr>
          <p:cNvPr id="240" name="Google Shape;205;p23"/>
          <p:cNvSpPr/>
          <p:nvPr/>
        </p:nvSpPr>
        <p:spPr>
          <a:xfrm>
            <a:off x="1481327" y="1463039"/>
            <a:ext cx="1962301" cy="292501"/>
          </a:xfrm>
          <a:prstGeom prst="rect">
            <a:avLst/>
          </a:prstGeom>
          <a:solidFill>
            <a:srgbClr val="6366F1"/>
          </a:solidFill>
          <a:ln w="12700">
            <a:solidFill>
              <a:srgbClr val="6366F1"/>
            </a:solidFill>
          </a:ln>
        </p:spPr>
        <p:txBody>
          <a:bodyPr lIns="0" tIns="0" rIns="0" bIns="0" anchor="ctr"/>
          <a:lstStyle/>
          <a:p>
            <a:pPr/>
          </a:p>
        </p:txBody>
      </p:sp>
      <p:sp>
        <p:nvSpPr>
          <p:cNvPr id="241" name="Google Shape;206;p23"/>
          <p:cNvSpPr txBox="1"/>
          <p:nvPr/>
        </p:nvSpPr>
        <p:spPr>
          <a:xfrm>
            <a:off x="3534974" y="1545778"/>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900">
                <a:solidFill>
                  <a:srgbClr val="16A34A"/>
                </a:solidFill>
                <a:latin typeface="Calibri"/>
                <a:ea typeface="Calibri"/>
                <a:cs typeface="Calibri"/>
                <a:sym typeface="Calibri"/>
              </a:defRPr>
            </a:lvl1pPr>
          </a:lstStyle>
          <a:p>
            <a:pPr/>
            <a:r>
              <a:t>942 tok/s  (baseline)</a:t>
            </a:r>
          </a:p>
        </p:txBody>
      </p:sp>
      <p:sp>
        <p:nvSpPr>
          <p:cNvPr id="242" name="Google Shape;207;p23"/>
          <p:cNvSpPr txBox="1"/>
          <p:nvPr/>
        </p:nvSpPr>
        <p:spPr>
          <a:xfrm>
            <a:off x="347472" y="2193011"/>
            <a:ext cx="1097401" cy="23157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r">
              <a:defRPr sz="800">
                <a:solidFill>
                  <a:srgbClr val="64748B"/>
                </a:solidFill>
                <a:latin typeface="Calibri"/>
                <a:ea typeface="Calibri"/>
                <a:cs typeface="Calibri"/>
                <a:sym typeface="Calibri"/>
              </a:defRPr>
            </a:pPr>
            <a:r>
              <a:t>GPTQ INT4</a:t>
            </a:r>
          </a:p>
          <a:p>
            <a:pPr algn="r">
              <a:defRPr sz="800">
                <a:solidFill>
                  <a:srgbClr val="64748B"/>
                </a:solidFill>
                <a:latin typeface="Calibri"/>
                <a:ea typeface="Calibri"/>
                <a:cs typeface="Calibri"/>
                <a:sym typeface="Calibri"/>
              </a:defRPr>
            </a:pPr>
            <a:r>
              <a:t>(Marlin)</a:t>
            </a:r>
          </a:p>
        </p:txBody>
      </p:sp>
      <p:sp>
        <p:nvSpPr>
          <p:cNvPr id="243" name="Google Shape;208;p23"/>
          <p:cNvSpPr/>
          <p:nvPr/>
        </p:nvSpPr>
        <p:spPr>
          <a:xfrm>
            <a:off x="1481327" y="2148839"/>
            <a:ext cx="3749101" cy="292501"/>
          </a:xfrm>
          <a:prstGeom prst="rect">
            <a:avLst/>
          </a:prstGeom>
          <a:solidFill>
            <a:srgbClr val="EFF6FF"/>
          </a:solidFill>
          <a:ln>
            <a:solidFill>
              <a:srgbClr val="E2E8F0"/>
            </a:solidFill>
          </a:ln>
        </p:spPr>
        <p:txBody>
          <a:bodyPr lIns="0" tIns="0" rIns="0" bIns="0" anchor="ctr"/>
          <a:lstStyle/>
          <a:p>
            <a:pPr/>
          </a:p>
        </p:txBody>
      </p:sp>
      <p:sp>
        <p:nvSpPr>
          <p:cNvPr id="244" name="Google Shape;209;p23"/>
          <p:cNvSpPr/>
          <p:nvPr/>
        </p:nvSpPr>
        <p:spPr>
          <a:xfrm>
            <a:off x="1481327" y="2148839"/>
            <a:ext cx="3493201" cy="292501"/>
          </a:xfrm>
          <a:prstGeom prst="rect">
            <a:avLst/>
          </a:prstGeom>
          <a:solidFill>
            <a:srgbClr val="16A34A"/>
          </a:solidFill>
          <a:ln w="12700">
            <a:solidFill>
              <a:srgbClr val="16A34A"/>
            </a:solidFill>
          </a:ln>
        </p:spPr>
        <p:txBody>
          <a:bodyPr lIns="0" tIns="0" rIns="0" bIns="0" anchor="ctr"/>
          <a:lstStyle/>
          <a:p>
            <a:pPr/>
          </a:p>
        </p:txBody>
      </p:sp>
      <p:sp>
        <p:nvSpPr>
          <p:cNvPr id="245" name="Google Shape;210;p23"/>
          <p:cNvSpPr txBox="1"/>
          <p:nvPr/>
        </p:nvSpPr>
        <p:spPr>
          <a:xfrm>
            <a:off x="5010972" y="2098163"/>
            <a:ext cx="585001" cy="39387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900">
                <a:solidFill>
                  <a:srgbClr val="16A34A"/>
                </a:solidFill>
                <a:latin typeface="Calibri"/>
                <a:ea typeface="Calibri"/>
                <a:cs typeface="Calibri"/>
                <a:sym typeface="Calibri"/>
              </a:defRPr>
            </a:lvl1pPr>
          </a:lstStyle>
          <a:p>
            <a:pPr/>
            <a:r>
              <a:t>1677 tok/s  (1.78× FP16)</a:t>
            </a:r>
          </a:p>
        </p:txBody>
      </p:sp>
      <p:sp>
        <p:nvSpPr>
          <p:cNvPr id="246" name="Google Shape;211;p23"/>
          <p:cNvSpPr txBox="1"/>
          <p:nvPr/>
        </p:nvSpPr>
        <p:spPr>
          <a:xfrm>
            <a:off x="347472" y="2878811"/>
            <a:ext cx="1097401" cy="23157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r">
              <a:defRPr sz="800">
                <a:solidFill>
                  <a:srgbClr val="64748B"/>
                </a:solidFill>
                <a:latin typeface="Calibri"/>
                <a:ea typeface="Calibri"/>
                <a:cs typeface="Calibri"/>
                <a:sym typeface="Calibri"/>
              </a:defRPr>
            </a:pPr>
            <a:r>
              <a:t>GPTQ INT8</a:t>
            </a:r>
          </a:p>
          <a:p>
            <a:pPr algn="r">
              <a:defRPr sz="800">
                <a:solidFill>
                  <a:srgbClr val="64748B"/>
                </a:solidFill>
                <a:latin typeface="Calibri"/>
                <a:ea typeface="Calibri"/>
                <a:cs typeface="Calibri"/>
                <a:sym typeface="Calibri"/>
              </a:defRPr>
            </a:pPr>
            <a:r>
              <a:t>(exllama)</a:t>
            </a:r>
          </a:p>
        </p:txBody>
      </p:sp>
      <p:sp>
        <p:nvSpPr>
          <p:cNvPr id="247" name="Google Shape;212;p23"/>
          <p:cNvSpPr/>
          <p:nvPr/>
        </p:nvSpPr>
        <p:spPr>
          <a:xfrm>
            <a:off x="1481327" y="2834639"/>
            <a:ext cx="3749101" cy="292501"/>
          </a:xfrm>
          <a:prstGeom prst="rect">
            <a:avLst/>
          </a:prstGeom>
          <a:solidFill>
            <a:srgbClr val="EFF6FF"/>
          </a:solidFill>
          <a:ln>
            <a:solidFill>
              <a:srgbClr val="E2E8F0"/>
            </a:solidFill>
          </a:ln>
        </p:spPr>
        <p:txBody>
          <a:bodyPr lIns="0" tIns="0" rIns="0" bIns="0" anchor="ctr"/>
          <a:lstStyle/>
          <a:p>
            <a:pPr/>
          </a:p>
        </p:txBody>
      </p:sp>
      <p:sp>
        <p:nvSpPr>
          <p:cNvPr id="248" name="Google Shape;213;p23"/>
          <p:cNvSpPr/>
          <p:nvPr/>
        </p:nvSpPr>
        <p:spPr>
          <a:xfrm>
            <a:off x="1481327" y="2834639"/>
            <a:ext cx="927902" cy="292501"/>
          </a:xfrm>
          <a:prstGeom prst="rect">
            <a:avLst/>
          </a:prstGeom>
          <a:solidFill>
            <a:srgbClr val="DC2626"/>
          </a:solidFill>
          <a:ln w="12700">
            <a:solidFill>
              <a:srgbClr val="DC2626"/>
            </a:solidFill>
          </a:ln>
        </p:spPr>
        <p:txBody>
          <a:bodyPr lIns="0" tIns="0" rIns="0" bIns="0" anchor="ctr"/>
          <a:lstStyle/>
          <a:p>
            <a:pPr/>
          </a:p>
        </p:txBody>
      </p:sp>
      <p:sp>
        <p:nvSpPr>
          <p:cNvPr id="249" name="Google Shape;214;p23"/>
          <p:cNvSpPr txBox="1"/>
          <p:nvPr/>
        </p:nvSpPr>
        <p:spPr>
          <a:xfrm>
            <a:off x="2500654" y="2917377"/>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rgbClr val="DC2626"/>
                </a:solidFill>
                <a:latin typeface="Calibri"/>
                <a:ea typeface="Calibri"/>
                <a:cs typeface="Calibri"/>
                <a:sym typeface="Calibri"/>
              </a:defRPr>
            </a:lvl1pPr>
          </a:lstStyle>
          <a:p>
            <a:pPr/>
            <a:r>
              <a:t>446 tok/s  (0.47× FP16)</a:t>
            </a:r>
          </a:p>
        </p:txBody>
      </p:sp>
      <p:sp>
        <p:nvSpPr>
          <p:cNvPr id="250" name="Google Shape;215;p23"/>
          <p:cNvSpPr txBox="1"/>
          <p:nvPr/>
        </p:nvSpPr>
        <p:spPr>
          <a:xfrm>
            <a:off x="347472" y="3564611"/>
            <a:ext cx="1097401" cy="23157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r">
              <a:defRPr sz="800">
                <a:solidFill>
                  <a:srgbClr val="64748B"/>
                </a:solidFill>
                <a:latin typeface="Calibri"/>
                <a:ea typeface="Calibri"/>
                <a:cs typeface="Calibri"/>
                <a:sym typeface="Calibri"/>
              </a:defRPr>
            </a:pPr>
            <a:r>
              <a:t>AWQ INT4</a:t>
            </a:r>
          </a:p>
          <a:p>
            <a:pPr algn="r">
              <a:defRPr sz="800">
                <a:solidFill>
                  <a:srgbClr val="64748B"/>
                </a:solidFill>
                <a:latin typeface="Calibri"/>
                <a:ea typeface="Calibri"/>
                <a:cs typeface="Calibri"/>
                <a:sym typeface="Calibri"/>
              </a:defRPr>
            </a:pPr>
            <a:r>
              <a:t>(fused GEMV)</a:t>
            </a:r>
          </a:p>
        </p:txBody>
      </p:sp>
      <p:sp>
        <p:nvSpPr>
          <p:cNvPr id="251" name="Google Shape;216;p23"/>
          <p:cNvSpPr/>
          <p:nvPr/>
        </p:nvSpPr>
        <p:spPr>
          <a:xfrm>
            <a:off x="1481327" y="3520440"/>
            <a:ext cx="3749101" cy="292501"/>
          </a:xfrm>
          <a:prstGeom prst="rect">
            <a:avLst/>
          </a:prstGeom>
          <a:solidFill>
            <a:srgbClr val="EFF6FF"/>
          </a:solidFill>
          <a:ln>
            <a:solidFill>
              <a:srgbClr val="E2E8F0"/>
            </a:solidFill>
          </a:ln>
        </p:spPr>
        <p:txBody>
          <a:bodyPr lIns="0" tIns="0" rIns="0" bIns="0" anchor="ctr"/>
          <a:lstStyle/>
          <a:p>
            <a:pPr/>
          </a:p>
        </p:txBody>
      </p:sp>
      <p:sp>
        <p:nvSpPr>
          <p:cNvPr id="252" name="Google Shape;217;p23"/>
          <p:cNvSpPr/>
          <p:nvPr/>
        </p:nvSpPr>
        <p:spPr>
          <a:xfrm>
            <a:off x="1481327" y="3520440"/>
            <a:ext cx="431701" cy="292501"/>
          </a:xfrm>
          <a:prstGeom prst="rect">
            <a:avLst/>
          </a:prstGeom>
          <a:solidFill>
            <a:srgbClr val="D97706"/>
          </a:solidFill>
          <a:ln w="12700">
            <a:solidFill>
              <a:srgbClr val="D97706"/>
            </a:solidFill>
          </a:ln>
        </p:spPr>
        <p:txBody>
          <a:bodyPr lIns="0" tIns="0" rIns="0" bIns="0" anchor="ctr"/>
          <a:lstStyle/>
          <a:p>
            <a:pPr/>
          </a:p>
        </p:txBody>
      </p:sp>
      <p:sp>
        <p:nvSpPr>
          <p:cNvPr id="253" name="Google Shape;218;p23"/>
          <p:cNvSpPr txBox="1"/>
          <p:nvPr/>
        </p:nvSpPr>
        <p:spPr>
          <a:xfrm>
            <a:off x="2004323" y="3603178"/>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rgbClr val="DC2626"/>
                </a:solidFill>
                <a:latin typeface="Calibri"/>
                <a:ea typeface="Calibri"/>
                <a:cs typeface="Calibri"/>
                <a:sym typeface="Calibri"/>
              </a:defRPr>
            </a:lvl1pPr>
          </a:lstStyle>
          <a:p>
            <a:pPr/>
            <a:r>
              <a:t>207 tok/s  (0.22× FP16)</a:t>
            </a:r>
          </a:p>
        </p:txBody>
      </p:sp>
      <p:sp>
        <p:nvSpPr>
          <p:cNvPr id="254" name="Google Shape;219;p23"/>
          <p:cNvSpPr txBox="1"/>
          <p:nvPr/>
        </p:nvSpPr>
        <p:spPr>
          <a:xfrm>
            <a:off x="347472" y="4250411"/>
            <a:ext cx="1097401" cy="23157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r">
              <a:defRPr sz="800">
                <a:solidFill>
                  <a:srgbClr val="64748B"/>
                </a:solidFill>
                <a:latin typeface="Calibri"/>
                <a:ea typeface="Calibri"/>
                <a:cs typeface="Calibri"/>
                <a:sym typeface="Calibri"/>
              </a:defRPr>
            </a:pPr>
            <a:r>
              <a:t>NF4</a:t>
            </a:r>
          </a:p>
          <a:p>
            <a:pPr algn="r">
              <a:defRPr sz="800">
                <a:solidFill>
                  <a:srgbClr val="64748B"/>
                </a:solidFill>
                <a:latin typeface="Calibri"/>
                <a:ea typeface="Calibri"/>
                <a:cs typeface="Calibri"/>
                <a:sym typeface="Calibri"/>
              </a:defRPr>
            </a:pPr>
            <a:r>
              <a:t>(bitsandbytes†)</a:t>
            </a:r>
          </a:p>
        </p:txBody>
      </p:sp>
      <p:sp>
        <p:nvSpPr>
          <p:cNvPr id="255" name="Google Shape;220;p23"/>
          <p:cNvSpPr/>
          <p:nvPr/>
        </p:nvSpPr>
        <p:spPr>
          <a:xfrm>
            <a:off x="1481327" y="4206240"/>
            <a:ext cx="3749101" cy="292501"/>
          </a:xfrm>
          <a:prstGeom prst="rect">
            <a:avLst/>
          </a:prstGeom>
          <a:solidFill>
            <a:srgbClr val="EFF6FF"/>
          </a:solidFill>
          <a:ln>
            <a:solidFill>
              <a:srgbClr val="E2E8F0"/>
            </a:solidFill>
          </a:ln>
        </p:spPr>
        <p:txBody>
          <a:bodyPr lIns="0" tIns="0" rIns="0" bIns="0" anchor="ctr"/>
          <a:lstStyle/>
          <a:p>
            <a:pPr/>
          </a:p>
        </p:txBody>
      </p:sp>
      <p:sp>
        <p:nvSpPr>
          <p:cNvPr id="256" name="Google Shape;221;p23"/>
          <p:cNvSpPr/>
          <p:nvPr/>
        </p:nvSpPr>
        <p:spPr>
          <a:xfrm>
            <a:off x="1481327" y="4206240"/>
            <a:ext cx="185701" cy="292501"/>
          </a:xfrm>
          <a:prstGeom prst="rect">
            <a:avLst/>
          </a:prstGeom>
          <a:solidFill>
            <a:srgbClr val="94A3B8"/>
          </a:solidFill>
          <a:ln w="12700">
            <a:solidFill>
              <a:srgbClr val="94A3B8"/>
            </a:solidFill>
          </a:ln>
        </p:spPr>
        <p:txBody>
          <a:bodyPr lIns="0" tIns="0" rIns="0" bIns="0" anchor="ctr"/>
          <a:lstStyle/>
          <a:p>
            <a:pPr/>
          </a:p>
        </p:txBody>
      </p:sp>
      <p:sp>
        <p:nvSpPr>
          <p:cNvPr id="257" name="Google Shape;222;p23"/>
          <p:cNvSpPr txBox="1"/>
          <p:nvPr/>
        </p:nvSpPr>
        <p:spPr>
          <a:xfrm>
            <a:off x="1758554" y="4288978"/>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rgbClr val="DC2626"/>
                </a:solidFill>
                <a:latin typeface="Calibri"/>
                <a:ea typeface="Calibri"/>
                <a:cs typeface="Calibri"/>
                <a:sym typeface="Calibri"/>
              </a:defRPr>
            </a:lvl1pPr>
          </a:lstStyle>
          <a:p>
            <a:pPr/>
            <a:r>
              <a:t>89 tok/s  (0.09× FP16)</a:t>
            </a:r>
          </a:p>
        </p:txBody>
      </p:sp>
      <p:sp>
        <p:nvSpPr>
          <p:cNvPr id="258" name="Google Shape;223;p23"/>
          <p:cNvSpPr txBox="1"/>
          <p:nvPr/>
        </p:nvSpPr>
        <p:spPr>
          <a:xfrm>
            <a:off x="438912" y="4773729"/>
            <a:ext cx="5029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700">
                <a:solidFill>
                  <a:srgbClr val="64748B"/>
                </a:solidFill>
                <a:latin typeface="Calibri"/>
                <a:ea typeface="Calibri"/>
                <a:cs typeface="Calibri"/>
                <a:sym typeface="Calibri"/>
              </a:defRPr>
            </a:lvl1pPr>
          </a:lstStyle>
          <a:p>
            <a:pPr/>
            <a:r>
              <a:t>† HF batched fallback — not natively supported in vLLM</a:t>
            </a:r>
          </a:p>
        </p:txBody>
      </p:sp>
      <p:sp>
        <p:nvSpPr>
          <p:cNvPr id="259" name="Google Shape;224;p23"/>
          <p:cNvSpPr/>
          <p:nvPr/>
        </p:nvSpPr>
        <p:spPr>
          <a:xfrm>
            <a:off x="5833871" y="896111"/>
            <a:ext cx="2999101" cy="1115701"/>
          </a:xfrm>
          <a:prstGeom prst="rect">
            <a:avLst/>
          </a:prstGeom>
          <a:solidFill>
            <a:srgbClr val="F8FAFC"/>
          </a:solidFill>
          <a:ln>
            <a:solidFill>
              <a:srgbClr val="B6E9C7"/>
            </a:solidFill>
          </a:ln>
          <a:effectLst>
            <a:outerShdw sx="100000" sy="100000" kx="0" ky="0" algn="b" rotWithShape="0" blurRad="63500" dist="12700" dir="8100000">
              <a:srgbClr val="94A3B8">
                <a:alpha val="18040"/>
              </a:srgbClr>
            </a:outerShdw>
          </a:effectLst>
        </p:spPr>
        <p:txBody>
          <a:bodyPr lIns="0" tIns="0" rIns="0" bIns="0" anchor="ctr"/>
          <a:lstStyle/>
          <a:p>
            <a:pPr/>
          </a:p>
        </p:txBody>
      </p:sp>
      <p:sp>
        <p:nvSpPr>
          <p:cNvPr id="260" name="Google Shape;225;p23"/>
          <p:cNvSpPr/>
          <p:nvPr/>
        </p:nvSpPr>
        <p:spPr>
          <a:xfrm>
            <a:off x="5833871" y="896111"/>
            <a:ext cx="54900" cy="1115701"/>
          </a:xfrm>
          <a:prstGeom prst="rect">
            <a:avLst/>
          </a:prstGeom>
          <a:solidFill>
            <a:srgbClr val="16A34A"/>
          </a:solidFill>
          <a:ln w="12700">
            <a:solidFill>
              <a:srgbClr val="16A34A"/>
            </a:solidFill>
          </a:ln>
        </p:spPr>
        <p:txBody>
          <a:bodyPr lIns="0" tIns="0" rIns="0" bIns="0" anchor="ctr"/>
          <a:lstStyle/>
          <a:p>
            <a:pPr/>
          </a:p>
        </p:txBody>
      </p:sp>
      <p:sp>
        <p:nvSpPr>
          <p:cNvPr id="261" name="Google Shape;226;p23"/>
          <p:cNvSpPr txBox="1"/>
          <p:nvPr/>
        </p:nvSpPr>
        <p:spPr>
          <a:xfrm>
            <a:off x="5971032" y="1011792"/>
            <a:ext cx="27981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solidFill>
                  <a:srgbClr val="16A34A"/>
                </a:solidFill>
                <a:latin typeface="Calibri"/>
                <a:ea typeface="Calibri"/>
                <a:cs typeface="Calibri"/>
                <a:sym typeface="Calibri"/>
              </a:defRPr>
            </a:lvl1pPr>
          </a:lstStyle>
          <a:p>
            <a:pPr/>
            <a:r>
              <a:t>Best: GPTQ INT4 (Marlin)</a:t>
            </a:r>
          </a:p>
        </p:txBody>
      </p:sp>
      <p:sp>
        <p:nvSpPr>
          <p:cNvPr id="262" name="Google Shape;227;p23"/>
          <p:cNvSpPr txBox="1"/>
          <p:nvPr/>
        </p:nvSpPr>
        <p:spPr>
          <a:xfrm>
            <a:off x="5971032" y="1329922"/>
            <a:ext cx="2798101" cy="4672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000">
                <a:solidFill>
                  <a:srgbClr val="1E293B"/>
                </a:solidFill>
                <a:latin typeface="Calibri"/>
                <a:ea typeface="Calibri"/>
                <a:cs typeface="Calibri"/>
                <a:sym typeface="Calibri"/>
              </a:defRPr>
            </a:pPr>
            <a:r>
              <a:t>1677 tok/s  ·  1.78× FP16</a:t>
            </a:r>
          </a:p>
          <a:p>
            <a:pPr>
              <a:defRPr sz="1000">
                <a:solidFill>
                  <a:srgbClr val="1E293B"/>
                </a:solidFill>
                <a:latin typeface="Calibri"/>
                <a:ea typeface="Calibri"/>
                <a:cs typeface="Calibri"/>
                <a:sym typeface="Calibri"/>
              </a:defRPr>
            </a:pPr>
            <a:r>
              <a:t>Compute-bound via Marlin kernel</a:t>
            </a:r>
          </a:p>
          <a:p>
            <a:pPr>
              <a:defRPr sz="1000">
                <a:solidFill>
                  <a:srgbClr val="1E293B"/>
                </a:solidFill>
                <a:latin typeface="Calibri"/>
                <a:ea typeface="Calibri"/>
                <a:cs typeface="Calibri"/>
                <a:sym typeface="Calibri"/>
              </a:defRPr>
            </a:pPr>
            <a:r>
              <a:t>SM utilization: 82%  |  AI = 951 FLOPs/B</a:t>
            </a:r>
          </a:p>
        </p:txBody>
      </p:sp>
      <p:sp>
        <p:nvSpPr>
          <p:cNvPr id="263" name="Google Shape;228;p23"/>
          <p:cNvSpPr/>
          <p:nvPr/>
        </p:nvSpPr>
        <p:spPr>
          <a:xfrm>
            <a:off x="5833871" y="2103120"/>
            <a:ext cx="2999101" cy="960001"/>
          </a:xfrm>
          <a:prstGeom prst="rect">
            <a:avLst/>
          </a:prstGeom>
          <a:solidFill>
            <a:srgbClr val="F8FAFC"/>
          </a:solidFill>
          <a:ln>
            <a:solidFill>
              <a:srgbClr val="F5D28A"/>
            </a:solidFill>
          </a:ln>
          <a:effectLst>
            <a:outerShdw sx="100000" sy="100000" kx="0" ky="0" algn="b" rotWithShape="0" blurRad="63500" dist="12700" dir="8100000">
              <a:srgbClr val="94A3B8">
                <a:alpha val="18040"/>
              </a:srgbClr>
            </a:outerShdw>
          </a:effectLst>
        </p:spPr>
        <p:txBody>
          <a:bodyPr lIns="0" tIns="0" rIns="0" bIns="0" anchor="ctr"/>
          <a:lstStyle/>
          <a:p>
            <a:pPr/>
          </a:p>
        </p:txBody>
      </p:sp>
      <p:sp>
        <p:nvSpPr>
          <p:cNvPr id="264" name="Google Shape;229;p23"/>
          <p:cNvSpPr/>
          <p:nvPr/>
        </p:nvSpPr>
        <p:spPr>
          <a:xfrm>
            <a:off x="5833871" y="2103120"/>
            <a:ext cx="54900" cy="960001"/>
          </a:xfrm>
          <a:prstGeom prst="rect">
            <a:avLst/>
          </a:prstGeom>
          <a:solidFill>
            <a:srgbClr val="D97706"/>
          </a:solidFill>
          <a:ln w="12700">
            <a:solidFill>
              <a:srgbClr val="D97706"/>
            </a:solidFill>
          </a:ln>
        </p:spPr>
        <p:txBody>
          <a:bodyPr lIns="0" tIns="0" rIns="0" bIns="0" anchor="ctr"/>
          <a:lstStyle/>
          <a:p>
            <a:pPr/>
          </a:p>
        </p:txBody>
      </p:sp>
      <p:sp>
        <p:nvSpPr>
          <p:cNvPr id="265" name="Google Shape;230;p23"/>
          <p:cNvSpPr txBox="1"/>
          <p:nvPr/>
        </p:nvSpPr>
        <p:spPr>
          <a:xfrm>
            <a:off x="5971032" y="2218800"/>
            <a:ext cx="27981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solidFill>
                  <a:srgbClr val="D97706"/>
                </a:solidFill>
                <a:latin typeface="Calibri"/>
                <a:ea typeface="Calibri"/>
                <a:cs typeface="Calibri"/>
                <a:sym typeface="Calibri"/>
              </a:defRPr>
            </a:lvl1pPr>
          </a:lstStyle>
          <a:p>
            <a:pPr/>
            <a:r>
              <a:t>AWQ Paradox</a:t>
            </a:r>
          </a:p>
        </p:txBody>
      </p:sp>
      <p:sp>
        <p:nvSpPr>
          <p:cNvPr id="266" name="Google Shape;231;p23"/>
          <p:cNvSpPr txBox="1"/>
          <p:nvPr/>
        </p:nvSpPr>
        <p:spPr>
          <a:xfrm>
            <a:off x="5971032" y="2463880"/>
            <a:ext cx="2798101" cy="4672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000">
                <a:solidFill>
                  <a:srgbClr val="1E293B"/>
                </a:solidFill>
                <a:latin typeface="Calibri"/>
                <a:ea typeface="Calibri"/>
                <a:cs typeface="Calibri"/>
                <a:sym typeface="Calibri"/>
              </a:defRPr>
            </a:pPr>
            <a:r>
              <a:t>AI = 1865 FLOPs/B (highest) but only</a:t>
            </a:r>
          </a:p>
          <a:p>
            <a:pPr>
              <a:defRPr sz="1000">
                <a:solidFill>
                  <a:srgbClr val="1E293B"/>
                </a:solidFill>
                <a:latin typeface="Calibri"/>
                <a:ea typeface="Calibri"/>
                <a:cs typeface="Calibri"/>
                <a:sym typeface="Calibri"/>
              </a:defRPr>
            </a:pPr>
            <a:r>
              <a:t>207 tok/s - fused GEMV is optimized for</a:t>
            </a:r>
          </a:p>
          <a:p>
            <a:pPr>
              <a:defRPr sz="1000">
                <a:solidFill>
                  <a:srgbClr val="1E293B"/>
                </a:solidFill>
                <a:latin typeface="Calibri"/>
                <a:ea typeface="Calibri"/>
                <a:cs typeface="Calibri"/>
                <a:sym typeface="Calibri"/>
              </a:defRPr>
            </a:pPr>
            <a:r>
              <a:t>single-batch prefill, not batched decode</a:t>
            </a:r>
          </a:p>
        </p:txBody>
      </p:sp>
      <p:sp>
        <p:nvSpPr>
          <p:cNvPr id="267" name="Google Shape;232;p23"/>
          <p:cNvSpPr/>
          <p:nvPr/>
        </p:nvSpPr>
        <p:spPr>
          <a:xfrm>
            <a:off x="5833871" y="3154679"/>
            <a:ext cx="2999101" cy="822900"/>
          </a:xfrm>
          <a:prstGeom prst="rect">
            <a:avLst/>
          </a:prstGeom>
          <a:solidFill>
            <a:srgbClr val="F8FAFC"/>
          </a:solidFill>
          <a:ln>
            <a:solidFill>
              <a:srgbClr val="F5B8B8"/>
            </a:solidFill>
          </a:ln>
          <a:effectLst>
            <a:outerShdw sx="100000" sy="100000" kx="0" ky="0" algn="b" rotWithShape="0" blurRad="63500" dist="12700" dir="8100000">
              <a:srgbClr val="94A3B8">
                <a:alpha val="18040"/>
              </a:srgbClr>
            </a:outerShdw>
          </a:effectLst>
        </p:spPr>
        <p:txBody>
          <a:bodyPr lIns="0" tIns="0" rIns="0" bIns="0" anchor="ctr"/>
          <a:lstStyle/>
          <a:p>
            <a:pPr/>
          </a:p>
        </p:txBody>
      </p:sp>
      <p:sp>
        <p:nvSpPr>
          <p:cNvPr id="268" name="Google Shape;233;p23"/>
          <p:cNvSpPr/>
          <p:nvPr/>
        </p:nvSpPr>
        <p:spPr>
          <a:xfrm>
            <a:off x="5833871" y="3154679"/>
            <a:ext cx="54900" cy="822900"/>
          </a:xfrm>
          <a:prstGeom prst="rect">
            <a:avLst/>
          </a:prstGeom>
          <a:solidFill>
            <a:srgbClr val="DC2626"/>
          </a:solidFill>
          <a:ln w="12700">
            <a:solidFill>
              <a:srgbClr val="DC2626"/>
            </a:solidFill>
          </a:ln>
        </p:spPr>
        <p:txBody>
          <a:bodyPr lIns="0" tIns="0" rIns="0" bIns="0" anchor="ctr"/>
          <a:lstStyle/>
          <a:p>
            <a:pPr/>
          </a:p>
        </p:txBody>
      </p:sp>
      <p:sp>
        <p:nvSpPr>
          <p:cNvPr id="269" name="Google Shape;234;p23"/>
          <p:cNvSpPr txBox="1"/>
          <p:nvPr/>
        </p:nvSpPr>
        <p:spPr>
          <a:xfrm>
            <a:off x="5971032" y="3270360"/>
            <a:ext cx="27981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solidFill>
                  <a:srgbClr val="DC2626"/>
                </a:solidFill>
                <a:latin typeface="Calibri"/>
                <a:ea typeface="Calibri"/>
                <a:cs typeface="Calibri"/>
                <a:sym typeface="Calibri"/>
              </a:defRPr>
            </a:lvl1pPr>
          </a:lstStyle>
          <a:p>
            <a:pPr/>
            <a:r>
              <a:t>NF4: Memory-Bound Floor</a:t>
            </a:r>
          </a:p>
        </p:txBody>
      </p:sp>
      <p:sp>
        <p:nvSpPr>
          <p:cNvPr id="270" name="Google Shape;235;p23"/>
          <p:cNvSpPr txBox="1"/>
          <p:nvPr/>
        </p:nvSpPr>
        <p:spPr>
          <a:xfrm>
            <a:off x="5971032" y="3460540"/>
            <a:ext cx="2798101" cy="4672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000">
                <a:solidFill>
                  <a:srgbClr val="1E293B"/>
                </a:solidFill>
                <a:latin typeface="Calibri"/>
                <a:ea typeface="Calibri"/>
                <a:cs typeface="Calibri"/>
                <a:sym typeface="Calibri"/>
              </a:defRPr>
            </a:pPr>
            <a:r>
              <a:t>89 tok/s  ·  0.09× FP16</a:t>
            </a:r>
          </a:p>
          <a:p>
            <a:pPr>
              <a:defRPr sz="1000">
                <a:solidFill>
                  <a:srgbClr val="1E293B"/>
                </a:solidFill>
                <a:latin typeface="Calibri"/>
                <a:ea typeface="Calibri"/>
                <a:cs typeface="Calibri"/>
                <a:sym typeface="Calibri"/>
              </a:defRPr>
            </a:pPr>
            <a:r>
              <a:t>No native vLLM support; HF fallback</a:t>
            </a:r>
          </a:p>
          <a:p>
            <a:pPr>
              <a:defRPr sz="1000">
                <a:solidFill>
                  <a:srgbClr val="1E293B"/>
                </a:solidFill>
                <a:latin typeface="Calibri"/>
                <a:ea typeface="Calibri"/>
                <a:cs typeface="Calibri"/>
                <a:sym typeface="Calibri"/>
              </a:defRPr>
            </a:pPr>
            <a:r>
              <a:t>does not use PagedAttention KV-cache</a:t>
            </a:r>
          </a:p>
        </p:txBody>
      </p:sp>
      <p:sp>
        <p:nvSpPr>
          <p:cNvPr id="271" name="Google Shape;236;p23"/>
          <p:cNvSpPr/>
          <p:nvPr/>
        </p:nvSpPr>
        <p:spPr>
          <a:xfrm>
            <a:off x="5833871" y="4069079"/>
            <a:ext cx="2999101" cy="713101"/>
          </a:xfrm>
          <a:prstGeom prst="rect">
            <a:avLst/>
          </a:prstGeom>
          <a:solidFill>
            <a:srgbClr val="F8FAFC"/>
          </a:solidFill>
          <a:ln>
            <a:solidFill>
              <a:srgbClr val="BAD9F5"/>
            </a:solidFill>
          </a:ln>
          <a:effectLst>
            <a:outerShdw sx="100000" sy="100000" kx="0" ky="0" algn="b" rotWithShape="0" blurRad="63500" dist="12700" dir="8100000">
              <a:srgbClr val="94A3B8">
                <a:alpha val="18040"/>
              </a:srgbClr>
            </a:outerShdw>
          </a:effectLst>
        </p:spPr>
        <p:txBody>
          <a:bodyPr lIns="0" tIns="0" rIns="0" bIns="0" anchor="ctr"/>
          <a:lstStyle/>
          <a:p>
            <a:pPr/>
          </a:p>
        </p:txBody>
      </p:sp>
      <p:sp>
        <p:nvSpPr>
          <p:cNvPr id="272" name="Google Shape;237;p23"/>
          <p:cNvSpPr/>
          <p:nvPr/>
        </p:nvSpPr>
        <p:spPr>
          <a:xfrm>
            <a:off x="5833871" y="4069079"/>
            <a:ext cx="54900" cy="713101"/>
          </a:xfrm>
          <a:prstGeom prst="rect">
            <a:avLst/>
          </a:prstGeom>
          <a:solidFill>
            <a:srgbClr val="0284C7"/>
          </a:solidFill>
          <a:ln w="12700">
            <a:solidFill>
              <a:srgbClr val="0284C7"/>
            </a:solidFill>
          </a:ln>
        </p:spPr>
        <p:txBody>
          <a:bodyPr lIns="0" tIns="0" rIns="0" bIns="0" anchor="ctr"/>
          <a:lstStyle/>
          <a:p>
            <a:pPr/>
          </a:p>
        </p:txBody>
      </p:sp>
      <p:sp>
        <p:nvSpPr>
          <p:cNvPr id="273" name="Google Shape;238;p23"/>
          <p:cNvSpPr txBox="1"/>
          <p:nvPr/>
        </p:nvSpPr>
        <p:spPr>
          <a:xfrm>
            <a:off x="5971032" y="4175610"/>
            <a:ext cx="279810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solidFill>
                  <a:srgbClr val="0284C7"/>
                </a:solidFill>
                <a:latin typeface="Calibri"/>
                <a:ea typeface="Calibri"/>
                <a:cs typeface="Calibri"/>
                <a:sym typeface="Calibri"/>
              </a:defRPr>
            </a:lvl1pPr>
          </a:lstStyle>
          <a:p>
            <a:pPr/>
            <a:r>
              <a:t>Key Takeaway</a:t>
            </a:r>
          </a:p>
        </p:txBody>
      </p:sp>
      <p:sp>
        <p:nvSpPr>
          <p:cNvPr id="274" name="Google Shape;239;p23"/>
          <p:cNvSpPr txBox="1"/>
          <p:nvPr/>
        </p:nvSpPr>
        <p:spPr>
          <a:xfrm>
            <a:off x="5971032" y="4393452"/>
            <a:ext cx="2798101" cy="3021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000">
                <a:solidFill>
                  <a:srgbClr val="1E293B"/>
                </a:solidFill>
                <a:latin typeface="Calibri"/>
                <a:ea typeface="Calibri"/>
                <a:cs typeface="Calibri"/>
                <a:sym typeface="Calibri"/>
              </a:defRPr>
            </a:pPr>
            <a:r>
              <a:t>Kernel choice &gt; bit-width.</a:t>
            </a:r>
          </a:p>
          <a:p>
            <a:pPr>
              <a:defRPr sz="1000">
                <a:solidFill>
                  <a:srgbClr val="1E293B"/>
                </a:solidFill>
                <a:latin typeface="Calibri"/>
                <a:ea typeface="Calibri"/>
                <a:cs typeface="Calibri"/>
                <a:sym typeface="Calibri"/>
              </a:defRPr>
            </a:pPr>
            <a:r>
              <a:t>GPTQ INT8 (0.47×) &lt; FP16 &lt; GPTQ INT4 (1.78×)</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6" name="Google Shape;245;p24"/>
          <p:cNvSpPr/>
          <p:nvPr/>
        </p:nvSpPr>
        <p:spPr>
          <a:xfrm>
            <a:off x="202814" y="-1"/>
            <a:ext cx="8851502" cy="777302"/>
          </a:xfrm>
          <a:prstGeom prst="rect">
            <a:avLst/>
          </a:prstGeom>
          <a:solidFill>
            <a:srgbClr val="FFFFFF"/>
          </a:solidFill>
          <a:ln w="12700">
            <a:solidFill>
              <a:srgbClr val="FFFFFF"/>
            </a:solidFill>
          </a:ln>
        </p:spPr>
        <p:txBody>
          <a:bodyPr lIns="0" tIns="0" rIns="0" bIns="0" anchor="ctr"/>
          <a:lstStyle/>
          <a:p>
            <a:pPr/>
          </a:p>
        </p:txBody>
      </p:sp>
      <p:sp>
        <p:nvSpPr>
          <p:cNvPr id="277" name="Google Shape;246;p24"/>
          <p:cNvSpPr txBox="1"/>
          <p:nvPr/>
        </p:nvSpPr>
        <p:spPr>
          <a:xfrm>
            <a:off x="177168" y="106781"/>
            <a:ext cx="6400801" cy="3533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rgbClr val="0F172A"/>
                </a:solidFill>
                <a:latin typeface="Calibri"/>
                <a:ea typeface="Calibri"/>
                <a:cs typeface="Calibri"/>
                <a:sym typeface="Calibri"/>
              </a:defRPr>
            </a:lvl1pPr>
          </a:lstStyle>
          <a:p>
            <a:pPr/>
            <a:r>
              <a:t>Cross-Model vLLM Throughput</a:t>
            </a:r>
          </a:p>
        </p:txBody>
      </p:sp>
      <p:sp>
        <p:nvSpPr>
          <p:cNvPr id="278" name="Google Shape;247;p24"/>
          <p:cNvSpPr txBox="1"/>
          <p:nvPr/>
        </p:nvSpPr>
        <p:spPr>
          <a:xfrm>
            <a:off x="202820" y="525752"/>
            <a:ext cx="859530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64748B"/>
                </a:solidFill>
                <a:latin typeface="Calibri"/>
                <a:ea typeface="Calibri"/>
                <a:cs typeface="Calibri"/>
                <a:sym typeface="Calibri"/>
              </a:defRPr>
            </a:lvl1pPr>
          </a:lstStyle>
          <a:p>
            <a:pPr/>
            <a:r>
              <a:t>Marlin-backed GPTQ INT4 dominates across all model families    |    Routing viability is kernel-driven, not bit-width</a:t>
            </a:r>
          </a:p>
        </p:txBody>
      </p:sp>
      <p:sp>
        <p:nvSpPr>
          <p:cNvPr id="279" name="Google Shape;248;p24"/>
          <p:cNvSpPr/>
          <p:nvPr/>
        </p:nvSpPr>
        <p:spPr>
          <a:xfrm>
            <a:off x="292608" y="868680"/>
            <a:ext cx="2743201" cy="3429001"/>
          </a:xfrm>
          <a:prstGeom prst="rect">
            <a:avLst/>
          </a:prstGeom>
          <a:solidFill>
            <a:srgbClr val="FFFFFF"/>
          </a:solidFill>
          <a:ln>
            <a:solidFill>
              <a:srgbClr val="E2E8F0"/>
            </a:solidFill>
          </a:ln>
          <a:effectLst>
            <a:outerShdw sx="100000" sy="100000" kx="0" ky="0" algn="b" rotWithShape="0" blurRad="63500" dist="12700" dir="8100000">
              <a:srgbClr val="94A3B8">
                <a:alpha val="18040"/>
              </a:srgbClr>
            </a:outerShdw>
          </a:effectLst>
        </p:spPr>
        <p:txBody>
          <a:bodyPr lIns="0" tIns="0" rIns="0" bIns="0" anchor="ctr"/>
          <a:lstStyle/>
          <a:p>
            <a:pPr/>
          </a:p>
        </p:txBody>
      </p:sp>
      <p:sp>
        <p:nvSpPr>
          <p:cNvPr id="280" name="Google Shape;249;p24"/>
          <p:cNvSpPr/>
          <p:nvPr/>
        </p:nvSpPr>
        <p:spPr>
          <a:xfrm>
            <a:off x="292608" y="868680"/>
            <a:ext cx="2743201" cy="320101"/>
          </a:xfrm>
          <a:prstGeom prst="rect">
            <a:avLst/>
          </a:prstGeom>
          <a:solidFill>
            <a:srgbClr val="FFFFFF"/>
          </a:solidFill>
          <a:ln w="12700">
            <a:solidFill>
              <a:srgbClr val="E2E8F0"/>
            </a:solidFill>
          </a:ln>
        </p:spPr>
        <p:txBody>
          <a:bodyPr lIns="0" tIns="0" rIns="0" bIns="0" anchor="ctr"/>
          <a:lstStyle/>
          <a:p>
            <a:pPr/>
          </a:p>
        </p:txBody>
      </p:sp>
      <p:sp>
        <p:nvSpPr>
          <p:cNvPr id="281" name="Google Shape;250;p24"/>
          <p:cNvSpPr txBox="1"/>
          <p:nvPr/>
        </p:nvSpPr>
        <p:spPr>
          <a:xfrm>
            <a:off x="384047" y="954773"/>
            <a:ext cx="260610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284C7"/>
                </a:solidFill>
                <a:latin typeface="Calibri"/>
                <a:ea typeface="Calibri"/>
                <a:cs typeface="Calibri"/>
                <a:sym typeface="Calibri"/>
              </a:defRPr>
            </a:lvl1pPr>
          </a:lstStyle>
          <a:p>
            <a:pPr/>
            <a:r>
              <a:t>Mistral-7B</a:t>
            </a:r>
          </a:p>
        </p:txBody>
      </p:sp>
      <p:sp>
        <p:nvSpPr>
          <p:cNvPr id="282" name="Google Shape;251;p24"/>
          <p:cNvSpPr txBox="1"/>
          <p:nvPr/>
        </p:nvSpPr>
        <p:spPr>
          <a:xfrm>
            <a:off x="338327" y="1457116"/>
            <a:ext cx="5487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4748B"/>
                </a:solidFill>
                <a:latin typeface="Calibri"/>
                <a:ea typeface="Calibri"/>
                <a:cs typeface="Calibri"/>
                <a:sym typeface="Calibri"/>
              </a:defRPr>
            </a:lvl1pPr>
          </a:lstStyle>
          <a:p>
            <a:pPr/>
            <a:r>
              <a:t>FP16</a:t>
            </a:r>
          </a:p>
        </p:txBody>
      </p:sp>
      <p:sp>
        <p:nvSpPr>
          <p:cNvPr id="283" name="Google Shape;252;p24"/>
          <p:cNvSpPr/>
          <p:nvPr/>
        </p:nvSpPr>
        <p:spPr>
          <a:xfrm>
            <a:off x="914400" y="1298447"/>
            <a:ext cx="1993501" cy="407701"/>
          </a:xfrm>
          <a:prstGeom prst="rect">
            <a:avLst/>
          </a:prstGeom>
          <a:solidFill>
            <a:srgbClr val="EFF6FF"/>
          </a:solidFill>
          <a:ln>
            <a:solidFill>
              <a:srgbClr val="E2E8F0"/>
            </a:solidFill>
          </a:ln>
        </p:spPr>
        <p:txBody>
          <a:bodyPr lIns="0" tIns="0" rIns="0" bIns="0" anchor="ctr"/>
          <a:lstStyle/>
          <a:p>
            <a:pPr/>
          </a:p>
        </p:txBody>
      </p:sp>
      <p:sp>
        <p:nvSpPr>
          <p:cNvPr id="284" name="Google Shape;253;p24"/>
          <p:cNvSpPr/>
          <p:nvPr/>
        </p:nvSpPr>
        <p:spPr>
          <a:xfrm>
            <a:off x="914400" y="1298447"/>
            <a:ext cx="1043400" cy="407701"/>
          </a:xfrm>
          <a:prstGeom prst="rect">
            <a:avLst/>
          </a:prstGeom>
          <a:solidFill>
            <a:srgbClr val="6366F1"/>
          </a:solidFill>
          <a:ln w="12700">
            <a:solidFill>
              <a:srgbClr val="6366F1"/>
            </a:solidFill>
          </a:ln>
        </p:spPr>
        <p:txBody>
          <a:bodyPr lIns="0" tIns="0" rIns="0" bIns="0" anchor="ctr"/>
          <a:lstStyle/>
          <a:p>
            <a:pPr/>
          </a:p>
        </p:txBody>
      </p:sp>
      <p:sp>
        <p:nvSpPr>
          <p:cNvPr id="285" name="Google Shape;254;p24"/>
          <p:cNvSpPr txBox="1"/>
          <p:nvPr/>
        </p:nvSpPr>
        <p:spPr>
          <a:xfrm>
            <a:off x="2003438" y="1447941"/>
            <a:ext cx="502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800">
                <a:solidFill>
                  <a:srgbClr val="6366F1"/>
                </a:solidFill>
                <a:latin typeface="Calibri"/>
                <a:ea typeface="Calibri"/>
                <a:cs typeface="Calibri"/>
                <a:sym typeface="Calibri"/>
              </a:defRPr>
            </a:lvl1pPr>
          </a:lstStyle>
          <a:p>
            <a:pPr/>
            <a:r>
              <a:t>942</a:t>
            </a:r>
          </a:p>
        </p:txBody>
      </p:sp>
      <p:sp>
        <p:nvSpPr>
          <p:cNvPr id="286" name="Google Shape;255;p24"/>
          <p:cNvSpPr txBox="1"/>
          <p:nvPr/>
        </p:nvSpPr>
        <p:spPr>
          <a:xfrm>
            <a:off x="338327" y="2047818"/>
            <a:ext cx="5487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4748B"/>
                </a:solidFill>
                <a:latin typeface="Calibri"/>
                <a:ea typeface="Calibri"/>
                <a:cs typeface="Calibri"/>
                <a:sym typeface="Calibri"/>
              </a:defRPr>
            </a:lvl1pPr>
          </a:lstStyle>
          <a:p>
            <a:pPr/>
            <a:r>
              <a:t>GPTQ INT4</a:t>
            </a:r>
          </a:p>
        </p:txBody>
      </p:sp>
      <p:sp>
        <p:nvSpPr>
          <p:cNvPr id="287" name="Google Shape;256;p24"/>
          <p:cNvSpPr/>
          <p:nvPr/>
        </p:nvSpPr>
        <p:spPr>
          <a:xfrm>
            <a:off x="914400" y="1889149"/>
            <a:ext cx="1993501" cy="407701"/>
          </a:xfrm>
          <a:prstGeom prst="rect">
            <a:avLst/>
          </a:prstGeom>
          <a:solidFill>
            <a:srgbClr val="EFF6FF"/>
          </a:solidFill>
          <a:ln>
            <a:solidFill>
              <a:srgbClr val="E2E8F0"/>
            </a:solidFill>
          </a:ln>
        </p:spPr>
        <p:txBody>
          <a:bodyPr lIns="0" tIns="0" rIns="0" bIns="0" anchor="ctr"/>
          <a:lstStyle/>
          <a:p>
            <a:pPr/>
          </a:p>
        </p:txBody>
      </p:sp>
      <p:sp>
        <p:nvSpPr>
          <p:cNvPr id="288" name="Google Shape;257;p24"/>
          <p:cNvSpPr/>
          <p:nvPr/>
        </p:nvSpPr>
        <p:spPr>
          <a:xfrm>
            <a:off x="914400" y="1889149"/>
            <a:ext cx="1857301" cy="407701"/>
          </a:xfrm>
          <a:prstGeom prst="rect">
            <a:avLst/>
          </a:prstGeom>
          <a:solidFill>
            <a:srgbClr val="16A34A"/>
          </a:solidFill>
          <a:ln w="12700">
            <a:solidFill>
              <a:srgbClr val="16A34A"/>
            </a:solidFill>
          </a:ln>
        </p:spPr>
        <p:txBody>
          <a:bodyPr lIns="0" tIns="0" rIns="0" bIns="0" anchor="ctr"/>
          <a:lstStyle/>
          <a:p>
            <a:pPr/>
          </a:p>
        </p:txBody>
      </p:sp>
      <p:sp>
        <p:nvSpPr>
          <p:cNvPr id="289" name="Google Shape;258;p24"/>
          <p:cNvSpPr txBox="1"/>
          <p:nvPr/>
        </p:nvSpPr>
        <p:spPr>
          <a:xfrm>
            <a:off x="2817408" y="2038643"/>
            <a:ext cx="502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800">
                <a:solidFill>
                  <a:srgbClr val="16A34A"/>
                </a:solidFill>
                <a:latin typeface="Calibri"/>
                <a:ea typeface="Calibri"/>
                <a:cs typeface="Calibri"/>
                <a:sym typeface="Calibri"/>
              </a:defRPr>
            </a:lvl1pPr>
          </a:lstStyle>
          <a:p>
            <a:pPr/>
            <a:r>
              <a:t>1677</a:t>
            </a:r>
          </a:p>
        </p:txBody>
      </p:sp>
      <p:sp>
        <p:nvSpPr>
          <p:cNvPr id="290" name="Google Shape;259;p24"/>
          <p:cNvSpPr txBox="1"/>
          <p:nvPr/>
        </p:nvSpPr>
        <p:spPr>
          <a:xfrm>
            <a:off x="338327" y="2638521"/>
            <a:ext cx="5487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4748B"/>
                </a:solidFill>
                <a:latin typeface="Calibri"/>
                <a:ea typeface="Calibri"/>
                <a:cs typeface="Calibri"/>
                <a:sym typeface="Calibri"/>
              </a:defRPr>
            </a:lvl1pPr>
          </a:lstStyle>
          <a:p>
            <a:pPr/>
            <a:r>
              <a:t>GPTQ INT8</a:t>
            </a:r>
          </a:p>
        </p:txBody>
      </p:sp>
      <p:sp>
        <p:nvSpPr>
          <p:cNvPr id="291" name="Google Shape;260;p24"/>
          <p:cNvSpPr/>
          <p:nvPr/>
        </p:nvSpPr>
        <p:spPr>
          <a:xfrm>
            <a:off x="914400" y="2479853"/>
            <a:ext cx="1993501" cy="407701"/>
          </a:xfrm>
          <a:prstGeom prst="rect">
            <a:avLst/>
          </a:prstGeom>
          <a:solidFill>
            <a:srgbClr val="EFF6FF"/>
          </a:solidFill>
          <a:ln>
            <a:solidFill>
              <a:srgbClr val="E2E8F0"/>
            </a:solidFill>
          </a:ln>
        </p:spPr>
        <p:txBody>
          <a:bodyPr lIns="0" tIns="0" rIns="0" bIns="0" anchor="ctr"/>
          <a:lstStyle/>
          <a:p>
            <a:pPr/>
          </a:p>
        </p:txBody>
      </p:sp>
      <p:sp>
        <p:nvSpPr>
          <p:cNvPr id="292" name="Google Shape;261;p24"/>
          <p:cNvSpPr/>
          <p:nvPr/>
        </p:nvSpPr>
        <p:spPr>
          <a:xfrm>
            <a:off x="914400" y="2479853"/>
            <a:ext cx="493501" cy="407701"/>
          </a:xfrm>
          <a:prstGeom prst="rect">
            <a:avLst/>
          </a:prstGeom>
          <a:solidFill>
            <a:srgbClr val="DC2626"/>
          </a:solidFill>
          <a:ln w="12700">
            <a:solidFill>
              <a:srgbClr val="DC2626"/>
            </a:solidFill>
          </a:ln>
        </p:spPr>
        <p:txBody>
          <a:bodyPr lIns="0" tIns="0" rIns="0" bIns="0" anchor="ctr"/>
          <a:lstStyle/>
          <a:p>
            <a:pPr/>
          </a:p>
        </p:txBody>
      </p:sp>
      <p:sp>
        <p:nvSpPr>
          <p:cNvPr id="293" name="Google Shape;262;p24"/>
          <p:cNvSpPr txBox="1"/>
          <p:nvPr/>
        </p:nvSpPr>
        <p:spPr>
          <a:xfrm>
            <a:off x="1453485" y="2629346"/>
            <a:ext cx="502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800">
                <a:solidFill>
                  <a:srgbClr val="DC2626"/>
                </a:solidFill>
                <a:latin typeface="Calibri"/>
                <a:ea typeface="Calibri"/>
                <a:cs typeface="Calibri"/>
                <a:sym typeface="Calibri"/>
              </a:defRPr>
            </a:lvl1pPr>
          </a:lstStyle>
          <a:p>
            <a:pPr/>
            <a:r>
              <a:t>446</a:t>
            </a:r>
          </a:p>
        </p:txBody>
      </p:sp>
      <p:sp>
        <p:nvSpPr>
          <p:cNvPr id="294" name="Google Shape;263;p24"/>
          <p:cNvSpPr txBox="1"/>
          <p:nvPr/>
        </p:nvSpPr>
        <p:spPr>
          <a:xfrm>
            <a:off x="338327" y="3229223"/>
            <a:ext cx="5487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4748B"/>
                </a:solidFill>
                <a:latin typeface="Calibri"/>
                <a:ea typeface="Calibri"/>
                <a:cs typeface="Calibri"/>
                <a:sym typeface="Calibri"/>
              </a:defRPr>
            </a:lvl1pPr>
          </a:lstStyle>
          <a:p>
            <a:pPr/>
            <a:r>
              <a:t>AWQ INT4</a:t>
            </a:r>
          </a:p>
        </p:txBody>
      </p:sp>
      <p:sp>
        <p:nvSpPr>
          <p:cNvPr id="295" name="Google Shape;264;p24"/>
          <p:cNvSpPr/>
          <p:nvPr/>
        </p:nvSpPr>
        <p:spPr>
          <a:xfrm>
            <a:off x="914400" y="3070555"/>
            <a:ext cx="1993501" cy="407700"/>
          </a:xfrm>
          <a:prstGeom prst="rect">
            <a:avLst/>
          </a:prstGeom>
          <a:solidFill>
            <a:srgbClr val="EFF6FF"/>
          </a:solidFill>
          <a:ln>
            <a:solidFill>
              <a:srgbClr val="E2E8F0"/>
            </a:solidFill>
          </a:ln>
        </p:spPr>
        <p:txBody>
          <a:bodyPr lIns="0" tIns="0" rIns="0" bIns="0" anchor="ctr"/>
          <a:lstStyle/>
          <a:p>
            <a:pPr/>
          </a:p>
        </p:txBody>
      </p:sp>
      <p:sp>
        <p:nvSpPr>
          <p:cNvPr id="296" name="Google Shape;265;p24"/>
          <p:cNvSpPr/>
          <p:nvPr/>
        </p:nvSpPr>
        <p:spPr>
          <a:xfrm>
            <a:off x="914400" y="3070555"/>
            <a:ext cx="229500" cy="407700"/>
          </a:xfrm>
          <a:prstGeom prst="rect">
            <a:avLst/>
          </a:prstGeom>
          <a:solidFill>
            <a:srgbClr val="D97706"/>
          </a:solidFill>
          <a:ln w="12700">
            <a:solidFill>
              <a:srgbClr val="D97706"/>
            </a:solidFill>
          </a:ln>
        </p:spPr>
        <p:txBody>
          <a:bodyPr lIns="0" tIns="0" rIns="0" bIns="0" anchor="ctr"/>
          <a:lstStyle/>
          <a:p>
            <a:pPr/>
          </a:p>
        </p:txBody>
      </p:sp>
      <p:sp>
        <p:nvSpPr>
          <p:cNvPr id="297" name="Google Shape;266;p24"/>
          <p:cNvSpPr txBox="1"/>
          <p:nvPr/>
        </p:nvSpPr>
        <p:spPr>
          <a:xfrm>
            <a:off x="1189582" y="3220049"/>
            <a:ext cx="502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800">
                <a:solidFill>
                  <a:srgbClr val="DC2626"/>
                </a:solidFill>
                <a:latin typeface="Calibri"/>
                <a:ea typeface="Calibri"/>
                <a:cs typeface="Calibri"/>
                <a:sym typeface="Calibri"/>
              </a:defRPr>
            </a:lvl1pPr>
          </a:lstStyle>
          <a:p>
            <a:pPr/>
            <a:r>
              <a:t>207</a:t>
            </a:r>
          </a:p>
        </p:txBody>
      </p:sp>
      <p:sp>
        <p:nvSpPr>
          <p:cNvPr id="298" name="Google Shape;267;p24"/>
          <p:cNvSpPr txBox="1"/>
          <p:nvPr/>
        </p:nvSpPr>
        <p:spPr>
          <a:xfrm>
            <a:off x="338327" y="3819925"/>
            <a:ext cx="5487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4748B"/>
                </a:solidFill>
                <a:latin typeface="Calibri"/>
                <a:ea typeface="Calibri"/>
                <a:cs typeface="Calibri"/>
                <a:sym typeface="Calibri"/>
              </a:defRPr>
            </a:lvl1pPr>
          </a:lstStyle>
          <a:p>
            <a:pPr/>
            <a:r>
              <a:t>NF4†</a:t>
            </a:r>
          </a:p>
        </p:txBody>
      </p:sp>
      <p:sp>
        <p:nvSpPr>
          <p:cNvPr id="299" name="Google Shape;268;p24"/>
          <p:cNvSpPr/>
          <p:nvPr/>
        </p:nvSpPr>
        <p:spPr>
          <a:xfrm>
            <a:off x="914400" y="3661257"/>
            <a:ext cx="1993501" cy="407701"/>
          </a:xfrm>
          <a:prstGeom prst="rect">
            <a:avLst/>
          </a:prstGeom>
          <a:solidFill>
            <a:srgbClr val="EFF6FF"/>
          </a:solidFill>
          <a:ln>
            <a:solidFill>
              <a:srgbClr val="E2E8F0"/>
            </a:solidFill>
          </a:ln>
        </p:spPr>
        <p:txBody>
          <a:bodyPr lIns="0" tIns="0" rIns="0" bIns="0" anchor="ctr"/>
          <a:lstStyle/>
          <a:p>
            <a:pPr/>
          </a:p>
        </p:txBody>
      </p:sp>
      <p:sp>
        <p:nvSpPr>
          <p:cNvPr id="300" name="Google Shape;269;p24"/>
          <p:cNvSpPr/>
          <p:nvPr/>
        </p:nvSpPr>
        <p:spPr>
          <a:xfrm>
            <a:off x="914400" y="3661257"/>
            <a:ext cx="98701" cy="407701"/>
          </a:xfrm>
          <a:prstGeom prst="rect">
            <a:avLst/>
          </a:prstGeom>
          <a:solidFill>
            <a:srgbClr val="94A3B8"/>
          </a:solidFill>
          <a:ln w="12700">
            <a:solidFill>
              <a:srgbClr val="94A3B8"/>
            </a:solidFill>
          </a:ln>
        </p:spPr>
        <p:txBody>
          <a:bodyPr lIns="0" tIns="0" rIns="0" bIns="0" anchor="ctr"/>
          <a:lstStyle/>
          <a:p>
            <a:pPr/>
          </a:p>
        </p:txBody>
      </p:sp>
      <p:sp>
        <p:nvSpPr>
          <p:cNvPr id="301" name="Google Shape;270;p24"/>
          <p:cNvSpPr txBox="1"/>
          <p:nvPr/>
        </p:nvSpPr>
        <p:spPr>
          <a:xfrm>
            <a:off x="1058903" y="3810751"/>
            <a:ext cx="502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800">
                <a:solidFill>
                  <a:srgbClr val="DC2626"/>
                </a:solidFill>
                <a:latin typeface="Calibri"/>
                <a:ea typeface="Calibri"/>
                <a:cs typeface="Calibri"/>
                <a:sym typeface="Calibri"/>
              </a:defRPr>
            </a:lvl1pPr>
          </a:lstStyle>
          <a:p>
            <a:pPr/>
            <a:r>
              <a:t>89</a:t>
            </a:r>
          </a:p>
        </p:txBody>
      </p:sp>
      <p:sp>
        <p:nvSpPr>
          <p:cNvPr id="302" name="Google Shape;271;p24"/>
          <p:cNvSpPr/>
          <p:nvPr/>
        </p:nvSpPr>
        <p:spPr>
          <a:xfrm flipH="1">
            <a:off x="1957719" y="1234439"/>
            <a:ext cx="1" cy="2999101"/>
          </a:xfrm>
          <a:prstGeom prst="line">
            <a:avLst/>
          </a:prstGeom>
          <a:ln w="12700">
            <a:solidFill>
              <a:srgbClr val="6366F1"/>
            </a:solidFill>
            <a:prstDash val="dash"/>
          </a:ln>
        </p:spPr>
        <p:txBody>
          <a:bodyPr lIns="0" tIns="0" rIns="0" bIns="0"/>
          <a:lstStyle/>
          <a:p>
            <a:pPr/>
          </a:p>
        </p:txBody>
      </p:sp>
      <p:sp>
        <p:nvSpPr>
          <p:cNvPr id="303" name="Google Shape;272;p24"/>
          <p:cNvSpPr txBox="1"/>
          <p:nvPr/>
        </p:nvSpPr>
        <p:spPr>
          <a:xfrm>
            <a:off x="1610246" y="3957564"/>
            <a:ext cx="694801" cy="186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i="1" sz="600">
                <a:solidFill>
                  <a:srgbClr val="6366F1"/>
                </a:solidFill>
                <a:latin typeface="Calibri"/>
                <a:ea typeface="Calibri"/>
                <a:cs typeface="Calibri"/>
                <a:sym typeface="Calibri"/>
              </a:defRPr>
            </a:pPr>
            <a:r>
              <a:t>FP16</a:t>
            </a:r>
          </a:p>
          <a:p>
            <a:pPr algn="ctr">
              <a:defRPr i="1" sz="600">
                <a:solidFill>
                  <a:srgbClr val="6366F1"/>
                </a:solidFill>
                <a:latin typeface="Calibri"/>
                <a:ea typeface="Calibri"/>
                <a:cs typeface="Calibri"/>
                <a:sym typeface="Calibri"/>
              </a:defRPr>
            </a:pPr>
            <a:r>
              <a:t>baseline</a:t>
            </a:r>
          </a:p>
        </p:txBody>
      </p:sp>
      <p:sp>
        <p:nvSpPr>
          <p:cNvPr id="304" name="Google Shape;273;p24"/>
          <p:cNvSpPr/>
          <p:nvPr/>
        </p:nvSpPr>
        <p:spPr>
          <a:xfrm>
            <a:off x="3145535" y="868680"/>
            <a:ext cx="2743201" cy="3429001"/>
          </a:xfrm>
          <a:prstGeom prst="rect">
            <a:avLst/>
          </a:prstGeom>
          <a:solidFill>
            <a:srgbClr val="FFFFFF"/>
          </a:solidFill>
          <a:ln>
            <a:solidFill>
              <a:srgbClr val="E2E8F0"/>
            </a:solidFill>
          </a:ln>
          <a:effectLst>
            <a:outerShdw sx="100000" sy="100000" kx="0" ky="0" algn="b" rotWithShape="0" blurRad="63500" dist="12700" dir="8100000">
              <a:srgbClr val="94A3B8">
                <a:alpha val="18040"/>
              </a:srgbClr>
            </a:outerShdw>
          </a:effectLst>
        </p:spPr>
        <p:txBody>
          <a:bodyPr lIns="0" tIns="0" rIns="0" bIns="0" anchor="ctr"/>
          <a:lstStyle/>
          <a:p>
            <a:pPr/>
          </a:p>
        </p:txBody>
      </p:sp>
      <p:sp>
        <p:nvSpPr>
          <p:cNvPr id="305" name="Google Shape;274;p24"/>
          <p:cNvSpPr/>
          <p:nvPr/>
        </p:nvSpPr>
        <p:spPr>
          <a:xfrm>
            <a:off x="3145535" y="868680"/>
            <a:ext cx="2743201" cy="320101"/>
          </a:xfrm>
          <a:prstGeom prst="rect">
            <a:avLst/>
          </a:prstGeom>
          <a:solidFill>
            <a:srgbClr val="FFFFFF"/>
          </a:solidFill>
          <a:ln w="12700">
            <a:solidFill>
              <a:srgbClr val="E2E8F0"/>
            </a:solidFill>
          </a:ln>
        </p:spPr>
        <p:txBody>
          <a:bodyPr lIns="0" tIns="0" rIns="0" bIns="0" anchor="ctr"/>
          <a:lstStyle/>
          <a:p>
            <a:pPr/>
          </a:p>
        </p:txBody>
      </p:sp>
      <p:sp>
        <p:nvSpPr>
          <p:cNvPr id="306" name="Google Shape;275;p24"/>
          <p:cNvSpPr txBox="1"/>
          <p:nvPr/>
        </p:nvSpPr>
        <p:spPr>
          <a:xfrm>
            <a:off x="3236976" y="954773"/>
            <a:ext cx="26061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284C7"/>
                </a:solidFill>
                <a:latin typeface="Calibri"/>
                <a:ea typeface="Calibri"/>
                <a:cs typeface="Calibri"/>
                <a:sym typeface="Calibri"/>
              </a:defRPr>
            </a:lvl1pPr>
          </a:lstStyle>
          <a:p>
            <a:pPr/>
            <a:r>
              <a:t>LLaMA-1 7B</a:t>
            </a:r>
          </a:p>
        </p:txBody>
      </p:sp>
      <p:sp>
        <p:nvSpPr>
          <p:cNvPr id="307" name="Google Shape;276;p24"/>
          <p:cNvSpPr txBox="1"/>
          <p:nvPr/>
        </p:nvSpPr>
        <p:spPr>
          <a:xfrm>
            <a:off x="3191255" y="1530916"/>
            <a:ext cx="5487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4748B"/>
                </a:solidFill>
                <a:latin typeface="Calibri"/>
                <a:ea typeface="Calibri"/>
                <a:cs typeface="Calibri"/>
                <a:sym typeface="Calibri"/>
              </a:defRPr>
            </a:lvl1pPr>
          </a:lstStyle>
          <a:p>
            <a:pPr/>
            <a:r>
              <a:t>FP16</a:t>
            </a:r>
          </a:p>
        </p:txBody>
      </p:sp>
      <p:sp>
        <p:nvSpPr>
          <p:cNvPr id="308" name="Google Shape;277;p24"/>
          <p:cNvSpPr/>
          <p:nvPr/>
        </p:nvSpPr>
        <p:spPr>
          <a:xfrm>
            <a:off x="3767328" y="1298447"/>
            <a:ext cx="1993501" cy="555601"/>
          </a:xfrm>
          <a:prstGeom prst="rect">
            <a:avLst/>
          </a:prstGeom>
          <a:solidFill>
            <a:srgbClr val="EFF6FF"/>
          </a:solidFill>
          <a:ln>
            <a:solidFill>
              <a:srgbClr val="E2E8F0"/>
            </a:solidFill>
          </a:ln>
        </p:spPr>
        <p:txBody>
          <a:bodyPr lIns="0" tIns="0" rIns="0" bIns="0" anchor="ctr"/>
          <a:lstStyle/>
          <a:p>
            <a:pPr/>
          </a:p>
        </p:txBody>
      </p:sp>
      <p:sp>
        <p:nvSpPr>
          <p:cNvPr id="309" name="Google Shape;278;p24"/>
          <p:cNvSpPr/>
          <p:nvPr/>
        </p:nvSpPr>
        <p:spPr>
          <a:xfrm>
            <a:off x="3767328" y="1298447"/>
            <a:ext cx="960901" cy="555601"/>
          </a:xfrm>
          <a:prstGeom prst="rect">
            <a:avLst/>
          </a:prstGeom>
          <a:solidFill>
            <a:srgbClr val="6366F1"/>
          </a:solidFill>
          <a:ln w="12700">
            <a:solidFill>
              <a:srgbClr val="6366F1"/>
            </a:solidFill>
          </a:ln>
        </p:spPr>
        <p:txBody>
          <a:bodyPr lIns="0" tIns="0" rIns="0" bIns="0" anchor="ctr"/>
          <a:lstStyle/>
          <a:p>
            <a:pPr/>
          </a:p>
        </p:txBody>
      </p:sp>
      <p:sp>
        <p:nvSpPr>
          <p:cNvPr id="310" name="Google Shape;279;p24"/>
          <p:cNvSpPr txBox="1"/>
          <p:nvPr/>
        </p:nvSpPr>
        <p:spPr>
          <a:xfrm>
            <a:off x="4773862" y="1521891"/>
            <a:ext cx="502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800">
                <a:solidFill>
                  <a:srgbClr val="6366F1"/>
                </a:solidFill>
                <a:latin typeface="Calibri"/>
                <a:ea typeface="Calibri"/>
                <a:cs typeface="Calibri"/>
                <a:sym typeface="Calibri"/>
              </a:defRPr>
            </a:lvl1pPr>
          </a:lstStyle>
          <a:p>
            <a:pPr/>
            <a:r>
              <a:t>868</a:t>
            </a:r>
          </a:p>
        </p:txBody>
      </p:sp>
      <p:sp>
        <p:nvSpPr>
          <p:cNvPr id="311" name="Google Shape;280;p24"/>
          <p:cNvSpPr txBox="1"/>
          <p:nvPr/>
        </p:nvSpPr>
        <p:spPr>
          <a:xfrm>
            <a:off x="3191255" y="2269294"/>
            <a:ext cx="5487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4748B"/>
                </a:solidFill>
                <a:latin typeface="Calibri"/>
                <a:ea typeface="Calibri"/>
                <a:cs typeface="Calibri"/>
                <a:sym typeface="Calibri"/>
              </a:defRPr>
            </a:lvl1pPr>
          </a:lstStyle>
          <a:p>
            <a:pPr/>
            <a:r>
              <a:t>GPTQ INT4</a:t>
            </a:r>
          </a:p>
        </p:txBody>
      </p:sp>
      <p:sp>
        <p:nvSpPr>
          <p:cNvPr id="312" name="Google Shape;281;p24"/>
          <p:cNvSpPr/>
          <p:nvPr/>
        </p:nvSpPr>
        <p:spPr>
          <a:xfrm>
            <a:off x="3767328" y="2036826"/>
            <a:ext cx="1993501" cy="555601"/>
          </a:xfrm>
          <a:prstGeom prst="rect">
            <a:avLst/>
          </a:prstGeom>
          <a:solidFill>
            <a:srgbClr val="EFF6FF"/>
          </a:solidFill>
          <a:ln>
            <a:solidFill>
              <a:srgbClr val="E2E8F0"/>
            </a:solidFill>
          </a:ln>
        </p:spPr>
        <p:txBody>
          <a:bodyPr lIns="0" tIns="0" rIns="0" bIns="0" anchor="ctr"/>
          <a:lstStyle/>
          <a:p>
            <a:pPr/>
          </a:p>
        </p:txBody>
      </p:sp>
      <p:sp>
        <p:nvSpPr>
          <p:cNvPr id="313" name="Google Shape;282;p24"/>
          <p:cNvSpPr/>
          <p:nvPr/>
        </p:nvSpPr>
        <p:spPr>
          <a:xfrm>
            <a:off x="3767328" y="2036826"/>
            <a:ext cx="1843801" cy="555601"/>
          </a:xfrm>
          <a:prstGeom prst="rect">
            <a:avLst/>
          </a:prstGeom>
          <a:solidFill>
            <a:srgbClr val="16A34A"/>
          </a:solidFill>
          <a:ln w="12700">
            <a:solidFill>
              <a:srgbClr val="16A34A"/>
            </a:solidFill>
          </a:ln>
        </p:spPr>
        <p:txBody>
          <a:bodyPr lIns="0" tIns="0" rIns="0" bIns="0" anchor="ctr"/>
          <a:lstStyle/>
          <a:p>
            <a:pPr/>
          </a:p>
        </p:txBody>
      </p:sp>
      <p:sp>
        <p:nvSpPr>
          <p:cNvPr id="314" name="Google Shape;283;p24"/>
          <p:cNvSpPr txBox="1"/>
          <p:nvPr/>
        </p:nvSpPr>
        <p:spPr>
          <a:xfrm>
            <a:off x="5656824" y="2260269"/>
            <a:ext cx="502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800">
                <a:solidFill>
                  <a:srgbClr val="16A34A"/>
                </a:solidFill>
                <a:latin typeface="Calibri"/>
                <a:ea typeface="Calibri"/>
                <a:cs typeface="Calibri"/>
                <a:sym typeface="Calibri"/>
              </a:defRPr>
            </a:lvl1pPr>
          </a:lstStyle>
          <a:p>
            <a:pPr/>
            <a:r>
              <a:t>1665</a:t>
            </a:r>
          </a:p>
        </p:txBody>
      </p:sp>
      <p:sp>
        <p:nvSpPr>
          <p:cNvPr id="315" name="Google Shape;284;p24"/>
          <p:cNvSpPr txBox="1"/>
          <p:nvPr/>
        </p:nvSpPr>
        <p:spPr>
          <a:xfrm>
            <a:off x="3191255" y="3007672"/>
            <a:ext cx="5487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4748B"/>
                </a:solidFill>
                <a:latin typeface="Calibri"/>
                <a:ea typeface="Calibri"/>
                <a:cs typeface="Calibri"/>
                <a:sym typeface="Calibri"/>
              </a:defRPr>
            </a:lvl1pPr>
          </a:lstStyle>
          <a:p>
            <a:pPr/>
            <a:r>
              <a:t>GPTQ INT8</a:t>
            </a:r>
          </a:p>
        </p:txBody>
      </p:sp>
      <p:sp>
        <p:nvSpPr>
          <p:cNvPr id="316" name="Google Shape;285;p24"/>
          <p:cNvSpPr/>
          <p:nvPr/>
        </p:nvSpPr>
        <p:spPr>
          <a:xfrm>
            <a:off x="3767328" y="2775204"/>
            <a:ext cx="1993501" cy="555601"/>
          </a:xfrm>
          <a:prstGeom prst="rect">
            <a:avLst/>
          </a:prstGeom>
          <a:solidFill>
            <a:srgbClr val="EFF6FF"/>
          </a:solidFill>
          <a:ln>
            <a:solidFill>
              <a:srgbClr val="E2E8F0"/>
            </a:solidFill>
          </a:ln>
        </p:spPr>
        <p:txBody>
          <a:bodyPr lIns="0" tIns="0" rIns="0" bIns="0" anchor="ctr"/>
          <a:lstStyle/>
          <a:p>
            <a:pPr/>
          </a:p>
        </p:txBody>
      </p:sp>
      <p:sp>
        <p:nvSpPr>
          <p:cNvPr id="317" name="Google Shape;286;p24"/>
          <p:cNvSpPr/>
          <p:nvPr/>
        </p:nvSpPr>
        <p:spPr>
          <a:xfrm>
            <a:off x="3767328" y="2775204"/>
            <a:ext cx="529201" cy="555601"/>
          </a:xfrm>
          <a:prstGeom prst="rect">
            <a:avLst/>
          </a:prstGeom>
          <a:solidFill>
            <a:srgbClr val="DC2626"/>
          </a:solidFill>
          <a:ln w="12700">
            <a:solidFill>
              <a:srgbClr val="DC2626"/>
            </a:solidFill>
          </a:ln>
        </p:spPr>
        <p:txBody>
          <a:bodyPr lIns="0" tIns="0" rIns="0" bIns="0" anchor="ctr"/>
          <a:lstStyle/>
          <a:p>
            <a:pPr/>
          </a:p>
        </p:txBody>
      </p:sp>
      <p:sp>
        <p:nvSpPr>
          <p:cNvPr id="318" name="Google Shape;287;p24"/>
          <p:cNvSpPr txBox="1"/>
          <p:nvPr/>
        </p:nvSpPr>
        <p:spPr>
          <a:xfrm>
            <a:off x="4342293" y="2998647"/>
            <a:ext cx="502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800">
                <a:solidFill>
                  <a:srgbClr val="DC2626"/>
                </a:solidFill>
                <a:latin typeface="Calibri"/>
                <a:ea typeface="Calibri"/>
                <a:cs typeface="Calibri"/>
                <a:sym typeface="Calibri"/>
              </a:defRPr>
            </a:lvl1pPr>
          </a:lstStyle>
          <a:p>
            <a:pPr/>
            <a:r>
              <a:t>478</a:t>
            </a:r>
          </a:p>
        </p:txBody>
      </p:sp>
      <p:sp>
        <p:nvSpPr>
          <p:cNvPr id="319" name="Google Shape;288;p24"/>
          <p:cNvSpPr txBox="1"/>
          <p:nvPr/>
        </p:nvSpPr>
        <p:spPr>
          <a:xfrm>
            <a:off x="3191255" y="3746050"/>
            <a:ext cx="5487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4748B"/>
                </a:solidFill>
                <a:latin typeface="Calibri"/>
                <a:ea typeface="Calibri"/>
                <a:cs typeface="Calibri"/>
                <a:sym typeface="Calibri"/>
              </a:defRPr>
            </a:lvl1pPr>
          </a:lstStyle>
          <a:p>
            <a:pPr/>
            <a:r>
              <a:t>AWQ INT4</a:t>
            </a:r>
          </a:p>
        </p:txBody>
      </p:sp>
      <p:sp>
        <p:nvSpPr>
          <p:cNvPr id="320" name="Google Shape;289;p24"/>
          <p:cNvSpPr/>
          <p:nvPr/>
        </p:nvSpPr>
        <p:spPr>
          <a:xfrm>
            <a:off x="3767328" y="3513582"/>
            <a:ext cx="1993501" cy="555601"/>
          </a:xfrm>
          <a:prstGeom prst="rect">
            <a:avLst/>
          </a:prstGeom>
          <a:solidFill>
            <a:srgbClr val="EFF6FF"/>
          </a:solidFill>
          <a:ln>
            <a:solidFill>
              <a:srgbClr val="E2E8F0"/>
            </a:solidFill>
          </a:ln>
        </p:spPr>
        <p:txBody>
          <a:bodyPr lIns="0" tIns="0" rIns="0" bIns="0" anchor="ctr"/>
          <a:lstStyle/>
          <a:p>
            <a:pPr/>
          </a:p>
        </p:txBody>
      </p:sp>
      <p:sp>
        <p:nvSpPr>
          <p:cNvPr id="321" name="Google Shape;290;p24"/>
          <p:cNvSpPr/>
          <p:nvPr/>
        </p:nvSpPr>
        <p:spPr>
          <a:xfrm>
            <a:off x="3767328" y="3513582"/>
            <a:ext cx="227701" cy="555601"/>
          </a:xfrm>
          <a:prstGeom prst="rect">
            <a:avLst/>
          </a:prstGeom>
          <a:solidFill>
            <a:srgbClr val="D97706"/>
          </a:solidFill>
          <a:ln w="12700">
            <a:solidFill>
              <a:srgbClr val="D97706"/>
            </a:solidFill>
          </a:ln>
        </p:spPr>
        <p:txBody>
          <a:bodyPr lIns="0" tIns="0" rIns="0" bIns="0" anchor="ctr"/>
          <a:lstStyle/>
          <a:p>
            <a:pPr/>
          </a:p>
        </p:txBody>
      </p:sp>
      <p:sp>
        <p:nvSpPr>
          <p:cNvPr id="322" name="Google Shape;291;p24"/>
          <p:cNvSpPr txBox="1"/>
          <p:nvPr/>
        </p:nvSpPr>
        <p:spPr>
          <a:xfrm>
            <a:off x="4040847" y="3737026"/>
            <a:ext cx="502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800">
                <a:solidFill>
                  <a:srgbClr val="DC2626"/>
                </a:solidFill>
                <a:latin typeface="Calibri"/>
                <a:ea typeface="Calibri"/>
                <a:cs typeface="Calibri"/>
                <a:sym typeface="Calibri"/>
              </a:defRPr>
            </a:lvl1pPr>
          </a:lstStyle>
          <a:p>
            <a:pPr/>
            <a:r>
              <a:t>206</a:t>
            </a:r>
          </a:p>
        </p:txBody>
      </p:sp>
      <p:sp>
        <p:nvSpPr>
          <p:cNvPr id="323" name="Google Shape;292;p24"/>
          <p:cNvSpPr/>
          <p:nvPr/>
        </p:nvSpPr>
        <p:spPr>
          <a:xfrm flipH="1">
            <a:off x="4728143" y="1234439"/>
            <a:ext cx="1" cy="2999101"/>
          </a:xfrm>
          <a:prstGeom prst="line">
            <a:avLst/>
          </a:prstGeom>
          <a:ln w="12700">
            <a:solidFill>
              <a:srgbClr val="6366F1"/>
            </a:solidFill>
            <a:prstDash val="dash"/>
          </a:ln>
        </p:spPr>
        <p:txBody>
          <a:bodyPr lIns="0" tIns="0" rIns="0" bIns="0"/>
          <a:lstStyle/>
          <a:p>
            <a:pPr/>
          </a:p>
        </p:txBody>
      </p:sp>
      <p:sp>
        <p:nvSpPr>
          <p:cNvPr id="324" name="Google Shape;293;p24"/>
          <p:cNvSpPr txBox="1"/>
          <p:nvPr/>
        </p:nvSpPr>
        <p:spPr>
          <a:xfrm>
            <a:off x="4380670" y="3957564"/>
            <a:ext cx="694802" cy="186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i="1" sz="600">
                <a:solidFill>
                  <a:srgbClr val="6366F1"/>
                </a:solidFill>
                <a:latin typeface="Calibri"/>
                <a:ea typeface="Calibri"/>
                <a:cs typeface="Calibri"/>
                <a:sym typeface="Calibri"/>
              </a:defRPr>
            </a:pPr>
            <a:r>
              <a:t>FP16</a:t>
            </a:r>
          </a:p>
          <a:p>
            <a:pPr algn="ctr">
              <a:defRPr i="1" sz="600">
                <a:solidFill>
                  <a:srgbClr val="6366F1"/>
                </a:solidFill>
                <a:latin typeface="Calibri"/>
                <a:ea typeface="Calibri"/>
                <a:cs typeface="Calibri"/>
                <a:sym typeface="Calibri"/>
              </a:defRPr>
            </a:pPr>
            <a:r>
              <a:t>baseline</a:t>
            </a:r>
          </a:p>
        </p:txBody>
      </p:sp>
      <p:sp>
        <p:nvSpPr>
          <p:cNvPr id="325" name="Google Shape;294;p24"/>
          <p:cNvSpPr/>
          <p:nvPr/>
        </p:nvSpPr>
        <p:spPr>
          <a:xfrm>
            <a:off x="5998464" y="868680"/>
            <a:ext cx="2743201" cy="3429001"/>
          </a:xfrm>
          <a:prstGeom prst="rect">
            <a:avLst/>
          </a:prstGeom>
          <a:solidFill>
            <a:srgbClr val="FFFFFF"/>
          </a:solidFill>
          <a:ln>
            <a:solidFill>
              <a:srgbClr val="E2E8F0"/>
            </a:solidFill>
          </a:ln>
          <a:effectLst>
            <a:outerShdw sx="100000" sy="100000" kx="0" ky="0" algn="b" rotWithShape="0" blurRad="63500" dist="12700" dir="8100000">
              <a:srgbClr val="94A3B8">
                <a:alpha val="18040"/>
              </a:srgbClr>
            </a:outerShdw>
          </a:effectLst>
        </p:spPr>
        <p:txBody>
          <a:bodyPr lIns="0" tIns="0" rIns="0" bIns="0" anchor="ctr"/>
          <a:lstStyle/>
          <a:p>
            <a:pPr/>
          </a:p>
        </p:txBody>
      </p:sp>
      <p:sp>
        <p:nvSpPr>
          <p:cNvPr id="326" name="Google Shape;295;p24"/>
          <p:cNvSpPr/>
          <p:nvPr/>
        </p:nvSpPr>
        <p:spPr>
          <a:xfrm>
            <a:off x="5998464" y="868680"/>
            <a:ext cx="2743201" cy="320101"/>
          </a:xfrm>
          <a:prstGeom prst="rect">
            <a:avLst/>
          </a:prstGeom>
          <a:solidFill>
            <a:srgbClr val="FFFFFF"/>
          </a:solidFill>
          <a:ln w="12700">
            <a:solidFill>
              <a:srgbClr val="E2E8F0"/>
            </a:solidFill>
          </a:ln>
        </p:spPr>
        <p:txBody>
          <a:bodyPr lIns="0" tIns="0" rIns="0" bIns="0" anchor="ctr"/>
          <a:lstStyle/>
          <a:p>
            <a:pPr/>
          </a:p>
        </p:txBody>
      </p:sp>
      <p:sp>
        <p:nvSpPr>
          <p:cNvPr id="327" name="Google Shape;296;p24"/>
          <p:cNvSpPr txBox="1"/>
          <p:nvPr/>
        </p:nvSpPr>
        <p:spPr>
          <a:xfrm>
            <a:off x="6089903" y="954773"/>
            <a:ext cx="26061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284C7"/>
                </a:solidFill>
                <a:latin typeface="Calibri"/>
                <a:ea typeface="Calibri"/>
                <a:cs typeface="Calibri"/>
                <a:sym typeface="Calibri"/>
              </a:defRPr>
            </a:lvl1pPr>
          </a:lstStyle>
          <a:p>
            <a:pPr/>
            <a:r>
              <a:t>LLaMA-2 13B</a:t>
            </a:r>
          </a:p>
        </p:txBody>
      </p:sp>
      <p:sp>
        <p:nvSpPr>
          <p:cNvPr id="328" name="Google Shape;297;p24"/>
          <p:cNvSpPr txBox="1"/>
          <p:nvPr/>
        </p:nvSpPr>
        <p:spPr>
          <a:xfrm>
            <a:off x="6044184" y="1530916"/>
            <a:ext cx="5487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4748B"/>
                </a:solidFill>
                <a:latin typeface="Calibri"/>
                <a:ea typeface="Calibri"/>
                <a:cs typeface="Calibri"/>
                <a:sym typeface="Calibri"/>
              </a:defRPr>
            </a:lvl1pPr>
          </a:lstStyle>
          <a:p>
            <a:pPr/>
            <a:r>
              <a:t>FP16</a:t>
            </a:r>
          </a:p>
        </p:txBody>
      </p:sp>
      <p:sp>
        <p:nvSpPr>
          <p:cNvPr id="329" name="Google Shape;298;p24"/>
          <p:cNvSpPr/>
          <p:nvPr/>
        </p:nvSpPr>
        <p:spPr>
          <a:xfrm>
            <a:off x="6620256" y="1298447"/>
            <a:ext cx="1993501" cy="555601"/>
          </a:xfrm>
          <a:prstGeom prst="rect">
            <a:avLst/>
          </a:prstGeom>
          <a:solidFill>
            <a:srgbClr val="EFF6FF"/>
          </a:solidFill>
          <a:ln>
            <a:solidFill>
              <a:srgbClr val="E2E8F0"/>
            </a:solidFill>
          </a:ln>
        </p:spPr>
        <p:txBody>
          <a:bodyPr lIns="0" tIns="0" rIns="0" bIns="0" anchor="ctr"/>
          <a:lstStyle/>
          <a:p>
            <a:pPr/>
          </a:p>
        </p:txBody>
      </p:sp>
      <p:sp>
        <p:nvSpPr>
          <p:cNvPr id="330" name="Google Shape;299;p24"/>
          <p:cNvSpPr/>
          <p:nvPr/>
        </p:nvSpPr>
        <p:spPr>
          <a:xfrm>
            <a:off x="6620256" y="1298447"/>
            <a:ext cx="497101" cy="555601"/>
          </a:xfrm>
          <a:prstGeom prst="rect">
            <a:avLst/>
          </a:prstGeom>
          <a:solidFill>
            <a:srgbClr val="6366F1"/>
          </a:solidFill>
          <a:ln w="12700">
            <a:solidFill>
              <a:srgbClr val="6366F1"/>
            </a:solidFill>
          </a:ln>
        </p:spPr>
        <p:txBody>
          <a:bodyPr lIns="0" tIns="0" rIns="0" bIns="0" anchor="ctr"/>
          <a:lstStyle/>
          <a:p>
            <a:pPr/>
          </a:p>
        </p:txBody>
      </p:sp>
      <p:sp>
        <p:nvSpPr>
          <p:cNvPr id="331" name="Google Shape;300;p24"/>
          <p:cNvSpPr txBox="1"/>
          <p:nvPr/>
        </p:nvSpPr>
        <p:spPr>
          <a:xfrm>
            <a:off x="7162995" y="1521891"/>
            <a:ext cx="502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800">
                <a:solidFill>
                  <a:srgbClr val="6366F1"/>
                </a:solidFill>
                <a:latin typeface="Calibri"/>
                <a:ea typeface="Calibri"/>
                <a:cs typeface="Calibri"/>
                <a:sym typeface="Calibri"/>
              </a:defRPr>
            </a:lvl1pPr>
          </a:lstStyle>
          <a:p>
            <a:pPr/>
            <a:r>
              <a:t>449</a:t>
            </a:r>
          </a:p>
        </p:txBody>
      </p:sp>
      <p:sp>
        <p:nvSpPr>
          <p:cNvPr id="332" name="Google Shape;301;p24"/>
          <p:cNvSpPr txBox="1"/>
          <p:nvPr/>
        </p:nvSpPr>
        <p:spPr>
          <a:xfrm>
            <a:off x="6044184" y="2269294"/>
            <a:ext cx="5487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4748B"/>
                </a:solidFill>
                <a:latin typeface="Calibri"/>
                <a:ea typeface="Calibri"/>
                <a:cs typeface="Calibri"/>
                <a:sym typeface="Calibri"/>
              </a:defRPr>
            </a:lvl1pPr>
          </a:lstStyle>
          <a:p>
            <a:pPr/>
            <a:r>
              <a:t>GPTQ INT4</a:t>
            </a:r>
          </a:p>
        </p:txBody>
      </p:sp>
      <p:sp>
        <p:nvSpPr>
          <p:cNvPr id="333" name="Google Shape;302;p24"/>
          <p:cNvSpPr/>
          <p:nvPr/>
        </p:nvSpPr>
        <p:spPr>
          <a:xfrm>
            <a:off x="6620256" y="2036826"/>
            <a:ext cx="1993501" cy="555601"/>
          </a:xfrm>
          <a:prstGeom prst="rect">
            <a:avLst/>
          </a:prstGeom>
          <a:solidFill>
            <a:srgbClr val="EFF6FF"/>
          </a:solidFill>
          <a:ln>
            <a:solidFill>
              <a:srgbClr val="E2E8F0"/>
            </a:solidFill>
          </a:ln>
        </p:spPr>
        <p:txBody>
          <a:bodyPr lIns="0" tIns="0" rIns="0" bIns="0" anchor="ctr"/>
          <a:lstStyle/>
          <a:p>
            <a:pPr/>
          </a:p>
        </p:txBody>
      </p:sp>
      <p:sp>
        <p:nvSpPr>
          <p:cNvPr id="334" name="Google Shape;303;p24"/>
          <p:cNvSpPr/>
          <p:nvPr/>
        </p:nvSpPr>
        <p:spPr>
          <a:xfrm>
            <a:off x="6620256" y="2036826"/>
            <a:ext cx="1345501" cy="555601"/>
          </a:xfrm>
          <a:prstGeom prst="rect">
            <a:avLst/>
          </a:prstGeom>
          <a:solidFill>
            <a:srgbClr val="16A34A"/>
          </a:solidFill>
          <a:ln w="12700">
            <a:solidFill>
              <a:srgbClr val="16A34A"/>
            </a:solidFill>
          </a:ln>
        </p:spPr>
        <p:txBody>
          <a:bodyPr lIns="0" tIns="0" rIns="0" bIns="0" anchor="ctr"/>
          <a:lstStyle/>
          <a:p>
            <a:pPr/>
          </a:p>
        </p:txBody>
      </p:sp>
      <p:sp>
        <p:nvSpPr>
          <p:cNvPr id="335" name="Google Shape;304;p24"/>
          <p:cNvSpPr txBox="1"/>
          <p:nvPr/>
        </p:nvSpPr>
        <p:spPr>
          <a:xfrm>
            <a:off x="8011404" y="2260269"/>
            <a:ext cx="502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800">
                <a:solidFill>
                  <a:srgbClr val="16A34A"/>
                </a:solidFill>
                <a:latin typeface="Calibri"/>
                <a:ea typeface="Calibri"/>
                <a:cs typeface="Calibri"/>
                <a:sym typeface="Calibri"/>
              </a:defRPr>
            </a:lvl1pPr>
          </a:lstStyle>
          <a:p>
            <a:pPr/>
            <a:r>
              <a:t>1215</a:t>
            </a:r>
          </a:p>
        </p:txBody>
      </p:sp>
      <p:sp>
        <p:nvSpPr>
          <p:cNvPr id="336" name="Google Shape;305;p24"/>
          <p:cNvSpPr txBox="1"/>
          <p:nvPr/>
        </p:nvSpPr>
        <p:spPr>
          <a:xfrm>
            <a:off x="6044184" y="3007672"/>
            <a:ext cx="5487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4748B"/>
                </a:solidFill>
                <a:latin typeface="Calibri"/>
                <a:ea typeface="Calibri"/>
                <a:cs typeface="Calibri"/>
                <a:sym typeface="Calibri"/>
              </a:defRPr>
            </a:lvl1pPr>
          </a:lstStyle>
          <a:p>
            <a:pPr/>
            <a:r>
              <a:t>GPTQ INT8</a:t>
            </a:r>
          </a:p>
        </p:txBody>
      </p:sp>
      <p:sp>
        <p:nvSpPr>
          <p:cNvPr id="337" name="Google Shape;306;p24"/>
          <p:cNvSpPr/>
          <p:nvPr/>
        </p:nvSpPr>
        <p:spPr>
          <a:xfrm>
            <a:off x="6620256" y="2775204"/>
            <a:ext cx="1993501" cy="555601"/>
          </a:xfrm>
          <a:prstGeom prst="rect">
            <a:avLst/>
          </a:prstGeom>
          <a:solidFill>
            <a:srgbClr val="EFF6FF"/>
          </a:solidFill>
          <a:ln>
            <a:solidFill>
              <a:srgbClr val="E2E8F0"/>
            </a:solidFill>
          </a:ln>
        </p:spPr>
        <p:txBody>
          <a:bodyPr lIns="0" tIns="0" rIns="0" bIns="0" anchor="ctr"/>
          <a:lstStyle/>
          <a:p>
            <a:pPr/>
          </a:p>
        </p:txBody>
      </p:sp>
      <p:sp>
        <p:nvSpPr>
          <p:cNvPr id="338" name="Google Shape;307;p24"/>
          <p:cNvSpPr/>
          <p:nvPr/>
        </p:nvSpPr>
        <p:spPr>
          <a:xfrm>
            <a:off x="6620256" y="2775204"/>
            <a:ext cx="288601" cy="555601"/>
          </a:xfrm>
          <a:prstGeom prst="rect">
            <a:avLst/>
          </a:prstGeom>
          <a:solidFill>
            <a:srgbClr val="DC2626"/>
          </a:solidFill>
          <a:ln w="12700">
            <a:solidFill>
              <a:srgbClr val="DC2626"/>
            </a:solidFill>
          </a:ln>
        </p:spPr>
        <p:txBody>
          <a:bodyPr lIns="0" tIns="0" rIns="0" bIns="0" anchor="ctr"/>
          <a:lstStyle/>
          <a:p>
            <a:pPr/>
          </a:p>
        </p:txBody>
      </p:sp>
      <p:sp>
        <p:nvSpPr>
          <p:cNvPr id="339" name="Google Shape;308;p24"/>
          <p:cNvSpPr txBox="1"/>
          <p:nvPr/>
        </p:nvSpPr>
        <p:spPr>
          <a:xfrm>
            <a:off x="6954463" y="2998647"/>
            <a:ext cx="502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800">
                <a:solidFill>
                  <a:srgbClr val="DC2626"/>
                </a:solidFill>
                <a:latin typeface="Calibri"/>
                <a:ea typeface="Calibri"/>
                <a:cs typeface="Calibri"/>
                <a:sym typeface="Calibri"/>
              </a:defRPr>
            </a:lvl1pPr>
          </a:lstStyle>
          <a:p>
            <a:pPr/>
            <a:r>
              <a:t>261</a:t>
            </a:r>
          </a:p>
        </p:txBody>
      </p:sp>
      <p:sp>
        <p:nvSpPr>
          <p:cNvPr id="340" name="Google Shape;309;p24"/>
          <p:cNvSpPr txBox="1"/>
          <p:nvPr/>
        </p:nvSpPr>
        <p:spPr>
          <a:xfrm>
            <a:off x="6044184" y="3746050"/>
            <a:ext cx="5487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4748B"/>
                </a:solidFill>
                <a:latin typeface="Calibri"/>
                <a:ea typeface="Calibri"/>
                <a:cs typeface="Calibri"/>
                <a:sym typeface="Calibri"/>
              </a:defRPr>
            </a:lvl1pPr>
          </a:lstStyle>
          <a:p>
            <a:pPr/>
            <a:r>
              <a:t>AWQ INT4</a:t>
            </a:r>
          </a:p>
        </p:txBody>
      </p:sp>
      <p:sp>
        <p:nvSpPr>
          <p:cNvPr id="341" name="Google Shape;310;p24"/>
          <p:cNvSpPr/>
          <p:nvPr/>
        </p:nvSpPr>
        <p:spPr>
          <a:xfrm>
            <a:off x="6620256" y="3513582"/>
            <a:ext cx="1993501" cy="555601"/>
          </a:xfrm>
          <a:prstGeom prst="rect">
            <a:avLst/>
          </a:prstGeom>
          <a:solidFill>
            <a:srgbClr val="EFF6FF"/>
          </a:solidFill>
          <a:ln>
            <a:solidFill>
              <a:srgbClr val="E2E8F0"/>
            </a:solidFill>
          </a:ln>
        </p:spPr>
        <p:txBody>
          <a:bodyPr lIns="0" tIns="0" rIns="0" bIns="0" anchor="ctr"/>
          <a:lstStyle/>
          <a:p>
            <a:pPr/>
          </a:p>
        </p:txBody>
      </p:sp>
      <p:sp>
        <p:nvSpPr>
          <p:cNvPr id="342" name="Google Shape;311;p24"/>
          <p:cNvSpPr/>
          <p:nvPr/>
        </p:nvSpPr>
        <p:spPr>
          <a:xfrm>
            <a:off x="6620256" y="3513582"/>
            <a:ext cx="108301" cy="555601"/>
          </a:xfrm>
          <a:prstGeom prst="rect">
            <a:avLst/>
          </a:prstGeom>
          <a:solidFill>
            <a:srgbClr val="D97706"/>
          </a:solidFill>
          <a:ln w="12700">
            <a:solidFill>
              <a:srgbClr val="D97706"/>
            </a:solidFill>
          </a:ln>
        </p:spPr>
        <p:txBody>
          <a:bodyPr lIns="0" tIns="0" rIns="0" bIns="0" anchor="ctr"/>
          <a:lstStyle/>
          <a:p>
            <a:pPr/>
          </a:p>
        </p:txBody>
      </p:sp>
      <p:sp>
        <p:nvSpPr>
          <p:cNvPr id="343" name="Google Shape;312;p24"/>
          <p:cNvSpPr txBox="1"/>
          <p:nvPr/>
        </p:nvSpPr>
        <p:spPr>
          <a:xfrm>
            <a:off x="6774394" y="3737026"/>
            <a:ext cx="502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800">
                <a:solidFill>
                  <a:srgbClr val="DC2626"/>
                </a:solidFill>
                <a:latin typeface="Calibri"/>
                <a:ea typeface="Calibri"/>
                <a:cs typeface="Calibri"/>
                <a:sym typeface="Calibri"/>
              </a:defRPr>
            </a:lvl1pPr>
          </a:lstStyle>
          <a:p>
            <a:pPr/>
            <a:r>
              <a:t>98</a:t>
            </a:r>
          </a:p>
        </p:txBody>
      </p:sp>
      <p:sp>
        <p:nvSpPr>
          <p:cNvPr id="344" name="Google Shape;313;p24"/>
          <p:cNvSpPr/>
          <p:nvPr/>
        </p:nvSpPr>
        <p:spPr>
          <a:xfrm>
            <a:off x="7117274" y="1234439"/>
            <a:ext cx="1" cy="2999101"/>
          </a:xfrm>
          <a:prstGeom prst="line">
            <a:avLst/>
          </a:prstGeom>
          <a:ln w="12700">
            <a:solidFill>
              <a:srgbClr val="6366F1"/>
            </a:solidFill>
            <a:prstDash val="dash"/>
          </a:ln>
        </p:spPr>
        <p:txBody>
          <a:bodyPr lIns="0" tIns="0" rIns="0" bIns="0"/>
          <a:lstStyle/>
          <a:p>
            <a:pPr/>
          </a:p>
        </p:txBody>
      </p:sp>
      <p:sp>
        <p:nvSpPr>
          <p:cNvPr id="345" name="Google Shape;314;p24"/>
          <p:cNvSpPr txBox="1"/>
          <p:nvPr/>
        </p:nvSpPr>
        <p:spPr>
          <a:xfrm>
            <a:off x="6769803" y="3957564"/>
            <a:ext cx="694801" cy="186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i="1" sz="600">
                <a:solidFill>
                  <a:srgbClr val="6366F1"/>
                </a:solidFill>
                <a:latin typeface="Calibri"/>
                <a:ea typeface="Calibri"/>
                <a:cs typeface="Calibri"/>
                <a:sym typeface="Calibri"/>
              </a:defRPr>
            </a:pPr>
            <a:r>
              <a:t>FP16</a:t>
            </a:r>
          </a:p>
          <a:p>
            <a:pPr algn="ctr">
              <a:defRPr i="1" sz="600">
                <a:solidFill>
                  <a:srgbClr val="6366F1"/>
                </a:solidFill>
                <a:latin typeface="Calibri"/>
                <a:ea typeface="Calibri"/>
                <a:cs typeface="Calibri"/>
                <a:sym typeface="Calibri"/>
              </a:defRPr>
            </a:pPr>
            <a:r>
              <a:t>baseline</a:t>
            </a:r>
          </a:p>
        </p:txBody>
      </p:sp>
      <p:sp>
        <p:nvSpPr>
          <p:cNvPr id="346" name="Google Shape;315;p24"/>
          <p:cNvSpPr/>
          <p:nvPr/>
        </p:nvSpPr>
        <p:spPr>
          <a:xfrm>
            <a:off x="292608" y="4434840"/>
            <a:ext cx="164701" cy="118801"/>
          </a:xfrm>
          <a:prstGeom prst="rect">
            <a:avLst/>
          </a:prstGeom>
          <a:solidFill>
            <a:srgbClr val="16A34A"/>
          </a:solidFill>
          <a:ln w="12700">
            <a:solidFill>
              <a:srgbClr val="16A34A"/>
            </a:solidFill>
          </a:ln>
        </p:spPr>
        <p:txBody>
          <a:bodyPr lIns="0" tIns="0" rIns="0" bIns="0" anchor="ctr"/>
          <a:lstStyle/>
          <a:p>
            <a:pPr/>
          </a:p>
        </p:txBody>
      </p:sp>
      <p:sp>
        <p:nvSpPr>
          <p:cNvPr id="347" name="Google Shape;316;p24"/>
          <p:cNvSpPr txBox="1"/>
          <p:nvPr/>
        </p:nvSpPr>
        <p:spPr>
          <a:xfrm>
            <a:off x="502919" y="4444563"/>
            <a:ext cx="1536302"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700">
                <a:solidFill>
                  <a:srgbClr val="64748B"/>
                </a:solidFill>
                <a:latin typeface="Calibri"/>
                <a:ea typeface="Calibri"/>
                <a:cs typeface="Calibri"/>
                <a:sym typeface="Calibri"/>
              </a:defRPr>
            </a:lvl1pPr>
          </a:lstStyle>
          <a:p>
            <a:pPr/>
            <a:r>
              <a:t>GPTQ INT4 (Marlin) - compute-bound</a:t>
            </a:r>
          </a:p>
        </p:txBody>
      </p:sp>
      <p:sp>
        <p:nvSpPr>
          <p:cNvPr id="348" name="Google Shape;317;p24"/>
          <p:cNvSpPr/>
          <p:nvPr/>
        </p:nvSpPr>
        <p:spPr>
          <a:xfrm>
            <a:off x="2066544" y="4434840"/>
            <a:ext cx="164701" cy="118801"/>
          </a:xfrm>
          <a:prstGeom prst="rect">
            <a:avLst/>
          </a:prstGeom>
          <a:solidFill>
            <a:srgbClr val="6366F1"/>
          </a:solidFill>
          <a:ln w="12700">
            <a:solidFill>
              <a:srgbClr val="6366F1"/>
            </a:solidFill>
          </a:ln>
        </p:spPr>
        <p:txBody>
          <a:bodyPr lIns="0" tIns="0" rIns="0" bIns="0" anchor="ctr"/>
          <a:lstStyle/>
          <a:p>
            <a:pPr/>
          </a:p>
        </p:txBody>
      </p:sp>
      <p:sp>
        <p:nvSpPr>
          <p:cNvPr id="349" name="Google Shape;318;p24"/>
          <p:cNvSpPr txBox="1"/>
          <p:nvPr/>
        </p:nvSpPr>
        <p:spPr>
          <a:xfrm>
            <a:off x="2276855" y="4444563"/>
            <a:ext cx="1536302"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700">
                <a:solidFill>
                  <a:srgbClr val="64748B"/>
                </a:solidFill>
                <a:latin typeface="Calibri"/>
                <a:ea typeface="Calibri"/>
                <a:cs typeface="Calibri"/>
                <a:sym typeface="Calibri"/>
              </a:defRPr>
            </a:lvl1pPr>
          </a:lstStyle>
          <a:p>
            <a:pPr/>
            <a:r>
              <a:t>FP16 baseline</a:t>
            </a:r>
          </a:p>
        </p:txBody>
      </p:sp>
      <p:sp>
        <p:nvSpPr>
          <p:cNvPr id="350" name="Google Shape;319;p24"/>
          <p:cNvSpPr/>
          <p:nvPr/>
        </p:nvSpPr>
        <p:spPr>
          <a:xfrm>
            <a:off x="3840479" y="4434840"/>
            <a:ext cx="164701" cy="118801"/>
          </a:xfrm>
          <a:prstGeom prst="rect">
            <a:avLst/>
          </a:prstGeom>
          <a:solidFill>
            <a:srgbClr val="DC2626"/>
          </a:solidFill>
          <a:ln w="12700">
            <a:solidFill>
              <a:srgbClr val="DC2626"/>
            </a:solidFill>
          </a:ln>
        </p:spPr>
        <p:txBody>
          <a:bodyPr lIns="0" tIns="0" rIns="0" bIns="0" anchor="ctr"/>
          <a:lstStyle/>
          <a:p>
            <a:pPr/>
          </a:p>
        </p:txBody>
      </p:sp>
      <p:sp>
        <p:nvSpPr>
          <p:cNvPr id="351" name="Google Shape;320;p24"/>
          <p:cNvSpPr txBox="1"/>
          <p:nvPr/>
        </p:nvSpPr>
        <p:spPr>
          <a:xfrm>
            <a:off x="4050791" y="4444563"/>
            <a:ext cx="15363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700">
                <a:solidFill>
                  <a:srgbClr val="64748B"/>
                </a:solidFill>
                <a:latin typeface="Calibri"/>
                <a:ea typeface="Calibri"/>
                <a:cs typeface="Calibri"/>
                <a:sym typeface="Calibri"/>
              </a:defRPr>
            </a:lvl1pPr>
          </a:lstStyle>
          <a:p>
            <a:pPr/>
            <a:r>
              <a:t>GPTQ INT8 (exllama) - sub-FP16</a:t>
            </a:r>
          </a:p>
        </p:txBody>
      </p:sp>
      <p:sp>
        <p:nvSpPr>
          <p:cNvPr id="352" name="Google Shape;321;p24"/>
          <p:cNvSpPr/>
          <p:nvPr/>
        </p:nvSpPr>
        <p:spPr>
          <a:xfrm>
            <a:off x="5614415" y="4434840"/>
            <a:ext cx="164701" cy="118801"/>
          </a:xfrm>
          <a:prstGeom prst="rect">
            <a:avLst/>
          </a:prstGeom>
          <a:solidFill>
            <a:srgbClr val="D97706"/>
          </a:solidFill>
          <a:ln w="12700">
            <a:solidFill>
              <a:srgbClr val="D97706"/>
            </a:solidFill>
          </a:ln>
        </p:spPr>
        <p:txBody>
          <a:bodyPr lIns="0" tIns="0" rIns="0" bIns="0" anchor="ctr"/>
          <a:lstStyle/>
          <a:p>
            <a:pPr/>
          </a:p>
        </p:txBody>
      </p:sp>
      <p:sp>
        <p:nvSpPr>
          <p:cNvPr id="353" name="Google Shape;322;p24"/>
          <p:cNvSpPr txBox="1"/>
          <p:nvPr/>
        </p:nvSpPr>
        <p:spPr>
          <a:xfrm>
            <a:off x="5824728" y="4444563"/>
            <a:ext cx="15363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700">
                <a:solidFill>
                  <a:srgbClr val="64748B"/>
                </a:solidFill>
                <a:latin typeface="Calibri"/>
                <a:ea typeface="Calibri"/>
                <a:cs typeface="Calibri"/>
                <a:sym typeface="Calibri"/>
              </a:defRPr>
            </a:lvl1pPr>
          </a:lstStyle>
          <a:p>
            <a:pPr/>
            <a:r>
              <a:t>AWQ INT4 (fused GEMV)</a:t>
            </a:r>
          </a:p>
        </p:txBody>
      </p:sp>
      <p:sp>
        <p:nvSpPr>
          <p:cNvPr id="354" name="Google Shape;323;p24"/>
          <p:cNvSpPr/>
          <p:nvPr/>
        </p:nvSpPr>
        <p:spPr>
          <a:xfrm>
            <a:off x="7388352" y="4434840"/>
            <a:ext cx="164701" cy="118801"/>
          </a:xfrm>
          <a:prstGeom prst="rect">
            <a:avLst/>
          </a:prstGeom>
          <a:solidFill>
            <a:srgbClr val="94A3B8"/>
          </a:solidFill>
          <a:ln w="12700">
            <a:solidFill>
              <a:srgbClr val="94A3B8"/>
            </a:solidFill>
          </a:ln>
        </p:spPr>
        <p:txBody>
          <a:bodyPr lIns="0" tIns="0" rIns="0" bIns="0" anchor="ctr"/>
          <a:lstStyle/>
          <a:p>
            <a:pPr/>
          </a:p>
        </p:txBody>
      </p:sp>
      <p:sp>
        <p:nvSpPr>
          <p:cNvPr id="355" name="Google Shape;324;p24"/>
          <p:cNvSpPr txBox="1"/>
          <p:nvPr/>
        </p:nvSpPr>
        <p:spPr>
          <a:xfrm>
            <a:off x="7598664" y="4444563"/>
            <a:ext cx="15363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700">
                <a:solidFill>
                  <a:srgbClr val="64748B"/>
                </a:solidFill>
                <a:latin typeface="Calibri"/>
                <a:ea typeface="Calibri"/>
                <a:cs typeface="Calibri"/>
                <a:sym typeface="Calibri"/>
              </a:defRPr>
            </a:lvl1pPr>
          </a:lstStyle>
          <a:p>
            <a:pPr/>
            <a:r>
              <a:t>NF4 (HF fallback†)</a:t>
            </a:r>
          </a:p>
        </p:txBody>
      </p:sp>
      <p:sp>
        <p:nvSpPr>
          <p:cNvPr id="356" name="Google Shape;325;p24"/>
          <p:cNvSpPr/>
          <p:nvPr/>
        </p:nvSpPr>
        <p:spPr>
          <a:xfrm>
            <a:off x="292600" y="4681725"/>
            <a:ext cx="8221499" cy="347401"/>
          </a:xfrm>
          <a:prstGeom prst="rect">
            <a:avLst/>
          </a:prstGeom>
          <a:solidFill>
            <a:srgbClr val="FFFFFF"/>
          </a:solidFill>
          <a:ln>
            <a:solidFill>
              <a:srgbClr val="000000"/>
            </a:solidFill>
          </a:ln>
        </p:spPr>
        <p:txBody>
          <a:bodyPr lIns="0" tIns="0" rIns="0" bIns="0" anchor="ctr"/>
          <a:lstStyle/>
          <a:p>
            <a:pPr/>
          </a:p>
        </p:txBody>
      </p:sp>
      <p:sp>
        <p:nvSpPr>
          <p:cNvPr id="357" name="Google Shape;326;p24"/>
          <p:cNvSpPr txBox="1"/>
          <p:nvPr/>
        </p:nvSpPr>
        <p:spPr>
          <a:xfrm>
            <a:off x="411474" y="4728313"/>
            <a:ext cx="8102701" cy="25417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rgbClr val="1E293B"/>
                </a:solidFill>
                <a:latin typeface="Calibri"/>
                <a:ea typeface="Calibri"/>
                <a:cs typeface="Calibri"/>
                <a:sym typeface="Calibri"/>
              </a:defRPr>
            </a:lvl1pPr>
          </a:lstStyle>
          <a:p>
            <a:pPr/>
            <a:r>
              <a:t>GPTQ INT4 (Marlin) achieves 1.78–2.71× speedup over FP16 across all model families.  AWQ fused-GEMV is optimized for single-batch prefill, not batched decode - explaining throughput collapse under vLLM.</a:t>
            </a:r>
          </a:p>
        </p:txBody>
      </p:sp>
      <p:sp>
        <p:nvSpPr>
          <p:cNvPr id="358" name="Google Shape;327;p24"/>
          <p:cNvSpPr/>
          <p:nvPr/>
        </p:nvSpPr>
        <p:spPr>
          <a:xfrm>
            <a:off x="188979" y="737619"/>
            <a:ext cx="8455802" cy="1"/>
          </a:xfrm>
          <a:prstGeom prst="line">
            <a:avLst/>
          </a:prstGeom>
          <a:ln>
            <a:solidFill>
              <a:srgbClr val="D9D9D9"/>
            </a:solidFill>
          </a:ln>
        </p:spPr>
        <p:txBody>
          <a:bodyPr lIns="0" tIns="0" rIns="0" bIns="0"/>
          <a:lstStyle/>
          <a:p>
            <a:pP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0" name="Google Shape;333;p25"/>
          <p:cNvSpPr txBox="1"/>
          <p:nvPr/>
        </p:nvSpPr>
        <p:spPr>
          <a:xfrm>
            <a:off x="159394" y="168570"/>
            <a:ext cx="8138102" cy="3533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rgbClr val="0F172A"/>
                </a:solidFill>
                <a:latin typeface="Calibri"/>
                <a:ea typeface="Calibri"/>
                <a:cs typeface="Calibri"/>
                <a:sym typeface="Calibri"/>
              </a:defRPr>
            </a:lvl1pPr>
          </a:lstStyle>
          <a:p>
            <a:pPr/>
            <a:r>
              <a:t>Routing Simulation &amp; KD Recovery</a:t>
            </a:r>
          </a:p>
        </p:txBody>
      </p:sp>
      <p:sp>
        <p:nvSpPr>
          <p:cNvPr id="361" name="Google Shape;334;p25"/>
          <p:cNvSpPr/>
          <p:nvPr/>
        </p:nvSpPr>
        <p:spPr>
          <a:xfrm>
            <a:off x="128165" y="601255"/>
            <a:ext cx="8138102" cy="1"/>
          </a:xfrm>
          <a:prstGeom prst="line">
            <a:avLst/>
          </a:prstGeom>
          <a:ln>
            <a:solidFill>
              <a:srgbClr val="E2E8F0"/>
            </a:solidFill>
          </a:ln>
        </p:spPr>
        <p:txBody>
          <a:bodyPr lIns="0" tIns="0" rIns="0" bIns="0"/>
          <a:lstStyle/>
          <a:p>
            <a:pPr/>
          </a:p>
        </p:txBody>
      </p:sp>
      <p:sp>
        <p:nvSpPr>
          <p:cNvPr id="362" name="Google Shape;335;p25"/>
          <p:cNvSpPr txBox="1"/>
          <p:nvPr/>
        </p:nvSpPr>
        <p:spPr>
          <a:xfrm>
            <a:off x="292810" y="4982097"/>
            <a:ext cx="2743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900">
                <a:solidFill>
                  <a:srgbClr val="64748B"/>
                </a:solidFill>
                <a:latin typeface="Calibri"/>
                <a:ea typeface="Calibri"/>
                <a:cs typeface="Calibri"/>
                <a:sym typeface="Calibri"/>
              </a:defRPr>
            </a:lvl1pPr>
          </a:lstStyle>
          <a:p>
            <a:pPr/>
            <a:r>
              <a:t>HPML · Spring 2026</a:t>
            </a:r>
          </a:p>
        </p:txBody>
      </p:sp>
      <p:sp>
        <p:nvSpPr>
          <p:cNvPr id="363" name="Google Shape;336;p25"/>
          <p:cNvSpPr txBox="1"/>
          <p:nvPr/>
        </p:nvSpPr>
        <p:spPr>
          <a:xfrm>
            <a:off x="7726680" y="4856031"/>
            <a:ext cx="9144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900">
                <a:solidFill>
                  <a:srgbClr val="64748B"/>
                </a:solidFill>
                <a:latin typeface="Calibri"/>
                <a:ea typeface="Calibri"/>
                <a:cs typeface="Calibri"/>
                <a:sym typeface="Calibri"/>
              </a:defRPr>
            </a:lvl1pPr>
          </a:lstStyle>
          <a:p>
            <a:pPr/>
            <a:r>
              <a:t>10 / 15</a:t>
            </a:r>
          </a:p>
        </p:txBody>
      </p:sp>
      <p:sp>
        <p:nvSpPr>
          <p:cNvPr id="364" name="Google Shape;337;p25"/>
          <p:cNvSpPr txBox="1"/>
          <p:nvPr/>
        </p:nvSpPr>
        <p:spPr>
          <a:xfrm>
            <a:off x="241881" y="808244"/>
            <a:ext cx="4846200"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solidFill>
                  <a:srgbClr val="0F172A"/>
                </a:solidFill>
                <a:latin typeface="Calibri"/>
                <a:ea typeface="Calibri"/>
                <a:cs typeface="Calibri"/>
                <a:sym typeface="Calibri"/>
              </a:defRPr>
            </a:lvl1pPr>
          </a:lstStyle>
          <a:p>
            <a:pPr/>
            <a:r>
              <a:t>Uncertainty-based routing (PubMedQA)</a:t>
            </a:r>
          </a:p>
        </p:txBody>
      </p:sp>
      <p:sp>
        <p:nvSpPr>
          <p:cNvPr id="365" name="Google Shape;338;p25"/>
          <p:cNvSpPr/>
          <p:nvPr/>
        </p:nvSpPr>
        <p:spPr>
          <a:xfrm>
            <a:off x="241825" y="2852337"/>
            <a:ext cx="4846200" cy="691801"/>
          </a:xfrm>
          <a:prstGeom prst="rect">
            <a:avLst/>
          </a:prstGeom>
          <a:ln>
            <a:solidFill>
              <a:srgbClr val="D97706"/>
            </a:solidFill>
          </a:ln>
          <a:effectLst>
            <a:outerShdw sx="100000" sy="100000" kx="0" ky="0" algn="b" rotWithShape="0" blurRad="50800" dist="12700" dir="8100000">
              <a:srgbClr val="94A3B8">
                <a:alpha val="14900"/>
              </a:srgbClr>
            </a:outerShdw>
          </a:effectLst>
        </p:spPr>
        <p:txBody>
          <a:bodyPr lIns="0" tIns="0" rIns="0" bIns="0" anchor="ctr"/>
          <a:lstStyle/>
          <a:p>
            <a:pPr/>
          </a:p>
        </p:txBody>
      </p:sp>
      <p:sp>
        <p:nvSpPr>
          <p:cNvPr id="366" name="Google Shape;339;p25"/>
          <p:cNvSpPr txBox="1"/>
          <p:nvPr/>
        </p:nvSpPr>
        <p:spPr>
          <a:xfrm>
            <a:off x="267400" y="2964614"/>
            <a:ext cx="4795200" cy="4672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000">
                <a:solidFill>
                  <a:srgbClr val="1E293B"/>
                </a:solidFill>
                <a:latin typeface="Calibri"/>
                <a:ea typeface="Calibri"/>
                <a:cs typeface="Calibri"/>
                <a:sym typeface="Calibri"/>
              </a:defRPr>
            </a:pPr>
            <a:r>
              <a:t>Mistral’s FP16 is already very efficient (13% faster than LLama1)</a:t>
            </a:r>
          </a:p>
          <a:p>
            <a:pPr>
              <a:defRPr sz="1000">
                <a:solidFill>
                  <a:srgbClr val="1E293B"/>
                </a:solidFill>
                <a:latin typeface="Calibri"/>
                <a:ea typeface="Calibri"/>
                <a:cs typeface="Calibri"/>
                <a:sym typeface="Calibri"/>
              </a:defRPr>
            </a:pPr>
            <a:r>
              <a:t>All Mistral-7B’s routing configs produce negative cost savings, as routing tax exceeds any throughput advantage, even for highly efficient serving such as GPTQ INT4</a:t>
            </a:r>
          </a:p>
        </p:txBody>
      </p:sp>
      <p:sp>
        <p:nvSpPr>
          <p:cNvPr id="367" name="Google Shape;340;p25"/>
          <p:cNvSpPr txBox="1"/>
          <p:nvPr/>
        </p:nvSpPr>
        <p:spPr>
          <a:xfrm>
            <a:off x="241900" y="3613864"/>
            <a:ext cx="5102100" cy="3021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100">
                <a:solidFill>
                  <a:srgbClr val="0F172A"/>
                </a:solidFill>
                <a:latin typeface="Calibri"/>
                <a:ea typeface="Calibri"/>
                <a:cs typeface="Calibri"/>
                <a:sym typeface="Calibri"/>
              </a:defRPr>
            </a:pPr>
            <a:r>
              <a:t>Knowledge Distillation Improvements at T=1,2, but collapses at Higher Temperatures</a:t>
            </a:r>
          </a:p>
          <a:p>
            <a:pPr>
              <a:defRPr sz="1000">
                <a:solidFill>
                  <a:srgbClr val="0F172A"/>
                </a:solidFill>
                <a:latin typeface="Calibri"/>
                <a:ea typeface="Calibri"/>
                <a:cs typeface="Calibri"/>
                <a:sym typeface="Calibri"/>
              </a:defRPr>
            </a:pPr>
            <a:r>
              <a:t>FP16 teacher, NF4 student</a:t>
            </a:r>
          </a:p>
        </p:txBody>
      </p:sp>
      <p:sp>
        <p:nvSpPr>
          <p:cNvPr id="368" name="Google Shape;341;p25"/>
          <p:cNvSpPr/>
          <p:nvPr/>
        </p:nvSpPr>
        <p:spPr>
          <a:xfrm>
            <a:off x="241820" y="1040024"/>
            <a:ext cx="4846200" cy="219600"/>
          </a:xfrm>
          <a:prstGeom prst="rect">
            <a:avLst/>
          </a:prstGeom>
          <a:solidFill>
            <a:srgbClr val="FFFFFF"/>
          </a:solidFill>
          <a:ln w="12700">
            <a:solidFill>
              <a:srgbClr val="000000"/>
            </a:solidFill>
          </a:ln>
        </p:spPr>
        <p:txBody>
          <a:bodyPr lIns="0" tIns="0" rIns="0" bIns="0" anchor="ctr"/>
          <a:lstStyle/>
          <a:p>
            <a:pPr/>
          </a:p>
        </p:txBody>
      </p:sp>
      <p:sp>
        <p:nvSpPr>
          <p:cNvPr id="369" name="Google Shape;342;p25"/>
          <p:cNvSpPr txBox="1"/>
          <p:nvPr/>
        </p:nvSpPr>
        <p:spPr>
          <a:xfrm>
            <a:off x="333260" y="1086311"/>
            <a:ext cx="46635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800">
                <a:latin typeface="Calibri"/>
                <a:ea typeface="Calibri"/>
                <a:cs typeface="Calibri"/>
                <a:sym typeface="Calibri"/>
              </a:defRPr>
            </a:lvl1pPr>
          </a:lstStyle>
          <a:p>
            <a:pPr/>
            <a:r>
              <a:t>vLLM kernel slower than FP16  (inference still works, routing adds cost)</a:t>
            </a:r>
          </a:p>
        </p:txBody>
      </p:sp>
      <p:graphicFrame>
        <p:nvGraphicFramePr>
          <p:cNvPr id="370" name="Google Shape;343;p25"/>
          <p:cNvGraphicFramePr/>
          <p:nvPr/>
        </p:nvGraphicFramePr>
        <p:xfrm>
          <a:off x="241820" y="1259480"/>
          <a:ext cx="4846300" cy="1257251"/>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1737350"/>
                <a:gridCol w="1371600"/>
                <a:gridCol w="868675"/>
                <a:gridCol w="868675"/>
              </a:tblGrid>
              <a:tr h="251450">
                <a:tc>
                  <a:txBody>
                    <a:bodyPr/>
                    <a:lstStyle/>
                    <a:p>
                      <a:pPr algn="l">
                        <a:defRPr sz="1800"/>
                      </a:pPr>
                      <a:r>
                        <a:rPr b="1" sz="900">
                          <a:solidFill>
                            <a:srgbClr val="FFFFFF"/>
                          </a:solidFill>
                        </a:rPr>
                        <a:t>Model · Config</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900">
                          <a:solidFill>
                            <a:srgbClr val="FFFFFF"/>
                          </a:solidFill>
                        </a:rPr>
                        <a:t>vLLM tok/s</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900">
                          <a:solidFill>
                            <a:srgbClr val="FFFFFF"/>
                          </a:solidFill>
                        </a:rPr>
                        <a:t>Cost Saving</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c>
                  <a:txBody>
                    <a:bodyPr/>
                    <a:lstStyle/>
                    <a:p>
                      <a:pPr algn="l">
                        <a:defRPr sz="1800"/>
                      </a:pPr>
                      <a:r>
                        <a:rPr b="1" sz="900">
                          <a:solidFill>
                            <a:srgbClr val="FFFFFF"/>
                          </a:solidFill>
                        </a:rPr>
                        <a:t>Eff. Acc</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0369A1"/>
                    </a:solidFill>
                  </a:tcPr>
                </a:tc>
              </a:tr>
              <a:tr h="251450">
                <a:tc>
                  <a:txBody>
                    <a:bodyPr/>
                    <a:lstStyle/>
                    <a:p>
                      <a:pPr algn="l">
                        <a:defRPr sz="1800"/>
                      </a:pPr>
                      <a:r>
                        <a:rPr sz="900">
                          <a:solidFill>
                            <a:srgbClr val="64748B"/>
                          </a:solidFill>
                        </a:rPr>
                        <a:t>Mistral-7B GPTQ INT8</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c>
                  <a:txBody>
                    <a:bodyPr/>
                    <a:lstStyle/>
                    <a:p>
                      <a:pPr algn="l">
                        <a:defRPr sz="1800"/>
                      </a:pPr>
                      <a:r>
                        <a:rPr sz="900">
                          <a:solidFill>
                            <a:srgbClr val="64748B"/>
                          </a:solidFill>
                        </a:rPr>
                        <a:t>445.5 (0.47x FP16)</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c>
                  <a:txBody>
                    <a:bodyPr/>
                    <a:lstStyle/>
                    <a:p>
                      <a:pPr algn="l">
                        <a:defRPr sz="1800"/>
                      </a:pPr>
                      <a:r>
                        <a:rPr sz="900">
                          <a:solidFill>
                            <a:srgbClr val="DC2626"/>
                          </a:solidFill>
                        </a:rPr>
                        <a:t>−59.4 %</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c>
                  <a:txBody>
                    <a:bodyPr/>
                    <a:lstStyle/>
                    <a:p>
                      <a:pPr algn="l">
                        <a:defRPr sz="1800"/>
                      </a:pPr>
                      <a:r>
                        <a:rPr sz="900">
                          <a:solidFill>
                            <a:srgbClr val="64748B"/>
                          </a:solidFill>
                        </a:rPr>
                        <a:t>49.1%</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r>
              <a:tr h="251450">
                <a:tc>
                  <a:txBody>
                    <a:bodyPr/>
                    <a:lstStyle/>
                    <a:p>
                      <a:pPr algn="l">
                        <a:defRPr sz="1800"/>
                      </a:pPr>
                      <a:r>
                        <a:rPr sz="900">
                          <a:solidFill>
                            <a:srgbClr val="64748B"/>
                          </a:solidFill>
                        </a:rPr>
                        <a:t>Mistral-7B  GPTQ INT4</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c>
                  <a:txBody>
                    <a:bodyPr/>
                    <a:lstStyle/>
                    <a:p>
                      <a:pPr algn="l">
                        <a:defRPr sz="1800"/>
                      </a:pPr>
                      <a:r>
                        <a:rPr sz="900">
                          <a:solidFill>
                            <a:srgbClr val="64748B"/>
                          </a:solidFill>
                        </a:rPr>
                        <a:t>1677  (1.78× FP16)</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c>
                  <a:txBody>
                    <a:bodyPr/>
                    <a:lstStyle/>
                    <a:p>
                      <a:pPr algn="l">
                        <a:defRPr sz="1800"/>
                      </a:pPr>
                      <a:r>
                        <a:rPr sz="900">
                          <a:solidFill>
                            <a:srgbClr val="DC2626"/>
                          </a:solidFill>
                        </a:rPr>
                        <a:t>−108.8%</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c>
                  <a:txBody>
                    <a:bodyPr/>
                    <a:lstStyle/>
                    <a:p>
                      <a:pPr algn="l">
                        <a:defRPr sz="1800"/>
                      </a:pPr>
                      <a:r>
                        <a:rPr sz="900">
                          <a:solidFill>
                            <a:srgbClr val="64748B"/>
                          </a:solidFill>
                        </a:rPr>
                        <a:t>49.6%</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r>
              <a:tr h="251450">
                <a:tc>
                  <a:txBody>
                    <a:bodyPr/>
                    <a:lstStyle/>
                    <a:p>
                      <a:pPr algn="l">
                        <a:defRPr sz="1800"/>
                      </a:pPr>
                      <a:r>
                        <a:rPr sz="900">
                          <a:solidFill>
                            <a:srgbClr val="64748B"/>
                          </a:solidFill>
                        </a:rPr>
                        <a:t>Mistral-7B  AWQ INT4 </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c>
                  <a:txBody>
                    <a:bodyPr/>
                    <a:lstStyle/>
                    <a:p>
                      <a:pPr algn="l">
                        <a:defRPr sz="1800"/>
                      </a:pPr>
                      <a:r>
                        <a:rPr sz="900">
                          <a:solidFill>
                            <a:srgbClr val="64748B"/>
                          </a:solidFill>
                        </a:rPr>
                        <a:t>207   (0.22× FP16)</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c>
                  <a:txBody>
                    <a:bodyPr/>
                    <a:lstStyle/>
                    <a:p>
                      <a:pPr algn="l">
                        <a:defRPr sz="1800"/>
                      </a:pPr>
                      <a:r>
                        <a:rPr sz="900">
                          <a:solidFill>
                            <a:srgbClr val="DC2626"/>
                          </a:solidFill>
                        </a:rPr>
                        <a:t>−80.0%</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c>
                  <a:txBody>
                    <a:bodyPr/>
                    <a:lstStyle/>
                    <a:p>
                      <a:pPr algn="l">
                        <a:defRPr sz="1800"/>
                      </a:pPr>
                      <a:r>
                        <a:rPr sz="900">
                          <a:solidFill>
                            <a:srgbClr val="64748B"/>
                          </a:solidFill>
                        </a:rPr>
                        <a:t>49.3%</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r>
              <a:tr h="251450">
                <a:tc>
                  <a:txBody>
                    <a:bodyPr/>
                    <a:lstStyle/>
                    <a:p>
                      <a:pPr algn="l">
                        <a:defRPr sz="1800"/>
                      </a:pPr>
                      <a:r>
                        <a:rPr sz="900">
                          <a:solidFill>
                            <a:srgbClr val="64748B"/>
                          </a:solidFill>
                        </a:rPr>
                        <a:t>Mistral-7B  NF4</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c>
                  <a:txBody>
                    <a:bodyPr/>
                    <a:lstStyle/>
                    <a:p>
                      <a:pPr algn="l">
                        <a:defRPr sz="1800"/>
                      </a:pPr>
                      <a:r>
                        <a:rPr sz="900">
                          <a:solidFill>
                            <a:srgbClr val="64748B"/>
                          </a:solidFill>
                        </a:rPr>
                        <a:t>89    (0.09× FP16)</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c>
                  <a:txBody>
                    <a:bodyPr/>
                    <a:lstStyle/>
                    <a:p>
                      <a:pPr algn="l">
                        <a:defRPr sz="1800"/>
                      </a:pPr>
                      <a:r>
                        <a:rPr sz="900">
                          <a:solidFill>
                            <a:srgbClr val="DC2626"/>
                          </a:solidFill>
                        </a:rPr>
                        <a:t>−122.8%</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c>
                  <a:txBody>
                    <a:bodyPr/>
                    <a:lstStyle/>
                    <a:p>
                      <a:pPr algn="l">
                        <a:defRPr sz="1800"/>
                      </a:pPr>
                      <a:r>
                        <a:rPr sz="900">
                          <a:solidFill>
                            <a:srgbClr val="64748B"/>
                          </a:solidFill>
                        </a:rPr>
                        <a:t>49.1%</a:t>
                      </a:r>
                    </a:p>
                  </a:txBody>
                  <a:tcPr marL="45725" marR="45725" marT="45725" marB="45725" anchor="t" anchorCtr="0" horzOverflow="overflow">
                    <a:lnL>
                      <a:solidFill>
                        <a:srgbClr val="000000"/>
                      </a:solidFill>
                    </a:lnL>
                    <a:lnR>
                      <a:solidFill>
                        <a:srgbClr val="000000"/>
                      </a:solidFill>
                    </a:lnR>
                    <a:lnT>
                      <a:solidFill>
                        <a:srgbClr val="000000"/>
                      </a:solidFill>
                    </a:lnT>
                    <a:lnB>
                      <a:solidFill>
                        <a:srgbClr val="000000"/>
                      </a:solidFill>
                    </a:lnB>
                    <a:solidFill>
                      <a:srgbClr val="F8FAFC"/>
                    </a:solidFill>
                  </a:tcPr>
                </a:tc>
              </a:tr>
            </a:tbl>
          </a:graphicData>
        </a:graphic>
      </p:graphicFrame>
      <p:pic>
        <p:nvPicPr>
          <p:cNvPr id="371" name="Google Shape;344;p25" descr="Google Shape;344;p25"/>
          <p:cNvPicPr>
            <a:picLocks noChangeAspect="1"/>
          </p:cNvPicPr>
          <p:nvPr/>
        </p:nvPicPr>
        <p:blipFill>
          <a:blip r:embed="rId2">
            <a:extLst/>
          </a:blip>
          <a:srcRect l="0" t="12304" r="50533" b="0"/>
          <a:stretch>
            <a:fillRect/>
          </a:stretch>
        </p:blipFill>
        <p:spPr>
          <a:xfrm>
            <a:off x="5283575" y="1060612"/>
            <a:ext cx="3634366" cy="1639138"/>
          </a:xfrm>
          <a:prstGeom prst="rect">
            <a:avLst/>
          </a:prstGeom>
          <a:ln w="12700">
            <a:miter lim="400000"/>
          </a:ln>
        </p:spPr>
      </p:pic>
      <p:pic>
        <p:nvPicPr>
          <p:cNvPr id="372" name="Google Shape;345;p25" descr="Google Shape;345;p25"/>
          <p:cNvPicPr>
            <a:picLocks noChangeAspect="1"/>
          </p:cNvPicPr>
          <p:nvPr/>
        </p:nvPicPr>
        <p:blipFill>
          <a:blip r:embed="rId2">
            <a:extLst/>
          </a:blip>
          <a:srcRect l="49779" t="12304" r="0" b="0"/>
          <a:stretch>
            <a:fillRect/>
          </a:stretch>
        </p:blipFill>
        <p:spPr>
          <a:xfrm>
            <a:off x="5283575" y="2810025"/>
            <a:ext cx="3724667" cy="1639138"/>
          </a:xfrm>
          <a:prstGeom prst="rect">
            <a:avLst/>
          </a:prstGeom>
          <a:ln w="12700">
            <a:miter lim="400000"/>
          </a:ln>
        </p:spPr>
      </p:pic>
      <p:pic>
        <p:nvPicPr>
          <p:cNvPr id="373" name="Google Shape;346;p25" descr="Google Shape;346;p25"/>
          <p:cNvPicPr>
            <a:picLocks noChangeAspect="1"/>
          </p:cNvPicPr>
          <p:nvPr/>
        </p:nvPicPr>
        <p:blipFill>
          <a:blip r:embed="rId2">
            <a:extLst/>
          </a:blip>
          <a:srcRect l="36438" t="0" r="36299" b="90209"/>
          <a:stretch>
            <a:fillRect/>
          </a:stretch>
        </p:blipFill>
        <p:spPr>
          <a:xfrm>
            <a:off x="6144388" y="767312"/>
            <a:ext cx="2003053" cy="183001"/>
          </a:xfrm>
          <a:prstGeom prst="rect">
            <a:avLst/>
          </a:prstGeom>
          <a:ln w="12700">
            <a:miter lim="400000"/>
          </a:ln>
        </p:spPr>
      </p:pic>
      <p:grpSp>
        <p:nvGrpSpPr>
          <p:cNvPr id="376" name="Google Shape;347;p25"/>
          <p:cNvGrpSpPr/>
          <p:nvPr/>
        </p:nvGrpSpPr>
        <p:grpSpPr>
          <a:xfrm>
            <a:off x="241825" y="4014110"/>
            <a:ext cx="4846200" cy="821101"/>
            <a:chOff x="0" y="0"/>
            <a:chExt cx="4846199" cy="821099"/>
          </a:xfrm>
        </p:grpSpPr>
        <p:sp>
          <p:nvSpPr>
            <p:cNvPr id="374" name="Rectangle"/>
            <p:cNvSpPr/>
            <p:nvPr/>
          </p:nvSpPr>
          <p:spPr>
            <a:xfrm>
              <a:off x="0" y="0"/>
              <a:ext cx="4846200" cy="821100"/>
            </a:xfrm>
            <a:prstGeom prst="rect">
              <a:avLst/>
            </a:prstGeom>
            <a:noFill/>
            <a:ln w="9525" cap="flat">
              <a:solidFill>
                <a:srgbClr val="D97706"/>
              </a:solidFill>
              <a:prstDash val="solid"/>
              <a:round/>
            </a:ln>
            <a:effectLst>
              <a:outerShdw sx="100000" sy="100000" kx="0" ky="0" algn="b" rotWithShape="0" blurRad="50800" dist="12700" dir="8100000">
                <a:srgbClr val="94A3B8">
                  <a:alpha val="14900"/>
                </a:srgbClr>
              </a:outerShdw>
            </a:effectLst>
          </p:spPr>
          <p:txBody>
            <a:bodyPr wrap="square" lIns="0" tIns="0" rIns="0" bIns="0" numCol="1" anchor="ctr">
              <a:noAutofit/>
            </a:bodyPr>
            <a:lstStyle/>
            <a:p>
              <a:pPr>
                <a:defRPr sz="1000">
                  <a:latin typeface="Calibri"/>
                  <a:ea typeface="Calibri"/>
                  <a:cs typeface="Calibri"/>
                  <a:sym typeface="Calibri"/>
                </a:defRPr>
              </a:pPr>
            </a:p>
          </p:txBody>
        </p:sp>
        <p:sp>
          <p:nvSpPr>
            <p:cNvPr id="375" name="At T =1 and 2 wins HellaSwag and TriviaQA. Soft labels from FP16 teacher gives student useful signal that improves NF4 accuracy.…"/>
            <p:cNvSpPr txBox="1"/>
            <p:nvPr/>
          </p:nvSpPr>
          <p:spPr>
            <a:xfrm>
              <a:off x="4762" y="2939"/>
              <a:ext cx="4836676" cy="815222"/>
            </a:xfrm>
            <a:prstGeom prst="rect">
              <a:avLst/>
            </a:prstGeom>
            <a:noFill/>
            <a:ln w="12700" cap="flat">
              <a:noFill/>
              <a:miter lim="400000"/>
            </a:ln>
            <a:effectLst>
              <a:outerShdw sx="100000" sy="100000" kx="0" ky="0" algn="b" rotWithShape="0" blurRad="50800" dist="12700" dir="8100000">
                <a:srgbClr val="94A3B8">
                  <a:alpha val="14900"/>
                </a:srgbClr>
              </a:outerShdw>
            </a:effectLst>
            <a:extLst>
              <a:ext uri="{C572A759-6A51-4108-AA02-DFA0A04FC94B}">
                <ma14:wrappingTextBoxFlag xmlns:ma14="http://schemas.microsoft.com/office/mac/drawingml/2011/main" val="1"/>
              </a:ext>
            </a:extLst>
          </p:spPr>
          <p:txBody>
            <a:bodyPr wrap="square" lIns="91424" tIns="91424" rIns="91424" bIns="91424" numCol="1" anchor="ctr">
              <a:spAutoFit/>
            </a:bodyPr>
            <a:lstStyle/>
            <a:p>
              <a:pPr>
                <a:defRPr sz="1000">
                  <a:latin typeface="Calibri"/>
                  <a:ea typeface="Calibri"/>
                  <a:cs typeface="Calibri"/>
                  <a:sym typeface="Calibri"/>
                </a:defRPr>
              </a:pPr>
              <a:r>
                <a:t>At T =1 and 2 wins HellaSwag and TriviaQA. Soft labels from FP16 teacher gives student useful signal that improves NF4 accuracy.</a:t>
              </a:r>
            </a:p>
            <a:p>
              <a:pPr>
                <a:defRPr sz="1000">
                  <a:latin typeface="Calibri"/>
                  <a:ea typeface="Calibri"/>
                  <a:cs typeface="Calibri"/>
                  <a:sym typeface="Calibri"/>
                </a:defRPr>
              </a:pPr>
              <a:r>
                <a:t>At T&gt;2, MCE explodes for all dataset- worst case bins are severely overconfident.</a:t>
              </a:r>
            </a:p>
            <a:p>
              <a:pPr>
                <a:defRPr sz="1000">
                  <a:latin typeface="Calibri"/>
                  <a:ea typeface="Calibri"/>
                  <a:cs typeface="Calibri"/>
                  <a:sym typeface="Calibri"/>
                </a:defRPr>
              </a:pPr>
              <a:r>
                <a:t>At T &gt;= 4, accuracy collapses. ECE remains low. Lose accuracy without gaining calibration.</a:t>
              </a:r>
            </a:p>
          </p:txBody>
        </p:sp>
      </p:grpSp>
      <p:sp>
        <p:nvSpPr>
          <p:cNvPr id="377" name="Google Shape;348;p25"/>
          <p:cNvSpPr txBox="1"/>
          <p:nvPr/>
        </p:nvSpPr>
        <p:spPr>
          <a:xfrm>
            <a:off x="241899" y="2664991"/>
            <a:ext cx="489150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solidFill>
                  <a:srgbClr val="0F172A"/>
                </a:solidFill>
                <a:latin typeface="Calibri"/>
                <a:ea typeface="Calibri"/>
                <a:cs typeface="Calibri"/>
                <a:sym typeface="Calibri"/>
              </a:defRPr>
            </a:lvl1pPr>
          </a:lstStyle>
          <a:p>
            <a:pPr/>
            <a:r>
              <a:t>A faster kernel doesn't guarantee cheaper serving, routing has a price.</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9" name="Google Shape;354;p26"/>
          <p:cNvSpPr txBox="1"/>
          <p:nvPr/>
        </p:nvSpPr>
        <p:spPr>
          <a:xfrm>
            <a:off x="502919" y="262259"/>
            <a:ext cx="8138102" cy="35331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rgbClr val="0F172A"/>
                </a:solidFill>
                <a:latin typeface="Calibri"/>
                <a:ea typeface="Calibri"/>
                <a:cs typeface="Calibri"/>
                <a:sym typeface="Calibri"/>
              </a:defRPr>
            </a:lvl1pPr>
          </a:lstStyle>
          <a:p>
            <a:pPr/>
            <a:r>
              <a:t>Lessons Learned &amp; Next Steps</a:t>
            </a:r>
          </a:p>
        </p:txBody>
      </p:sp>
      <p:sp>
        <p:nvSpPr>
          <p:cNvPr id="380" name="Google Shape;355;p26"/>
          <p:cNvSpPr/>
          <p:nvPr/>
        </p:nvSpPr>
        <p:spPr>
          <a:xfrm>
            <a:off x="502919" y="694944"/>
            <a:ext cx="8138102" cy="1"/>
          </a:xfrm>
          <a:prstGeom prst="line">
            <a:avLst/>
          </a:prstGeom>
          <a:ln>
            <a:solidFill>
              <a:srgbClr val="E2E8F0"/>
            </a:solidFill>
          </a:ln>
        </p:spPr>
        <p:txBody>
          <a:bodyPr lIns="0" tIns="0" rIns="0" bIns="0"/>
          <a:lstStyle/>
          <a:p>
            <a:pPr/>
          </a:p>
        </p:txBody>
      </p:sp>
      <p:sp>
        <p:nvSpPr>
          <p:cNvPr id="381" name="Google Shape;356;p26"/>
          <p:cNvSpPr txBox="1"/>
          <p:nvPr/>
        </p:nvSpPr>
        <p:spPr>
          <a:xfrm>
            <a:off x="502919" y="4856031"/>
            <a:ext cx="2743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900">
                <a:solidFill>
                  <a:srgbClr val="64748B"/>
                </a:solidFill>
                <a:latin typeface="Calibri"/>
                <a:ea typeface="Calibri"/>
                <a:cs typeface="Calibri"/>
                <a:sym typeface="Calibri"/>
              </a:defRPr>
            </a:lvl1pPr>
          </a:lstStyle>
          <a:p>
            <a:pPr/>
            <a:r>
              <a:t>HPML · Spring 2026</a:t>
            </a:r>
          </a:p>
        </p:txBody>
      </p:sp>
      <p:sp>
        <p:nvSpPr>
          <p:cNvPr id="382" name="Google Shape;357;p26"/>
          <p:cNvSpPr txBox="1"/>
          <p:nvPr/>
        </p:nvSpPr>
        <p:spPr>
          <a:xfrm>
            <a:off x="7726680" y="4856031"/>
            <a:ext cx="9144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900">
                <a:solidFill>
                  <a:srgbClr val="64748B"/>
                </a:solidFill>
                <a:latin typeface="Calibri"/>
                <a:ea typeface="Calibri"/>
                <a:cs typeface="Calibri"/>
                <a:sym typeface="Calibri"/>
              </a:defRPr>
            </a:lvl1pPr>
          </a:lstStyle>
          <a:p>
            <a:pPr/>
            <a:r>
              <a:t>11 / 15</a:t>
            </a:r>
          </a:p>
        </p:txBody>
      </p:sp>
      <p:sp>
        <p:nvSpPr>
          <p:cNvPr id="383" name="Google Shape;358;p26"/>
          <p:cNvSpPr txBox="1"/>
          <p:nvPr/>
        </p:nvSpPr>
        <p:spPr>
          <a:xfrm>
            <a:off x="457170" y="1028080"/>
            <a:ext cx="3931800"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44546A"/>
                </a:solidFill>
                <a:latin typeface="Calibri"/>
                <a:ea typeface="Calibri"/>
                <a:cs typeface="Calibri"/>
                <a:sym typeface="Calibri"/>
              </a:defRPr>
            </a:lvl1pPr>
          </a:lstStyle>
          <a:p>
            <a:pPr/>
            <a:r>
              <a:t>What worked</a:t>
            </a:r>
          </a:p>
        </p:txBody>
      </p:sp>
      <p:sp>
        <p:nvSpPr>
          <p:cNvPr id="384" name="Google Shape;359;p26"/>
          <p:cNvSpPr txBox="1"/>
          <p:nvPr/>
        </p:nvSpPr>
        <p:spPr>
          <a:xfrm>
            <a:off x="502895" y="1262033"/>
            <a:ext cx="3840351" cy="1546468"/>
          </a:xfrm>
          <a:prstGeom prst="rect">
            <a:avLst/>
          </a:prstGeom>
          <a:ln w="12700">
            <a:miter lim="400000"/>
          </a:ln>
          <a:extLst>
            <a:ext uri="{C572A759-6A51-4108-AA02-DFA0A04FC94B}">
              <ma14:wrappingTextBoxFlag xmlns:ma14="http://schemas.microsoft.com/office/mac/drawingml/2011/main" val="1"/>
            </a:ext>
          </a:extLst>
        </p:spPr>
        <p:txBody>
          <a:bodyPr lIns="45699" tIns="45699" rIns="45699" bIns="45699">
            <a:spAutoFit/>
          </a:bodyPr>
          <a:lstStyle/>
          <a:p>
            <a:pPr marL="342900" indent="-342900">
              <a:buClr>
                <a:srgbClr val="1E293B"/>
              </a:buClr>
              <a:buSzPts val="1100"/>
              <a:buFont typeface="Calibri"/>
              <a:buChar char="•"/>
              <a:defRPr sz="1100">
                <a:solidFill>
                  <a:srgbClr val="1E293B"/>
                </a:solidFill>
                <a:latin typeface="Calibri"/>
                <a:ea typeface="Calibri"/>
                <a:cs typeface="Calibri"/>
                <a:sym typeface="Calibri"/>
              </a:defRPr>
            </a:pPr>
            <a:r>
              <a:t>Multi-metric evaluation (ECE + MCE + Brier) caught calibration artifacts invisible to single-metric analysis. Quantization can reduce average bin error but can distribute it to worst case bins, essential for OOD datasets</a:t>
            </a:r>
          </a:p>
          <a:p>
            <a:pPr marL="342900" indent="-342900">
              <a:buClr>
                <a:srgbClr val="1E293B"/>
              </a:buClr>
              <a:buSzPts val="1100"/>
              <a:buFont typeface="Calibri"/>
              <a:buChar char="•"/>
              <a:defRPr sz="1100">
                <a:solidFill>
                  <a:srgbClr val="1E293B"/>
                </a:solidFill>
                <a:latin typeface="Calibri"/>
                <a:ea typeface="Calibri"/>
                <a:cs typeface="Calibri"/>
                <a:sym typeface="Calibri"/>
              </a:defRPr>
            </a:pPr>
            <a:r>
              <a:t>Roofline analysis cleanly explained the 1.78× vLLM speedup: Marlin kernel shifts inference from memory-bound to compute-bound</a:t>
            </a:r>
          </a:p>
          <a:p>
            <a:pPr marL="342900" indent="-342900">
              <a:buClr>
                <a:srgbClr val="1E293B"/>
              </a:buClr>
              <a:buSzPts val="1100"/>
              <a:buFont typeface="Calibri"/>
              <a:buChar char="•"/>
              <a:defRPr sz="1100">
                <a:solidFill>
                  <a:srgbClr val="1E293B"/>
                </a:solidFill>
                <a:latin typeface="Calibri"/>
                <a:ea typeface="Calibri"/>
                <a:cs typeface="Calibri"/>
                <a:sym typeface="Calibri"/>
              </a:defRPr>
            </a:pPr>
            <a:r>
              <a:t>KD using FP16 as teacher at T=2 improves accuracy for in distribution tasks for NF4 student</a:t>
            </a:r>
          </a:p>
        </p:txBody>
      </p:sp>
      <p:sp>
        <p:nvSpPr>
          <p:cNvPr id="385" name="Google Shape;360;p26"/>
          <p:cNvSpPr txBox="1"/>
          <p:nvPr/>
        </p:nvSpPr>
        <p:spPr>
          <a:xfrm>
            <a:off x="457170" y="3204352"/>
            <a:ext cx="3931800"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44546A"/>
                </a:solidFill>
                <a:latin typeface="Calibri"/>
                <a:ea typeface="Calibri"/>
                <a:cs typeface="Calibri"/>
                <a:sym typeface="Calibri"/>
              </a:defRPr>
            </a:lvl1pPr>
          </a:lstStyle>
          <a:p>
            <a:pPr/>
            <a:r>
              <a:t>Challenges</a:t>
            </a:r>
          </a:p>
        </p:txBody>
      </p:sp>
      <p:sp>
        <p:nvSpPr>
          <p:cNvPr id="386" name="Google Shape;361;p26"/>
          <p:cNvSpPr txBox="1"/>
          <p:nvPr/>
        </p:nvSpPr>
        <p:spPr>
          <a:xfrm>
            <a:off x="502900" y="3420026"/>
            <a:ext cx="3840351" cy="720969"/>
          </a:xfrm>
          <a:prstGeom prst="rect">
            <a:avLst/>
          </a:prstGeom>
          <a:ln w="12700">
            <a:miter lim="400000"/>
          </a:ln>
          <a:extLst>
            <a:ext uri="{C572A759-6A51-4108-AA02-DFA0A04FC94B}">
              <ma14:wrappingTextBoxFlag xmlns:ma14="http://schemas.microsoft.com/office/mac/drawingml/2011/main" val="1"/>
            </a:ext>
          </a:extLst>
        </p:spPr>
        <p:txBody>
          <a:bodyPr lIns="45699" tIns="45699" rIns="45699" bIns="45699">
            <a:spAutoFit/>
          </a:bodyPr>
          <a:lstStyle/>
          <a:p>
            <a:pPr marL="342900" indent="-342900">
              <a:buClr>
                <a:srgbClr val="1E293B"/>
              </a:buClr>
              <a:buSzPts val="1100"/>
              <a:buFont typeface="Calibri"/>
              <a:buChar char="•"/>
              <a:defRPr sz="1100">
                <a:solidFill>
                  <a:srgbClr val="1E293B"/>
                </a:solidFill>
                <a:latin typeface="Calibri"/>
                <a:ea typeface="Calibri"/>
                <a:cs typeface="Calibri"/>
                <a:sym typeface="Calibri"/>
              </a:defRPr>
            </a:pPr>
            <a:r>
              <a:t>ncu blocked on Colab (perf_event_paranoid=2) - required GCP L4 VM</a:t>
            </a:r>
          </a:p>
          <a:p>
            <a:pPr marL="342900" indent="-342900">
              <a:buClr>
                <a:srgbClr val="1E293B"/>
              </a:buClr>
              <a:buSzPts val="1100"/>
              <a:buFont typeface="Calibri"/>
              <a:buChar char="•"/>
              <a:defRPr sz="1100">
                <a:solidFill>
                  <a:srgbClr val="1E293B"/>
                </a:solidFill>
                <a:latin typeface="Calibri"/>
                <a:ea typeface="Calibri"/>
                <a:cs typeface="Calibri"/>
                <a:sym typeface="Calibri"/>
              </a:defRPr>
            </a:pPr>
            <a:r>
              <a:t>KD at T≥4 looked like ECE improvement but MCE revealed distribution collapse</a:t>
            </a:r>
          </a:p>
        </p:txBody>
      </p:sp>
      <p:sp>
        <p:nvSpPr>
          <p:cNvPr id="387" name="Google Shape;362;p26"/>
          <p:cNvSpPr txBox="1"/>
          <p:nvPr/>
        </p:nvSpPr>
        <p:spPr>
          <a:xfrm>
            <a:off x="4709130" y="1028080"/>
            <a:ext cx="3977700"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44546A"/>
                </a:solidFill>
                <a:latin typeface="Calibri"/>
                <a:ea typeface="Calibri"/>
                <a:cs typeface="Calibri"/>
                <a:sym typeface="Calibri"/>
              </a:defRPr>
            </a:lvl1pPr>
          </a:lstStyle>
          <a:p>
            <a:pPr/>
            <a:r>
              <a:t>Next steps</a:t>
            </a:r>
          </a:p>
        </p:txBody>
      </p:sp>
      <p:sp>
        <p:nvSpPr>
          <p:cNvPr id="388" name="Google Shape;363;p26"/>
          <p:cNvSpPr/>
          <p:nvPr/>
        </p:nvSpPr>
        <p:spPr>
          <a:xfrm>
            <a:off x="4709130" y="1298609"/>
            <a:ext cx="164701" cy="164701"/>
          </a:xfrm>
          <a:prstGeom prst="ellipse">
            <a:avLst/>
          </a:prstGeom>
          <a:solidFill>
            <a:srgbClr val="44546A"/>
          </a:solidFill>
          <a:ln w="12700">
            <a:solidFill>
              <a:srgbClr val="44546A"/>
            </a:solidFill>
          </a:ln>
        </p:spPr>
        <p:txBody>
          <a:bodyPr lIns="0" tIns="0" rIns="0" bIns="0" anchor="ctr"/>
          <a:lstStyle/>
          <a:p>
            <a:pPr/>
          </a:p>
        </p:txBody>
      </p:sp>
      <p:sp>
        <p:nvSpPr>
          <p:cNvPr id="389" name="Google Shape;364;p26"/>
          <p:cNvSpPr/>
          <p:nvPr/>
        </p:nvSpPr>
        <p:spPr>
          <a:xfrm>
            <a:off x="4709130" y="1902112"/>
            <a:ext cx="164701" cy="164701"/>
          </a:xfrm>
          <a:prstGeom prst="ellipse">
            <a:avLst/>
          </a:prstGeom>
          <a:solidFill>
            <a:srgbClr val="44546A"/>
          </a:solidFill>
          <a:ln w="12700">
            <a:solidFill>
              <a:srgbClr val="44546A"/>
            </a:solidFill>
          </a:ln>
        </p:spPr>
        <p:txBody>
          <a:bodyPr lIns="0" tIns="0" rIns="0" bIns="0" anchor="ctr"/>
          <a:lstStyle/>
          <a:p>
            <a:pPr/>
          </a:p>
        </p:txBody>
      </p:sp>
      <p:sp>
        <p:nvSpPr>
          <p:cNvPr id="390" name="Google Shape;365;p26"/>
          <p:cNvSpPr txBox="1"/>
          <p:nvPr/>
        </p:nvSpPr>
        <p:spPr>
          <a:xfrm>
            <a:off x="4947024" y="2465388"/>
            <a:ext cx="3739801" cy="3021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1E293B"/>
                </a:solidFill>
                <a:latin typeface="Calibri"/>
                <a:ea typeface="Calibri"/>
                <a:cs typeface="Calibri"/>
                <a:sym typeface="Calibri"/>
              </a:defRPr>
            </a:lvl1pPr>
          </a:lstStyle>
          <a:p>
            <a:pPr/>
            <a:r>
              <a:t>Extend to MMLU, GSM8K, MedQA to confirm calibration trends generalise beyond 3 datasets</a:t>
            </a:r>
          </a:p>
        </p:txBody>
      </p:sp>
      <p:sp>
        <p:nvSpPr>
          <p:cNvPr id="391" name="Google Shape;366;p26"/>
          <p:cNvSpPr txBox="1"/>
          <p:nvPr/>
        </p:nvSpPr>
        <p:spPr>
          <a:xfrm>
            <a:off x="4968011" y="3115405"/>
            <a:ext cx="3739801" cy="3021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1E293B"/>
                </a:solidFill>
                <a:latin typeface="Calibri"/>
                <a:ea typeface="Calibri"/>
                <a:cs typeface="Calibri"/>
                <a:sym typeface="Calibri"/>
              </a:defRPr>
            </a:lvl1pPr>
          </a:lstStyle>
          <a:p>
            <a:pPr/>
            <a:r>
              <a:t>Speculative decoding: quantized draft → FP16 target as an alternative routing strategy</a:t>
            </a:r>
          </a:p>
        </p:txBody>
      </p:sp>
      <p:sp>
        <p:nvSpPr>
          <p:cNvPr id="392" name="Google Shape;367;p26"/>
          <p:cNvSpPr/>
          <p:nvPr/>
        </p:nvSpPr>
        <p:spPr>
          <a:xfrm>
            <a:off x="4709130" y="2520745"/>
            <a:ext cx="164701" cy="164701"/>
          </a:xfrm>
          <a:prstGeom prst="ellipse">
            <a:avLst/>
          </a:prstGeom>
          <a:solidFill>
            <a:srgbClr val="44546A"/>
          </a:solidFill>
          <a:ln w="12700">
            <a:solidFill>
              <a:srgbClr val="44546A"/>
            </a:solidFill>
          </a:ln>
        </p:spPr>
        <p:txBody>
          <a:bodyPr lIns="0" tIns="0" rIns="0" bIns="0" anchor="ctr"/>
          <a:lstStyle/>
          <a:p>
            <a:pPr/>
          </a:p>
        </p:txBody>
      </p:sp>
      <p:sp>
        <p:nvSpPr>
          <p:cNvPr id="393" name="Google Shape;368;p26"/>
          <p:cNvSpPr txBox="1"/>
          <p:nvPr/>
        </p:nvSpPr>
        <p:spPr>
          <a:xfrm>
            <a:off x="4947024" y="1288671"/>
            <a:ext cx="3739801" cy="3021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1E293B"/>
                </a:solidFill>
                <a:latin typeface="Calibri"/>
                <a:ea typeface="Calibri"/>
                <a:cs typeface="Calibri"/>
                <a:sym typeface="Calibri"/>
              </a:defRPr>
            </a:lvl1pPr>
          </a:lstStyle>
          <a:p>
            <a:pPr/>
            <a:r>
              <a:t>A100 Roofline profiling with ncu access - compare L4 vs A100 Marlin kernel efficiency</a:t>
            </a:r>
          </a:p>
        </p:txBody>
      </p:sp>
      <p:sp>
        <p:nvSpPr>
          <p:cNvPr id="394" name="Google Shape;369;p26"/>
          <p:cNvSpPr/>
          <p:nvPr/>
        </p:nvSpPr>
        <p:spPr>
          <a:xfrm>
            <a:off x="4688142" y="3185913"/>
            <a:ext cx="164701" cy="164701"/>
          </a:xfrm>
          <a:prstGeom prst="ellipse">
            <a:avLst/>
          </a:prstGeom>
          <a:solidFill>
            <a:srgbClr val="44546A"/>
          </a:solidFill>
          <a:ln w="12700">
            <a:solidFill>
              <a:srgbClr val="44546A"/>
            </a:solidFill>
          </a:ln>
        </p:spPr>
        <p:txBody>
          <a:bodyPr lIns="0" tIns="0" rIns="0" bIns="0" anchor="ctr"/>
          <a:lstStyle/>
          <a:p>
            <a:pPr/>
          </a:p>
        </p:txBody>
      </p:sp>
      <p:sp>
        <p:nvSpPr>
          <p:cNvPr id="395" name="Google Shape;370;p26"/>
          <p:cNvSpPr txBox="1"/>
          <p:nvPr/>
        </p:nvSpPr>
        <p:spPr>
          <a:xfrm>
            <a:off x="4947024" y="1926725"/>
            <a:ext cx="37398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1E293B"/>
                </a:solidFill>
                <a:latin typeface="Calibri"/>
                <a:ea typeface="Calibri"/>
                <a:cs typeface="Calibri"/>
                <a:sym typeface="Calibri"/>
              </a:defRPr>
            </a:lvl1pPr>
          </a:lstStyle>
          <a:p>
            <a:pPr/>
            <a:r>
              <a:t>Combine all 3 Team’s results into one cohesive story</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7" name="Google Shape;376;p27"/>
          <p:cNvSpPr txBox="1"/>
          <p:nvPr/>
        </p:nvSpPr>
        <p:spPr>
          <a:xfrm>
            <a:off x="342899" y="440561"/>
            <a:ext cx="8455916" cy="35331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chemeClr val="accent2">
                    <a:lumOff val="-2588"/>
                  </a:schemeClr>
                </a:solidFill>
                <a:latin typeface="Calibri"/>
                <a:ea typeface="Calibri"/>
                <a:cs typeface="Calibri"/>
                <a:sym typeface="Calibri"/>
              </a:defRPr>
            </a:lvl1pPr>
          </a:lstStyle>
          <a:p>
            <a:pPr/>
            <a:r>
              <a:t>Profiler Evidence</a:t>
            </a:r>
          </a:p>
        </p:txBody>
      </p:sp>
      <p:sp>
        <p:nvSpPr>
          <p:cNvPr id="398" name="Google Shape;377;p27"/>
          <p:cNvSpPr/>
          <p:nvPr/>
        </p:nvSpPr>
        <p:spPr>
          <a:xfrm>
            <a:off x="342899" y="891539"/>
            <a:ext cx="8455916" cy="1"/>
          </a:xfrm>
          <a:prstGeom prst="line">
            <a:avLst/>
          </a:prstGeom>
          <a:ln>
            <a:solidFill>
              <a:srgbClr val="D9D9D9"/>
            </a:solidFill>
          </a:ln>
        </p:spPr>
        <p:txBody>
          <a:bodyPr lIns="0" tIns="0" rIns="0" bIns="0"/>
          <a:lstStyle/>
          <a:p>
            <a:pPr/>
          </a:p>
        </p:txBody>
      </p:sp>
      <p:sp>
        <p:nvSpPr>
          <p:cNvPr id="399" name="Google Shape;378;p27"/>
          <p:cNvSpPr txBox="1"/>
          <p:nvPr/>
        </p:nvSpPr>
        <p:spPr>
          <a:xfrm>
            <a:off x="342900" y="4942840"/>
            <a:ext cx="4114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800">
                <a:solidFill>
                  <a:srgbClr val="6B6F76"/>
                </a:solidFill>
                <a:latin typeface="Calibri"/>
                <a:ea typeface="Calibri"/>
                <a:cs typeface="Calibri"/>
                <a:sym typeface="Calibri"/>
              </a:defRPr>
            </a:lvl1pPr>
          </a:lstStyle>
          <a:p>
            <a:pPr/>
            <a:r>
              <a:t>HPML · Spring 2026</a:t>
            </a:r>
          </a:p>
        </p:txBody>
      </p:sp>
      <p:sp>
        <p:nvSpPr>
          <p:cNvPr id="400" name="Google Shape;379;p27"/>
          <p:cNvSpPr txBox="1"/>
          <p:nvPr/>
        </p:nvSpPr>
        <p:spPr>
          <a:xfrm>
            <a:off x="4684014" y="4942840"/>
            <a:ext cx="4114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B6F76"/>
                </a:solidFill>
                <a:latin typeface="Calibri"/>
                <a:ea typeface="Calibri"/>
                <a:cs typeface="Calibri"/>
                <a:sym typeface="Calibri"/>
              </a:defRPr>
            </a:lvl1pPr>
          </a:lstStyle>
          <a:p>
            <a:pPr/>
            <a:r>
              <a:t>12 / 15</a:t>
            </a:r>
          </a:p>
        </p:txBody>
      </p:sp>
      <p:pic>
        <p:nvPicPr>
          <p:cNvPr id="401" name="Screenshot 2026-05-06 at 11.28.40 PM.pngGoogle Shape;380;p27" descr="Screenshot 2026-05-06 at 11.28.40 PM.pngGoogle Shape;380;p27"/>
          <p:cNvPicPr>
            <a:picLocks noChangeAspect="1"/>
          </p:cNvPicPr>
          <p:nvPr/>
        </p:nvPicPr>
        <p:blipFill>
          <a:blip r:embed="rId2">
            <a:extLst/>
          </a:blip>
          <a:srcRect l="0" t="0" r="0" b="7244"/>
          <a:stretch>
            <a:fillRect/>
          </a:stretch>
        </p:blipFill>
        <p:spPr>
          <a:xfrm>
            <a:off x="1519112" y="1171587"/>
            <a:ext cx="6105771" cy="3417552"/>
          </a:xfrm>
          <a:prstGeom prst="rect">
            <a:avLst/>
          </a:prstGeom>
          <a:ln w="12700">
            <a:miter lim="400000"/>
          </a:ln>
        </p:spPr>
      </p:pic>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3" name="Google Shape;386;p28"/>
          <p:cNvSpPr txBox="1"/>
          <p:nvPr/>
        </p:nvSpPr>
        <p:spPr>
          <a:xfrm>
            <a:off x="342899" y="440561"/>
            <a:ext cx="8455916" cy="35331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chemeClr val="accent2">
                    <a:lumOff val="-2588"/>
                  </a:schemeClr>
                </a:solidFill>
                <a:latin typeface="Calibri"/>
                <a:ea typeface="Calibri"/>
                <a:cs typeface="Calibri"/>
                <a:sym typeface="Calibri"/>
              </a:defRPr>
            </a:lvl1pPr>
          </a:lstStyle>
          <a:p>
            <a:pPr/>
            <a:r>
              <a:t>Demo / Visualization</a:t>
            </a:r>
          </a:p>
        </p:txBody>
      </p:sp>
      <p:sp>
        <p:nvSpPr>
          <p:cNvPr id="404" name="Google Shape;387;p28"/>
          <p:cNvSpPr/>
          <p:nvPr/>
        </p:nvSpPr>
        <p:spPr>
          <a:xfrm>
            <a:off x="342899" y="891539"/>
            <a:ext cx="8455916" cy="1"/>
          </a:xfrm>
          <a:prstGeom prst="line">
            <a:avLst/>
          </a:prstGeom>
          <a:ln>
            <a:solidFill>
              <a:srgbClr val="D9D9D9"/>
            </a:solidFill>
          </a:ln>
        </p:spPr>
        <p:txBody>
          <a:bodyPr lIns="0" tIns="0" rIns="0" bIns="0"/>
          <a:lstStyle/>
          <a:p>
            <a:pPr/>
          </a:p>
        </p:txBody>
      </p:sp>
      <p:sp>
        <p:nvSpPr>
          <p:cNvPr id="405" name="Google Shape;388;p28"/>
          <p:cNvSpPr txBox="1"/>
          <p:nvPr/>
        </p:nvSpPr>
        <p:spPr>
          <a:xfrm>
            <a:off x="342900" y="4942840"/>
            <a:ext cx="4114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800">
                <a:solidFill>
                  <a:srgbClr val="6B6F76"/>
                </a:solidFill>
                <a:latin typeface="Calibri"/>
                <a:ea typeface="Calibri"/>
                <a:cs typeface="Calibri"/>
                <a:sym typeface="Calibri"/>
              </a:defRPr>
            </a:lvl1pPr>
          </a:lstStyle>
          <a:p>
            <a:pPr/>
            <a:r>
              <a:t>HPML · Spring 2026</a:t>
            </a:r>
          </a:p>
        </p:txBody>
      </p:sp>
      <p:sp>
        <p:nvSpPr>
          <p:cNvPr id="406" name="Google Shape;389;p28"/>
          <p:cNvSpPr txBox="1"/>
          <p:nvPr/>
        </p:nvSpPr>
        <p:spPr>
          <a:xfrm>
            <a:off x="4684014" y="4942840"/>
            <a:ext cx="4114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800">
                <a:solidFill>
                  <a:srgbClr val="6B6F76"/>
                </a:solidFill>
                <a:latin typeface="Calibri"/>
                <a:ea typeface="Calibri"/>
                <a:cs typeface="Calibri"/>
                <a:sym typeface="Calibri"/>
              </a:defRPr>
            </a:lvl1pPr>
          </a:lstStyle>
          <a:p>
            <a:pPr/>
            <a:r>
              <a:t>13 / 15</a:t>
            </a:r>
          </a:p>
        </p:txBody>
      </p:sp>
      <p:pic>
        <p:nvPicPr>
          <p:cNvPr id="407" name="HPML_Demo.mp4Google Shape;390;p28" descr="HPML_Demo.mp4Google Shape;390;p28">
            <a:hlinkClick r:id="rId2" invalidUrl="" action="" tgtFrame="" tooltip="" history="1" highlightClick="0" endSnd="0"/>
          </p:cNvPr>
          <p:cNvPicPr>
            <a:picLocks noChangeAspect="1"/>
          </p:cNvPicPr>
          <p:nvPr/>
        </p:nvPicPr>
        <p:blipFill>
          <a:blip r:embed="rId3">
            <a:extLst/>
          </a:blip>
          <a:stretch>
            <a:fillRect/>
          </a:stretch>
        </p:blipFill>
        <p:spPr>
          <a:xfrm>
            <a:off x="1246287" y="1162053"/>
            <a:ext cx="6651415" cy="3741421"/>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ID="10" grpId="1" fill="hold">
                                  <p:stCondLst>
                                    <p:cond delay="0"/>
                                  </p:stCondLst>
                                  <p:iterate type="el" backwards="0">
                                    <p:tmAbs val="0"/>
                                  </p:iterate>
                                  <p:childTnLst>
                                    <p:set>
                                      <p:cBhvr>
                                        <p:cTn id="6" fill="hold"/>
                                        <p:tgtEl>
                                          <p:spTgt spid="407"/>
                                        </p:tgtEl>
                                        <p:attrNameLst>
                                          <p:attrName>style.visibility</p:attrName>
                                        </p:attrNameLst>
                                      </p:cBhvr>
                                      <p:to>
                                        <p:strVal val="visible"/>
                                      </p:to>
                                    </p:set>
                                    <p:animEffect filter="fade" transition="in">
                                      <p:cBhvr>
                                        <p:cTn id="7" dur="1000"/>
                                        <p:tgtEl>
                                          <p:spTgt spid="40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407" grpId="1"/>
    </p:bldLst>
  </p:timing>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1E2535"/>
        </a:solidFill>
      </p:bgPr>
    </p:bg>
    <p:spTree>
      <p:nvGrpSpPr>
        <p:cNvPr id="1" name=""/>
        <p:cNvGrpSpPr/>
        <p:nvPr/>
      </p:nvGrpSpPr>
      <p:grpSpPr>
        <a:xfrm>
          <a:off x="0" y="0"/>
          <a:ext cx="0" cy="0"/>
          <a:chOff x="0" y="0"/>
          <a:chExt cx="0" cy="0"/>
        </a:xfrm>
      </p:grpSpPr>
      <p:sp>
        <p:nvSpPr>
          <p:cNvPr id="409" name="Google Shape;396;p29"/>
          <p:cNvSpPr txBox="1"/>
          <p:nvPr/>
        </p:nvSpPr>
        <p:spPr>
          <a:xfrm>
            <a:off x="502919" y="324722"/>
            <a:ext cx="64008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94A3B8"/>
                </a:solidFill>
                <a:latin typeface="Calibri"/>
                <a:ea typeface="Calibri"/>
                <a:cs typeface="Calibri"/>
                <a:sym typeface="Calibri"/>
              </a:defRPr>
            </a:lvl1pPr>
          </a:lstStyle>
          <a:p>
            <a:pPr/>
            <a:r>
              <a:t>HPML Final Project  ·  Spring 2026</a:t>
            </a:r>
          </a:p>
        </p:txBody>
      </p:sp>
      <p:sp>
        <p:nvSpPr>
          <p:cNvPr id="410" name="Google Shape;397;p29"/>
          <p:cNvSpPr txBox="1"/>
          <p:nvPr/>
        </p:nvSpPr>
        <p:spPr>
          <a:xfrm>
            <a:off x="502919" y="1961267"/>
            <a:ext cx="8229601" cy="5624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4400">
                <a:solidFill>
                  <a:srgbClr val="FFFFFF"/>
                </a:solidFill>
                <a:latin typeface="Calibri"/>
                <a:ea typeface="Calibri"/>
                <a:cs typeface="Calibri"/>
                <a:sym typeface="Calibri"/>
              </a:defRPr>
            </a:lvl1pPr>
          </a:lstStyle>
          <a:p>
            <a:pPr/>
            <a:r>
              <a:t>Thank You</a:t>
            </a:r>
          </a:p>
        </p:txBody>
      </p:sp>
      <p:sp>
        <p:nvSpPr>
          <p:cNvPr id="411" name="Google Shape;398;p29"/>
          <p:cNvSpPr txBox="1"/>
          <p:nvPr/>
        </p:nvSpPr>
        <p:spPr>
          <a:xfrm>
            <a:off x="554020" y="2726854"/>
            <a:ext cx="8229601" cy="29393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200">
                <a:solidFill>
                  <a:srgbClr val="BAD6F5"/>
                </a:solidFill>
                <a:latin typeface="Calibri"/>
                <a:ea typeface="Calibri"/>
                <a:cs typeface="Calibri"/>
                <a:sym typeface="Calibri"/>
              </a:defRPr>
            </a:lvl1pPr>
          </a:lstStyle>
          <a:p>
            <a:pPr/>
            <a:r>
              <a:t>Questions?</a:t>
            </a:r>
          </a:p>
        </p:txBody>
      </p:sp>
      <p:sp>
        <p:nvSpPr>
          <p:cNvPr id="412" name="Google Shape;399;p29"/>
          <p:cNvSpPr txBox="1"/>
          <p:nvPr/>
        </p:nvSpPr>
        <p:spPr>
          <a:xfrm>
            <a:off x="342900" y="4942869"/>
            <a:ext cx="41148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800">
                <a:solidFill>
                  <a:srgbClr val="6B6F76"/>
                </a:solidFill>
                <a:latin typeface="Calibri"/>
                <a:ea typeface="Calibri"/>
                <a:cs typeface="Calibri"/>
                <a:sym typeface="Calibri"/>
              </a:defRPr>
            </a:lvl1pPr>
          </a:lstStyle>
          <a:p>
            <a:pPr/>
            <a:r>
              <a:t>HPML · Spring 2026</a:t>
            </a:r>
          </a:p>
        </p:txBody>
      </p:sp>
      <p:sp>
        <p:nvSpPr>
          <p:cNvPr id="413" name="GitHub:  https://github.com/chuanbinp/uncertainty-aware-inference…"/>
          <p:cNvSpPr txBox="1"/>
          <p:nvPr/>
        </p:nvSpPr>
        <p:spPr>
          <a:xfrm>
            <a:off x="573492" y="3273871"/>
            <a:ext cx="4952233" cy="7608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200">
                <a:solidFill>
                  <a:srgbClr val="FFFFFF"/>
                </a:solidFill>
                <a:latin typeface="Calibri"/>
                <a:ea typeface="Calibri"/>
                <a:cs typeface="Calibri"/>
                <a:sym typeface="Calibri"/>
              </a:defRPr>
            </a:pPr>
            <a:r>
              <a:t>GitHub:  </a:t>
            </a:r>
            <a:r>
              <a:rPr b="0" u="sng">
                <a:solidFill>
                  <a:schemeClr val="accent5"/>
                </a:solidFill>
                <a:uFill>
                  <a:solidFill>
                    <a:schemeClr val="accent5"/>
                  </a:solidFill>
                </a:uFill>
                <a:hlinkClick r:id="rId2" invalidUrl="" action="" tgtFrame="" tooltip="" history="1" highlightClick="0" endSnd="0"/>
              </a:rPr>
              <a:t>https://github.com/chuanbinp/uncertainty-aware-inference</a:t>
            </a:r>
            <a:endParaRPr>
              <a:solidFill>
                <a:srgbClr val="94A3B8"/>
              </a:solidFill>
            </a:endParaRPr>
          </a:p>
          <a:p>
            <a:pPr/>
            <a:endParaRPr sz="1200">
              <a:solidFill>
                <a:srgbClr val="94A3B8"/>
              </a:solidFill>
              <a:latin typeface="Calibri"/>
              <a:ea typeface="Calibri"/>
              <a:cs typeface="Calibri"/>
              <a:sym typeface="Calibri"/>
            </a:endParaRPr>
          </a:p>
          <a:p>
            <a:pPr>
              <a:defRPr sz="1200">
                <a:solidFill>
                  <a:srgbClr val="FFFFFF"/>
                </a:solidFill>
                <a:latin typeface="Calibri"/>
                <a:ea typeface="Calibri"/>
                <a:cs typeface="Calibri"/>
                <a:sym typeface="Calibri"/>
              </a:defRPr>
            </a:pPr>
            <a:r>
              <a:rPr b="1"/>
              <a:t>WandB</a:t>
            </a:r>
            <a:r>
              <a:t>: </a:t>
            </a:r>
            <a:r>
              <a:rPr u="sng">
                <a:solidFill>
                  <a:schemeClr val="accent5"/>
                </a:solidFill>
                <a:uFill>
                  <a:solidFill>
                    <a:schemeClr val="accent5"/>
                  </a:solidFill>
                </a:uFill>
                <a:hlinkClick r:id="rId3" invalidUrl="" action="" tgtFrame="" tooltip="" history="1" highlightClick="0" endSnd="0"/>
              </a:rPr>
              <a:t>https://wandb.ai/Uncertainty_Aware_Inference_Lab/UAI_Project</a:t>
            </a:r>
            <a:endParaRPr>
              <a:solidFill>
                <a:srgbClr val="94A3B8"/>
              </a:solidFill>
            </a:endParaRP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A7A7A7"/>
      </a:dk2>
      <a:lt2>
        <a:srgbClr val="535353"/>
      </a:lt2>
      <a:accent1>
        <a:srgbClr val="4285F4"/>
      </a:accent1>
      <a:accent2>
        <a:srgbClr val="212121"/>
      </a:accent2>
      <a:accent3>
        <a:srgbClr val="78909C"/>
      </a:accent3>
      <a:accent4>
        <a:srgbClr val="FFAB40"/>
      </a:accent4>
      <a:accent5>
        <a:srgbClr val="0097A7"/>
      </a:accent5>
      <a:accent6>
        <a:srgbClr val="EEFF41"/>
      </a:accent6>
      <a:hlink>
        <a:srgbClr val="0000FF"/>
      </a:hlink>
      <a:folHlink>
        <a:srgbClr val="FF00FF"/>
      </a:folHlink>
    </a:clrScheme>
    <a:fontScheme name="Simple Light">
      <a:majorFont>
        <a:latin typeface="Arial"/>
        <a:ea typeface="Arial"/>
        <a:cs typeface="Arial"/>
      </a:majorFont>
      <a:minorFont>
        <a:latin typeface="Helvetica"/>
        <a:ea typeface="Helvetica"/>
        <a:cs typeface="Helvetica"/>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A7A7A7"/>
      </a:dk2>
      <a:lt2>
        <a:srgbClr val="535353"/>
      </a:lt2>
      <a:accent1>
        <a:srgbClr val="4285F4"/>
      </a:accent1>
      <a:accent2>
        <a:srgbClr val="212121"/>
      </a:accent2>
      <a:accent3>
        <a:srgbClr val="78909C"/>
      </a:accent3>
      <a:accent4>
        <a:srgbClr val="FFAB40"/>
      </a:accent4>
      <a:accent5>
        <a:srgbClr val="0097A7"/>
      </a:accent5>
      <a:accent6>
        <a:srgbClr val="EEFF41"/>
      </a:accent6>
      <a:hlink>
        <a:srgbClr val="0000FF"/>
      </a:hlink>
      <a:folHlink>
        <a:srgbClr val="FF00FF"/>
      </a:folHlink>
    </a:clrScheme>
    <a:fontScheme name="Simple Light">
      <a:majorFont>
        <a:latin typeface="Arial"/>
        <a:ea typeface="Arial"/>
        <a:cs typeface="Arial"/>
      </a:majorFont>
      <a:minorFont>
        <a:latin typeface="Helvetica"/>
        <a:ea typeface="Helvetica"/>
        <a:cs typeface="Helvetica"/>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